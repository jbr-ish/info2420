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5" r:id="rId1"/>
  </p:sldMasterIdLst>
  <p:handoutMasterIdLst>
    <p:handoutMasterId r:id="rId53"/>
  </p:handoutMasterIdLst>
  <p:sldIdLst>
    <p:sldId id="280" r:id="rId2"/>
    <p:sldId id="281" r:id="rId3"/>
    <p:sldId id="282" r:id="rId4"/>
    <p:sldId id="351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325" r:id="rId13"/>
    <p:sldId id="324" r:id="rId14"/>
    <p:sldId id="297" r:id="rId15"/>
    <p:sldId id="321" r:id="rId16"/>
    <p:sldId id="322" r:id="rId17"/>
    <p:sldId id="295" r:id="rId18"/>
    <p:sldId id="323" r:id="rId19"/>
    <p:sldId id="296" r:id="rId20"/>
    <p:sldId id="299" r:id="rId21"/>
    <p:sldId id="300" r:id="rId22"/>
    <p:sldId id="302" r:id="rId23"/>
    <p:sldId id="303" r:id="rId24"/>
    <p:sldId id="307" r:id="rId25"/>
    <p:sldId id="310" r:id="rId26"/>
    <p:sldId id="318" r:id="rId27"/>
    <p:sldId id="311" r:id="rId28"/>
    <p:sldId id="312" r:id="rId29"/>
    <p:sldId id="313" r:id="rId30"/>
    <p:sldId id="320" r:id="rId31"/>
    <p:sldId id="314" r:id="rId32"/>
    <p:sldId id="319" r:id="rId33"/>
    <p:sldId id="326" r:id="rId34"/>
    <p:sldId id="315" r:id="rId35"/>
    <p:sldId id="327" r:id="rId36"/>
    <p:sldId id="328" r:id="rId37"/>
    <p:sldId id="354" r:id="rId38"/>
    <p:sldId id="330" r:id="rId39"/>
    <p:sldId id="331" r:id="rId40"/>
    <p:sldId id="332" r:id="rId41"/>
    <p:sldId id="335" r:id="rId42"/>
    <p:sldId id="336" r:id="rId43"/>
    <p:sldId id="353" r:id="rId44"/>
    <p:sldId id="344" r:id="rId45"/>
    <p:sldId id="345" r:id="rId46"/>
    <p:sldId id="337" r:id="rId47"/>
    <p:sldId id="338" r:id="rId48"/>
    <p:sldId id="349" r:id="rId49"/>
    <p:sldId id="350" r:id="rId50"/>
    <p:sldId id="339" r:id="rId51"/>
    <p:sldId id="316" r:id="rId52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0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0000"/>
    <a:srgbClr val="C3C5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1" autoAdjust="0"/>
    <p:restoredTop sz="94625" autoAdjust="0"/>
  </p:normalViewPr>
  <p:slideViewPr>
    <p:cSldViewPr>
      <p:cViewPr varScale="1">
        <p:scale>
          <a:sx n="61" d="100"/>
          <a:sy n="61" d="100"/>
        </p:scale>
        <p:origin x="67" y="293"/>
      </p:cViewPr>
      <p:guideLst>
        <p:guide orient="horz" pos="3504"/>
        <p:guide pos="2880"/>
      </p:guideLst>
    </p:cSldViewPr>
  </p:slideViewPr>
  <p:outlineViewPr>
    <p:cViewPr>
      <p:scale>
        <a:sx n="33" d="100"/>
        <a:sy n="33" d="100"/>
      </p:scale>
      <p:origin x="0" y="-3327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9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54EF10-6A77-4CB7-AD07-3C5AB73185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49" tIns="48325" rIns="96649" bIns="48325" rtlCol="0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181ADF-6241-4129-AB51-0BBB0ED003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49" tIns="48325" rIns="96649" bIns="48325" rtlCol="0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31770FC0-7DD0-4F58-B9E9-889DBD5059C0}" type="datetimeFigureOut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05DD7A-F898-4EA5-934F-DD5C56D31D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49" tIns="48325" rIns="96649" bIns="48325" rtlCol="0" anchor="b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25F0B2-ABF8-4243-B73A-601EFAF4E2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49" tIns="48325" rIns="96649" bIns="4832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07DD425E-5AB4-4A82-AAED-8979D2DE49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pPr>
              <a:defRPr/>
            </a:pPr>
            <a:fld id="{9EBD69F8-E31A-49BA-BB57-1D56AFB6A12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4663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B87CE7-6442-4C7A-AF0C-4E47D427F00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6178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>
              <a:defRPr/>
            </a:pPr>
            <a:fld id="{69D06981-1820-4D39-AD03-B04C952FA24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7110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pPr>
              <a:defRPr/>
            </a:pPr>
            <a:fld id="{F0E87450-F1B2-4876-9D2B-7D4532A47DE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737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pPr>
              <a:defRPr/>
            </a:pPr>
            <a:fld id="{D7EC6173-15A7-4008-96CA-7A6C68DE9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894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DDBE17-7B44-4A5B-A377-1FDA615ED32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9740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8E0706-B951-4CBC-8EE7-85F677AE5EE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2418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9149E-7D4F-45FE-AFDB-FB72B6F376A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444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5E366148-9323-4D72-A7D3-F53F102EC2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9157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>
              <a:defRPr/>
            </a:pPr>
            <a:fld id="{4C2CD58E-C842-4EBE-B9F2-1666B8E4291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8779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>
              <a:defRPr/>
            </a:pPr>
            <a:fld id="{4C2CD58E-C842-4EBE-B9F2-1666B8E4291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9232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4C2CD58E-C842-4EBE-B9F2-1666B8E4291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9249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4C2CD58E-C842-4EBE-B9F2-1666B8E4291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53524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4C2CD58E-C842-4EBE-B9F2-1666B8E4291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9092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505652-6218-48BE-B154-CE42A39EA16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2294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ACF2A3-990B-44D3-BA81-B13B7D98255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0953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>
              <a:defRPr/>
            </a:pPr>
            <a:fld id="{4C2CD58E-C842-4EBE-B9F2-1666B8E4291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4053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  <p:sldLayoutId id="2147483840" r:id="rId15"/>
    <p:sldLayoutId id="214748384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02022F3-257E-4458-839D-BB6AF005518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609600"/>
            <a:ext cx="77724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dirty="0"/>
              <a:t>Marking Up Text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8249D58-425E-417A-807F-A831A8891CD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752600" y="4229101"/>
            <a:ext cx="6480175" cy="1752600"/>
          </a:xfrm>
        </p:spPr>
        <p:txBody>
          <a:bodyPr/>
          <a:lstStyle/>
          <a:p>
            <a:pPr algn="l" eaLnBrk="1" hangingPunct="1"/>
            <a:r>
              <a:rPr lang="en-US" altLang="en-US" sz="24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</a:rPr>
              <a:t>Learning Web Design: </a:t>
            </a:r>
            <a:br>
              <a:rPr lang="en-US" altLang="en-US" i="1" dirty="0">
                <a:solidFill>
                  <a:schemeClr val="folHlink"/>
                </a:solidFill>
                <a:latin typeface="Times New Roman" panose="02020603050405020304" pitchFamily="18" charset="0"/>
              </a:rPr>
            </a:br>
            <a:r>
              <a:rPr lang="en-US" altLang="en-US" sz="2000" b="1" dirty="0">
                <a:solidFill>
                  <a:srgbClr val="CE0000"/>
                </a:solidFill>
                <a:latin typeface="Times New Roman" panose="02020603050405020304" pitchFamily="18" charset="0"/>
              </a:rPr>
              <a:t>Chapter 5 and Appendix D</a:t>
            </a:r>
            <a:endParaRPr lang="en-US" altLang="en-US" sz="2000" i="1" dirty="0">
              <a:solidFill>
                <a:srgbClr val="CE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654FB20-05B6-4ED6-A9C2-965D4935BD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Overview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30FCBC3-E9DF-4E8C-B400-DCEF14FF4C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HTML Structure tags, also called Document-Level Elements</a:t>
            </a:r>
          </a:p>
          <a:p>
            <a:pPr eaLnBrk="1" hangingPunct="1"/>
            <a:r>
              <a:rPr lang="en-US" altLang="en-US"/>
              <a:t>HTML Block-Level Elements</a:t>
            </a:r>
            <a:br>
              <a:rPr lang="en-US" altLang="en-US"/>
            </a:br>
            <a:r>
              <a:rPr lang="en-US" altLang="en-US"/>
              <a:t>Semantic Inline Elements</a:t>
            </a:r>
          </a:p>
          <a:p>
            <a:pPr eaLnBrk="1" hangingPunct="1"/>
            <a:r>
              <a:rPr lang="en-US" altLang="en-US"/>
              <a:t>Comment tags, Horizontal Rules, Line Break</a:t>
            </a:r>
          </a:p>
          <a:p>
            <a:pPr eaLnBrk="1" hangingPunct="1"/>
            <a:r>
              <a:rPr lang="en-US" altLang="en-US"/>
              <a:t>Presentational Inline Elements</a:t>
            </a:r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CE6D320-7314-4AA2-B5E5-329F9497E6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Structure Tags or </a:t>
            </a:r>
            <a:br>
              <a:rPr lang="en-US"/>
            </a:br>
            <a:r>
              <a:rPr lang="en-US"/>
              <a:t>Document-Level Elements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9339941-3C15-4F2E-9494-98DFC052E7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These elements provide structure to a document as well as providing info that is used by the browser or search engines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&lt;!DOCTYPE html&gt;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&lt;html&gt;, &lt;/html&gt;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&lt;head&gt;, &lt;/head&gt;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&lt;title&gt;, &lt;/title&gt;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&lt;meta&gt;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&lt;body&gt;, &lt;/body&gt;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09BDD370-8463-4609-91AD-4040CC5D2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Start with start.html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843B4468-E724-40FA-9945-AF0A3870A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Your instructor will provide you with a start file that has the basic page structure</a:t>
            </a:r>
          </a:p>
          <a:p>
            <a:pPr eaLnBrk="1" hangingPunct="1"/>
            <a:r>
              <a:rPr lang="en-US" altLang="en-US"/>
              <a:t>Use this start file for EVERY web page you create this semester</a:t>
            </a:r>
          </a:p>
          <a:p>
            <a:pPr eaLnBrk="1" hangingPunct="1"/>
            <a:r>
              <a:rPr lang="en-US" altLang="en-US"/>
              <a:t>It contains the required tags for all HTML5 documents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0E55678-A008-4CFF-9427-3813A75620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&lt;head&gt; &lt;/head&gt; tag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0B7C2DB-2398-4DA9-AE50-339EF9B12E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Lines placed within these tags are the prologue of the rest of the file</a:t>
            </a:r>
          </a:p>
          <a:p>
            <a:pPr eaLnBrk="1" hangingPunct="1"/>
            <a:r>
              <a:rPr lang="en-US" altLang="en-US"/>
              <a:t>Sometimes referred to as the header of the document</a:t>
            </a:r>
          </a:p>
          <a:p>
            <a:pPr eaLnBrk="1" hangingPunct="1"/>
            <a:r>
              <a:rPr lang="en-US" altLang="en-US"/>
              <a:t>You should never put any text of your page within the header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A7EE975-511D-4D7B-AE50-43A1C066A5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Title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C7AE14A-666A-48FE-9CEB-A0FD70B797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Use the &lt;title&gt; tag to give your page a title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This title is used by your browser’s bookmarks and search engines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You should have a simple and descriptive title for your page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You can only have one title and it can only contain simple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077A2D4-DB0B-4E34-A09F-542A5C10E3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&lt;meta&gt; self-terminating tag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37EC243-A09B-4547-A9EB-D6EC7D8D39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This tag is placed inside the header and is used to provide information about the document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Our start file for the semester contains several meta lines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Some meta attributes: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name – Name of the meta info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content – content of the info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B0C1148-A4FD-4CA7-BD36-3F7D10DB29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Head Example:</a:t>
            </a:r>
          </a:p>
        </p:txBody>
      </p:sp>
      <p:sp>
        <p:nvSpPr>
          <p:cNvPr id="15363" name="Text Box 3">
            <a:extLst>
              <a:ext uri="{FF2B5EF4-FFF2-40B4-BE49-F238E27FC236}">
                <a16:creationId xmlns:a16="http://schemas.microsoft.com/office/drawing/2014/main" id="{887C686E-32CF-4D23-9F54-336D9132A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828800"/>
            <a:ext cx="80010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&lt;head&gt;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&lt;meta charset="UTF-8"&gt;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&lt;title&gt;Basic Project Template&lt;/title&gt;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&lt;/head&gt;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CA1774F-410C-436F-8EA5-0D8978EA08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Deprecated Tag or Attribute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458355F-2AA9-42B6-B1C9-0F3A345683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These features are being phased out of earlier versions of HTML.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These features are still supported but have been outdated by newer methods.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Browsers are backwards compatible for those using earlier versions.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Future versions of HTML will make these features obsolete .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16FE21A-D43A-4891-95AE-935B7B1A40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&lt;body&gt; &lt;/body&gt; tag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F401E0F-538D-49B2-AB43-6FFC62A984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The text and other contents of your page are enclosed within the body tag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The following attributes are deprecated in favor of setting in a style sheet: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background – URL for background image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bgcolor- sets background color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link – link color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vlink  - visited link color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alink – active link color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12D457D-27CC-4988-95E2-DEE1624CB0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Block-Level Elements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F7AE3A5-4800-48A1-8730-D079CB862F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Appear inside the body of the document</a:t>
            </a:r>
          </a:p>
          <a:p>
            <a:pPr eaLnBrk="1" hangingPunct="1"/>
            <a:r>
              <a:rPr lang="en-US" altLang="en-US"/>
              <a:t>Are formatted to begin on a new line</a:t>
            </a:r>
          </a:p>
          <a:p>
            <a:pPr eaLnBrk="1" hangingPunct="1"/>
            <a:r>
              <a:rPr lang="en-US" altLang="en-US"/>
              <a:t>May not contain other block-level elements</a:t>
            </a:r>
          </a:p>
          <a:p>
            <a:pPr eaLnBrk="1" hangingPunct="1"/>
            <a:r>
              <a:rPr lang="en-US" altLang="en-US"/>
              <a:t>May contain text-level elements, which are the lowest-level elements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D16020D8-E06B-4D46-B2D2-0E69BB076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A Handful of Block-Level Tags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87964531-E886-4A58-B761-AC33CBD1B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8229600" cy="3951288"/>
          </a:xfrm>
        </p:spPr>
        <p:txBody>
          <a:bodyPr/>
          <a:lstStyle/>
          <a:p>
            <a:pPr eaLnBrk="1" hangingPunct="1"/>
            <a:r>
              <a:rPr lang="en-US" altLang="en-US" sz="3200"/>
              <a:t>There are very few block-level tags, but they provide important structure to your pages</a:t>
            </a:r>
          </a:p>
          <a:p>
            <a:pPr lvl="1" eaLnBrk="1" hangingPunct="1"/>
            <a:r>
              <a:rPr lang="en-US" altLang="en-US" sz="2800"/>
              <a:t>Headings</a:t>
            </a:r>
          </a:p>
          <a:p>
            <a:pPr lvl="1" eaLnBrk="1" hangingPunct="1"/>
            <a:r>
              <a:rPr lang="en-US" altLang="en-US" sz="2800"/>
              <a:t>Paragraphs</a:t>
            </a:r>
          </a:p>
          <a:p>
            <a:pPr lvl="1" eaLnBrk="1" hangingPunct="1"/>
            <a:r>
              <a:rPr lang="en-US" altLang="en-US" sz="2800"/>
              <a:t>Various Lists</a:t>
            </a:r>
          </a:p>
          <a:p>
            <a:pPr lvl="1" eaLnBrk="1" hangingPunct="1"/>
            <a:r>
              <a:rPr lang="en-US" altLang="en-US" sz="2800"/>
              <a:t>Blockquotes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19460" name="Content Placeholder 5">
            <a:extLst>
              <a:ext uri="{FF2B5EF4-FFF2-40B4-BE49-F238E27FC236}">
                <a16:creationId xmlns:a16="http://schemas.microsoft.com/office/drawing/2014/main" id="{29624DA0-8135-4E77-B830-E21E55F7A4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67200" y="3657600"/>
            <a:ext cx="4041775" cy="2667000"/>
          </a:xfrm>
        </p:spPr>
        <p:txBody>
          <a:bodyPr/>
          <a:lstStyle/>
          <a:p>
            <a:pPr lvl="1" eaLnBrk="1" hangingPunct="1"/>
            <a:r>
              <a:rPr lang="en-US" altLang="en-US" sz="2800"/>
              <a:t>Preformatted Text</a:t>
            </a:r>
          </a:p>
          <a:p>
            <a:pPr lvl="1" eaLnBrk="1" hangingPunct="1"/>
            <a:r>
              <a:rPr lang="en-US" altLang="en-US" sz="2800"/>
              <a:t>Address</a:t>
            </a:r>
          </a:p>
          <a:p>
            <a:pPr lvl="1" eaLnBrk="1" hangingPunct="1"/>
            <a:r>
              <a:rPr lang="en-US" altLang="en-US" sz="2800"/>
              <a:t>Horizontal Rule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53F00E18-E40F-46FE-A9F7-2BE13BC5E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Align Attribute Deprecated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AEEFBDC7-96E9-4247-BFA0-DBCFA0E5A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 block-level elements and the horizontal rule, the align attribute has been deprecated</a:t>
            </a:r>
          </a:p>
          <a:p>
            <a:pPr eaLnBrk="1" hangingPunct="1"/>
            <a:r>
              <a:rPr lang="en-US" altLang="en-US"/>
              <a:t>In another chapter we will learn how to use the text-align CSS property to align block-level elements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A5FD597-B77A-41C5-9FA9-4FA75EC6BC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 Indenting for Readability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07D98D1-54E4-42C2-AC51-19DA170628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You will find it helpful to better show the hierarchy of elements in your code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 browser does not care about indenting, but humans reading your code will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In fact, you should use indenting to help you better understand your own 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242EEFD-CD5B-4570-B7ED-22804A817E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Non-Indented Code</a:t>
            </a:r>
          </a:p>
        </p:txBody>
      </p:sp>
      <p:graphicFrame>
        <p:nvGraphicFramePr>
          <p:cNvPr id="22531" name="Object 5">
            <a:extLst>
              <a:ext uri="{FF2B5EF4-FFF2-40B4-BE49-F238E27FC236}">
                <a16:creationId xmlns:a16="http://schemas.microsoft.com/office/drawing/2014/main" id="{BB5B23E0-BB46-41EE-B9EE-76C608577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954842"/>
              </p:ext>
            </p:extLst>
          </p:nvPr>
        </p:nvGraphicFramePr>
        <p:xfrm>
          <a:off x="762000" y="2438400"/>
          <a:ext cx="1352550" cy="365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9" name="Clip" r:id="rId3" imgW="1353112" imgH="3659599" progId="MS_ClipArt_Gallery.2">
                  <p:embed/>
                </p:oleObj>
              </mc:Choice>
              <mc:Fallback>
                <p:oleObj name="Clip" r:id="rId3" imgW="1353112" imgH="3659599" progId="MS_ClipArt_Gallery.2">
                  <p:embed/>
                  <p:pic>
                    <p:nvPicPr>
                      <p:cNvPr id="0" name="Object 5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438400"/>
                        <a:ext cx="1352550" cy="365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Text Box 4">
            <a:extLst>
              <a:ext uri="{FF2B5EF4-FFF2-40B4-BE49-F238E27FC236}">
                <a16:creationId xmlns:a16="http://schemas.microsoft.com/office/drawing/2014/main" id="{9B102ABA-8770-4D1F-B531-9A495872C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352800"/>
            <a:ext cx="6324600" cy="283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&lt;dl&gt; &lt;dt&gt; Basil &lt;/dt&gt;&lt;dd&gt; Annual. Can grow four feet in height, the scent of its tiny white flowers is heavenly. &lt;/dd&gt;&lt;dt&gt; Oregano &lt;/dt&gt;&lt;dd&gt;  Perennial.  Sends out underground runners and is difficult to get rid of once established.&lt;/dd&gt;&lt;/dl&gt;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2533" name="AutoShape 7">
            <a:extLst>
              <a:ext uri="{FF2B5EF4-FFF2-40B4-BE49-F238E27FC236}">
                <a16:creationId xmlns:a16="http://schemas.microsoft.com/office/drawing/2014/main" id="{DB67C4B1-EDD8-4099-BBD6-BBCD1D264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905000"/>
            <a:ext cx="2209800" cy="914400"/>
          </a:xfrm>
          <a:prstGeom prst="wedgeRoundRectCallout">
            <a:avLst>
              <a:gd name="adj1" fmla="val -60991"/>
              <a:gd name="adj2" fmla="val 133333"/>
              <a:gd name="adj3" fmla="val 16667"/>
            </a:avLst>
          </a:prstGeom>
          <a:solidFill>
            <a:srgbClr val="C3C5C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What does this mean???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FE5030C-2601-4773-BFB9-6C4F5F69A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Indented for Readability</a:t>
            </a:r>
          </a:p>
        </p:txBody>
      </p:sp>
      <p:sp>
        <p:nvSpPr>
          <p:cNvPr id="23556" name="Text Box 5">
            <a:extLst>
              <a:ext uri="{FF2B5EF4-FFF2-40B4-BE49-F238E27FC236}">
                <a16:creationId xmlns:a16="http://schemas.microsoft.com/office/drawing/2014/main" id="{C49C3C1C-0D91-44A4-9B8D-91C368AB6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057400"/>
            <a:ext cx="7848600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&lt;dl&gt;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  &lt;dt&gt; Basil &lt;/dt&gt;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     &lt;dd&gt;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Annual. Can grow four feet in height,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the scent of 	its tiny white flowers is heavenly.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     &lt;/dd&gt;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  &lt;dt&gt; Oregano &lt;/dt&gt;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     &lt;dd&gt;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Perennial.  Sends out underground runners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and is 	difficult to get rid of once established.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     &lt;/dd&gt;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&lt;/dl&gt;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52A2F76-9C4F-4FDA-AFB8-5327A059E6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Heading Tags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62829DB-2C71-47BE-AF58-D8688D7FD4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2688" y="2017713"/>
            <a:ext cx="7351712" cy="4687887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HTML provides for six levels of headings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&lt;h1&gt; - &lt;h6&gt;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You should use headings to divide areas of text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Headings should not be used for emphasis because text readers will mistake the meaning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Use to provide hierarchical order or outline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Use &lt;h1&gt; for page headings, &lt;h2&gt; for section headings, etc.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9E4166E9-7035-4B73-BB1E-831FC4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Heading Appearance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B5577DAD-4492-4EE0-9E6D-D15CCEAF7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Headings have a default appearance</a:t>
            </a:r>
          </a:p>
          <a:p>
            <a:pPr lvl="1" eaLnBrk="1" hangingPunct="1"/>
            <a:r>
              <a:rPr lang="en-US" altLang="en-US"/>
              <a:t>They will appear bolded and very large type will be used for &lt;h1&gt; on down to the smallest type for &lt;h6&gt;</a:t>
            </a:r>
          </a:p>
          <a:p>
            <a:pPr eaLnBrk="1" hangingPunct="1"/>
            <a:r>
              <a:rPr lang="en-US" altLang="en-US"/>
              <a:t>Using heading levels consistently will approve your site’s accessibility, and also helps with search engine weighting</a:t>
            </a:r>
          </a:p>
          <a:p>
            <a:pPr eaLnBrk="1" hangingPunct="1"/>
            <a:r>
              <a:rPr lang="en-US" altLang="en-US"/>
              <a:t>In the future, we will use CSS style to control the look of your headings!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1FCC83DD-746C-48A5-B876-9B6E1A16BB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Headings can be used </a:t>
            </a:r>
            <a:br>
              <a:rPr lang="en-US"/>
            </a:br>
            <a:r>
              <a:rPr lang="en-US"/>
              <a:t>		to give text structure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AAD28EA3-B96D-46CF-87B6-7C29A5CD8A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2017713"/>
            <a:ext cx="8574088" cy="4114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&lt;h1&gt; Mythology Through the Ages &lt;/h1&gt;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&lt;h2&gt; Common Mythological Themes &lt;/h2&gt;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&lt;h2&gt; Earliest Known Myths &lt;/h2&gt;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&lt;h2&gt; Origins of Mythology &lt;/h2&gt;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/>
              <a:t>&lt;h3&gt; Mesopotamian Mythology &lt;/h3&gt;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/>
              <a:t>&lt;h3&gt; Egyptian Mythology &lt;/h3&gt;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1800"/>
              <a:t>&lt;h4&gt; The Story of Isis and Osiris &lt;/h4&gt;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1800"/>
              <a:t>&lt;h4&gt; Horus and Set: The Battle of Good vs. Evil &lt;/h4&gt;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1800"/>
              <a:t>&lt;h4&gt; The Twelve Hours of the Underworld &lt;/h4&gt;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1800"/>
              <a:t>&lt;h4&gt; The River Styx &lt;/h4&gt;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&lt;h2&gt; History in Myth &lt;/h2&gt;</a:t>
            </a:r>
          </a:p>
          <a:p>
            <a:pPr lvl="3" eaLnBrk="1" hangingPunct="1">
              <a:lnSpc>
                <a:spcPct val="90000"/>
              </a:lnSpc>
            </a:pPr>
            <a:endParaRPr lang="en-US" altLang="en-US"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5A16D7A-7225-45F8-8E04-F459D0C542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Paragraphs 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B020E5C-8B67-418E-81A8-20D2E85D62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A paragraph is used as a container of text or other elements in a document</a:t>
            </a:r>
          </a:p>
          <a:p>
            <a:pPr eaLnBrk="1" hangingPunct="1">
              <a:defRPr/>
            </a:pPr>
            <a:r>
              <a:rPr lang="en-US" altLang="en-US" dirty="0"/>
              <a:t>&lt;p&gt; signals the beginning of a paragraph</a:t>
            </a:r>
          </a:p>
          <a:p>
            <a:pPr eaLnBrk="1" hangingPunct="1">
              <a:defRPr/>
            </a:pPr>
            <a:r>
              <a:rPr lang="en-US" altLang="en-US" dirty="0"/>
              <a:t>&lt;/p&gt; signals the ending of a paragraph</a:t>
            </a:r>
          </a:p>
          <a:p>
            <a:pPr marL="36512" indent="0" eaLnBrk="1" hangingPunct="1">
              <a:buFont typeface="Wingdings 2" panose="05020102010507070707" pitchFamily="18" charset="2"/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D5304B3F-335B-4489-9822-8949B43BB1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Paragraph Example:</a:t>
            </a:r>
          </a:p>
        </p:txBody>
      </p:sp>
      <p:sp>
        <p:nvSpPr>
          <p:cNvPr id="28675" name="Text Box 3">
            <a:extLst>
              <a:ext uri="{FF2B5EF4-FFF2-40B4-BE49-F238E27FC236}">
                <a16:creationId xmlns:a16="http://schemas.microsoft.com/office/drawing/2014/main" id="{089972A2-D8BF-4278-90F9-F301F773C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905000"/>
            <a:ext cx="6934200" cy="481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&lt;h1 &gt;Henry the Eighth &lt;/h1&gt;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&lt;h2&gt; First Verse &lt;/h2&gt;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&lt;p&gt;	Oh, I’m Henry the Eighth, I am,  Henry the 	Eighth, I am, I am.  I got married to the 	girl next door, she’s been married seven 	times before and every one was a Henry. 	HENRY. Never was a Willie or a Sam.  I’m 	an eighth old man named Henry, Henry 	the Eight, I am.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&lt;/p&gt;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&lt;h2&gt; Second Verse the same as the First, a little bit louder and a little bit worse. &lt;/h2&gt;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8390A98-0E38-41CC-9AD6-AFE140FE98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HTML Lists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9E0ED146-556C-429F-B51D-ABEC91E07D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Ordered Lists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&lt;ol&gt;, &lt;/ol&gt;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Can be numbered several different ways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Unordered Lists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&lt;ul&gt;, &lt;/ul&gt;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Are bulleted with several types of bullets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Glossary Lists or Definition Lists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&lt;dl&gt;, &lt;/dl&gt;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Can contain a Term and a Definition part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43DA903-6B87-4ABC-B52F-956CB56392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Ordered Lists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9FF09ABD-A527-4401-9504-996500D9FC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sz="2800"/>
              <a:t>When a browser display this list type, it usually numbers the elements sequentially and indents them</a:t>
            </a:r>
          </a:p>
          <a:p>
            <a:pPr eaLnBrk="1" hangingPunct="1"/>
            <a:r>
              <a:rPr lang="en-US" altLang="en-US" sz="2800"/>
              <a:t>Use ordered list when you wish to convey that elements must appear in a certain order</a:t>
            </a:r>
          </a:p>
          <a:p>
            <a:pPr eaLnBrk="1" hangingPunct="1"/>
            <a:r>
              <a:rPr lang="en-US" altLang="en-US" sz="2800"/>
              <a:t>Each element of the list is given a list tag</a:t>
            </a:r>
          </a:p>
          <a:p>
            <a:pPr lvl="1" eaLnBrk="1" hangingPunct="1"/>
            <a:r>
              <a:rPr lang="en-US" altLang="en-US" sz="2400"/>
              <a:t>&lt;li&gt; first item &lt;/li&gt;</a:t>
            </a:r>
          </a:p>
          <a:p>
            <a:pPr lvl="1" eaLnBrk="1" hangingPunct="1"/>
            <a:r>
              <a:rPr lang="en-US" altLang="en-US" sz="2400"/>
              <a:t>&lt;li&gt; second item &lt;/li&gt;</a:t>
            </a:r>
          </a:p>
          <a:p>
            <a:pPr eaLnBrk="1" hangingPunct="1"/>
            <a:endParaRPr lang="en-US" altLang="en-US" sz="2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C5138F29-B4B1-4B97-B132-3F6EC4C99B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Unordered Lists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1BF0169-2F46-49A9-A70A-B34B2561BB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Elements of these lists can appear in any order</a:t>
            </a:r>
          </a:p>
          <a:p>
            <a:pPr eaLnBrk="1" hangingPunct="1"/>
            <a:r>
              <a:rPr lang="en-US" altLang="en-US"/>
              <a:t>Browsers usually format items by inserting bullets or some other symbol </a:t>
            </a:r>
          </a:p>
          <a:p>
            <a:pPr eaLnBrk="1" hangingPunct="1"/>
            <a:r>
              <a:rPr lang="en-US" altLang="en-US"/>
              <a:t>Similar to ordered lists</a:t>
            </a:r>
          </a:p>
          <a:p>
            <a:pPr lvl="1" eaLnBrk="1" hangingPunct="1"/>
            <a:r>
              <a:rPr lang="en-US" altLang="en-US"/>
              <a:t>Each element is listed with a list element</a:t>
            </a:r>
          </a:p>
          <a:p>
            <a:pPr lvl="2" eaLnBrk="1" hangingPunct="1"/>
            <a:r>
              <a:rPr lang="en-US" altLang="en-US"/>
              <a:t>&lt;li&gt; list item &lt;/li&gt;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296E8E5B-E19E-4EF9-87F3-DF74FD65BF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Glossary Lists , also called		Definition Lists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92604DA0-D247-4706-9751-840217327D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Each part of this list is either a term or definition and has its own tag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Term - &lt;dt&gt; , definition term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The term’s definition - &lt;dd&gt; , definition definition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The entire glossary list is set apart with the &lt;dl&gt;, &lt;/dl&gt; tags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These lists are usually formatted with the terms and definitions on their own lines and with the definitions indented.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8B1BFAA1-4EE4-42F7-B706-549A24158B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Glossary List </a:t>
            </a:r>
            <a:br>
              <a:rPr lang="en-US"/>
            </a:br>
            <a:r>
              <a:rPr lang="en-US"/>
              <a:t>Example:</a:t>
            </a:r>
          </a:p>
        </p:txBody>
      </p:sp>
      <p:sp>
        <p:nvSpPr>
          <p:cNvPr id="33795" name="Text Box 3">
            <a:extLst>
              <a:ext uri="{FF2B5EF4-FFF2-40B4-BE49-F238E27FC236}">
                <a16:creationId xmlns:a16="http://schemas.microsoft.com/office/drawing/2014/main" id="{9DB30778-7777-41C0-BE85-51C1C6E35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81200"/>
            <a:ext cx="7924800" cy="48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&lt;dl&gt;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  &lt;dt&gt; Basil &lt;/dt&gt;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     &lt;dd&gt; Annual. Can grow four feet in height, 		     the scent of its tiny white flowers is 			     heavenly.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     &lt;/dd&gt;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  &lt;dt&gt; Oregano &lt;/dt&gt;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     &lt;dd&gt;  Perennial.  Sends out underground 			      runners and is difficult to get rid of 			      once established.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     &lt;/dd&gt;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&lt;/dl&gt;</a:t>
            </a:r>
          </a:p>
        </p:txBody>
      </p:sp>
      <p:grpSp>
        <p:nvGrpSpPr>
          <p:cNvPr id="33796" name="Group 4" descr="Person saying &quot;Okay, this is a list, but what does it mean??&quot;">
            <a:extLst>
              <a:ext uri="{FF2B5EF4-FFF2-40B4-BE49-F238E27FC236}">
                <a16:creationId xmlns:a16="http://schemas.microsoft.com/office/drawing/2014/main" id="{33369DDC-805A-407B-A73D-5B5CFABB52B4}"/>
              </a:ext>
            </a:extLst>
          </p:cNvPr>
          <p:cNvGrpSpPr>
            <a:grpSpLocks/>
          </p:cNvGrpSpPr>
          <p:nvPr/>
        </p:nvGrpSpPr>
        <p:grpSpPr bwMode="auto">
          <a:xfrm>
            <a:off x="6894513" y="723900"/>
            <a:ext cx="2249487" cy="2514600"/>
            <a:chOff x="4088" y="99"/>
            <a:chExt cx="1657" cy="2587"/>
          </a:xfrm>
        </p:grpSpPr>
        <p:grpSp>
          <p:nvGrpSpPr>
            <p:cNvPr id="33798" name="Group 5">
              <a:extLst>
                <a:ext uri="{FF2B5EF4-FFF2-40B4-BE49-F238E27FC236}">
                  <a16:creationId xmlns:a16="http://schemas.microsoft.com/office/drawing/2014/main" id="{804C069C-947F-4EA5-858E-B76994EE8C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8" y="319"/>
              <a:ext cx="296" cy="494"/>
              <a:chOff x="4768" y="319"/>
              <a:chExt cx="296" cy="494"/>
            </a:xfrm>
          </p:grpSpPr>
          <p:grpSp>
            <p:nvGrpSpPr>
              <p:cNvPr id="33844" name="Group 6">
                <a:extLst>
                  <a:ext uri="{FF2B5EF4-FFF2-40B4-BE49-F238E27FC236}">
                    <a16:creationId xmlns:a16="http://schemas.microsoft.com/office/drawing/2014/main" id="{51842848-9118-49BA-A3BE-EA00E68DB8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68" y="505"/>
                <a:ext cx="289" cy="81"/>
                <a:chOff x="4768" y="505"/>
                <a:chExt cx="289" cy="81"/>
              </a:xfrm>
            </p:grpSpPr>
            <p:sp>
              <p:nvSpPr>
                <p:cNvPr id="33868" name="Freeform 7">
                  <a:extLst>
                    <a:ext uri="{FF2B5EF4-FFF2-40B4-BE49-F238E27FC236}">
                      <a16:creationId xmlns:a16="http://schemas.microsoft.com/office/drawing/2014/main" id="{5202D5D1-8034-4B18-BF1A-81968433C4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2" y="505"/>
                  <a:ext cx="25" cy="81"/>
                </a:xfrm>
                <a:custGeom>
                  <a:avLst/>
                  <a:gdLst>
                    <a:gd name="T0" fmla="*/ 0 w 51"/>
                    <a:gd name="T1" fmla="*/ 1 h 160"/>
                    <a:gd name="T2" fmla="*/ 0 w 51"/>
                    <a:gd name="T3" fmla="*/ 1 h 160"/>
                    <a:gd name="T4" fmla="*/ 0 w 51"/>
                    <a:gd name="T5" fmla="*/ 0 h 160"/>
                    <a:gd name="T6" fmla="*/ 0 w 51"/>
                    <a:gd name="T7" fmla="*/ 0 h 160"/>
                    <a:gd name="T8" fmla="*/ 0 w 51"/>
                    <a:gd name="T9" fmla="*/ 1 h 160"/>
                    <a:gd name="T10" fmla="*/ 0 w 51"/>
                    <a:gd name="T11" fmla="*/ 1 h 160"/>
                    <a:gd name="T12" fmla="*/ 0 w 51"/>
                    <a:gd name="T13" fmla="*/ 1 h 160"/>
                    <a:gd name="T14" fmla="*/ 0 w 51"/>
                    <a:gd name="T15" fmla="*/ 1 h 160"/>
                    <a:gd name="T16" fmla="*/ 0 w 51"/>
                    <a:gd name="T17" fmla="*/ 1 h 160"/>
                    <a:gd name="T18" fmla="*/ 0 w 51"/>
                    <a:gd name="T19" fmla="*/ 1 h 160"/>
                    <a:gd name="T20" fmla="*/ 0 w 51"/>
                    <a:gd name="T21" fmla="*/ 1 h 160"/>
                    <a:gd name="T22" fmla="*/ 0 w 51"/>
                    <a:gd name="T23" fmla="*/ 1 h 160"/>
                    <a:gd name="T24" fmla="*/ 0 w 51"/>
                    <a:gd name="T25" fmla="*/ 1 h 160"/>
                    <a:gd name="T26" fmla="*/ 0 w 51"/>
                    <a:gd name="T27" fmla="*/ 1 h 160"/>
                    <a:gd name="T28" fmla="*/ 0 w 51"/>
                    <a:gd name="T29" fmla="*/ 1 h 160"/>
                    <a:gd name="T30" fmla="*/ 0 w 51"/>
                    <a:gd name="T31" fmla="*/ 1 h 160"/>
                    <a:gd name="T32" fmla="*/ 0 w 51"/>
                    <a:gd name="T33" fmla="*/ 1 h 160"/>
                    <a:gd name="T34" fmla="*/ 0 w 51"/>
                    <a:gd name="T35" fmla="*/ 1 h 160"/>
                    <a:gd name="T36" fmla="*/ 0 w 51"/>
                    <a:gd name="T37" fmla="*/ 1 h 160"/>
                    <a:gd name="T38" fmla="*/ 0 w 51"/>
                    <a:gd name="T39" fmla="*/ 1 h 160"/>
                    <a:gd name="T40" fmla="*/ 0 w 51"/>
                    <a:gd name="T41" fmla="*/ 1 h 160"/>
                    <a:gd name="T42" fmla="*/ 0 w 51"/>
                    <a:gd name="T43" fmla="*/ 1 h 160"/>
                    <a:gd name="T44" fmla="*/ 0 w 51"/>
                    <a:gd name="T45" fmla="*/ 1 h 160"/>
                    <a:gd name="T46" fmla="*/ 0 w 51"/>
                    <a:gd name="T47" fmla="*/ 1 h 160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51"/>
                    <a:gd name="T73" fmla="*/ 0 h 160"/>
                    <a:gd name="T74" fmla="*/ 51 w 51"/>
                    <a:gd name="T75" fmla="*/ 160 h 160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51" h="160">
                      <a:moveTo>
                        <a:pt x="2" y="10"/>
                      </a:moveTo>
                      <a:lnTo>
                        <a:pt x="21" y="1"/>
                      </a:lnTo>
                      <a:lnTo>
                        <a:pt x="31" y="0"/>
                      </a:lnTo>
                      <a:lnTo>
                        <a:pt x="38" y="0"/>
                      </a:lnTo>
                      <a:lnTo>
                        <a:pt x="42" y="1"/>
                      </a:lnTo>
                      <a:lnTo>
                        <a:pt x="46" y="4"/>
                      </a:lnTo>
                      <a:lnTo>
                        <a:pt x="50" y="13"/>
                      </a:lnTo>
                      <a:lnTo>
                        <a:pt x="51" y="22"/>
                      </a:lnTo>
                      <a:lnTo>
                        <a:pt x="50" y="34"/>
                      </a:lnTo>
                      <a:lnTo>
                        <a:pt x="49" y="43"/>
                      </a:lnTo>
                      <a:lnTo>
                        <a:pt x="43" y="54"/>
                      </a:lnTo>
                      <a:lnTo>
                        <a:pt x="39" y="61"/>
                      </a:lnTo>
                      <a:lnTo>
                        <a:pt x="33" y="69"/>
                      </a:lnTo>
                      <a:lnTo>
                        <a:pt x="31" y="79"/>
                      </a:lnTo>
                      <a:lnTo>
                        <a:pt x="31" y="87"/>
                      </a:lnTo>
                      <a:lnTo>
                        <a:pt x="31" y="102"/>
                      </a:lnTo>
                      <a:lnTo>
                        <a:pt x="31" y="114"/>
                      </a:lnTo>
                      <a:lnTo>
                        <a:pt x="32" y="124"/>
                      </a:lnTo>
                      <a:lnTo>
                        <a:pt x="31" y="133"/>
                      </a:lnTo>
                      <a:lnTo>
                        <a:pt x="27" y="144"/>
                      </a:lnTo>
                      <a:lnTo>
                        <a:pt x="21" y="150"/>
                      </a:lnTo>
                      <a:lnTo>
                        <a:pt x="13" y="156"/>
                      </a:lnTo>
                      <a:lnTo>
                        <a:pt x="0" y="160"/>
                      </a:lnTo>
                      <a:lnTo>
                        <a:pt x="2" y="10"/>
                      </a:lnTo>
                      <a:close/>
                    </a:path>
                  </a:pathLst>
                </a:custGeom>
                <a:solidFill>
                  <a:srgbClr val="FFC08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69" name="Freeform 8">
                  <a:extLst>
                    <a:ext uri="{FF2B5EF4-FFF2-40B4-BE49-F238E27FC236}">
                      <a16:creationId xmlns:a16="http://schemas.microsoft.com/office/drawing/2014/main" id="{5101C63C-A406-4616-A375-4995631885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8" y="505"/>
                  <a:ext cx="25" cy="81"/>
                </a:xfrm>
                <a:custGeom>
                  <a:avLst/>
                  <a:gdLst>
                    <a:gd name="T0" fmla="*/ 1 w 50"/>
                    <a:gd name="T1" fmla="*/ 1 h 160"/>
                    <a:gd name="T2" fmla="*/ 1 w 50"/>
                    <a:gd name="T3" fmla="*/ 1 h 160"/>
                    <a:gd name="T4" fmla="*/ 1 w 50"/>
                    <a:gd name="T5" fmla="*/ 0 h 160"/>
                    <a:gd name="T6" fmla="*/ 1 w 50"/>
                    <a:gd name="T7" fmla="*/ 0 h 160"/>
                    <a:gd name="T8" fmla="*/ 1 w 50"/>
                    <a:gd name="T9" fmla="*/ 1 h 160"/>
                    <a:gd name="T10" fmla="*/ 1 w 50"/>
                    <a:gd name="T11" fmla="*/ 1 h 160"/>
                    <a:gd name="T12" fmla="*/ 1 w 50"/>
                    <a:gd name="T13" fmla="*/ 1 h 160"/>
                    <a:gd name="T14" fmla="*/ 0 w 50"/>
                    <a:gd name="T15" fmla="*/ 1 h 160"/>
                    <a:gd name="T16" fmla="*/ 0 w 50"/>
                    <a:gd name="T17" fmla="*/ 1 h 160"/>
                    <a:gd name="T18" fmla="*/ 1 w 50"/>
                    <a:gd name="T19" fmla="*/ 1 h 160"/>
                    <a:gd name="T20" fmla="*/ 1 w 50"/>
                    <a:gd name="T21" fmla="*/ 1 h 160"/>
                    <a:gd name="T22" fmla="*/ 1 w 50"/>
                    <a:gd name="T23" fmla="*/ 1 h 160"/>
                    <a:gd name="T24" fmla="*/ 1 w 50"/>
                    <a:gd name="T25" fmla="*/ 1 h 160"/>
                    <a:gd name="T26" fmla="*/ 1 w 50"/>
                    <a:gd name="T27" fmla="*/ 1 h 160"/>
                    <a:gd name="T28" fmla="*/ 1 w 50"/>
                    <a:gd name="T29" fmla="*/ 1 h 160"/>
                    <a:gd name="T30" fmla="*/ 1 w 50"/>
                    <a:gd name="T31" fmla="*/ 1 h 160"/>
                    <a:gd name="T32" fmla="*/ 1 w 50"/>
                    <a:gd name="T33" fmla="*/ 1 h 160"/>
                    <a:gd name="T34" fmla="*/ 1 w 50"/>
                    <a:gd name="T35" fmla="*/ 1 h 160"/>
                    <a:gd name="T36" fmla="*/ 1 w 50"/>
                    <a:gd name="T37" fmla="*/ 1 h 160"/>
                    <a:gd name="T38" fmla="*/ 1 w 50"/>
                    <a:gd name="T39" fmla="*/ 1 h 160"/>
                    <a:gd name="T40" fmla="*/ 1 w 50"/>
                    <a:gd name="T41" fmla="*/ 1 h 160"/>
                    <a:gd name="T42" fmla="*/ 1 w 50"/>
                    <a:gd name="T43" fmla="*/ 1 h 160"/>
                    <a:gd name="T44" fmla="*/ 1 w 50"/>
                    <a:gd name="T45" fmla="*/ 1 h 160"/>
                    <a:gd name="T46" fmla="*/ 1 w 50"/>
                    <a:gd name="T47" fmla="*/ 1 h 160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50"/>
                    <a:gd name="T73" fmla="*/ 0 h 160"/>
                    <a:gd name="T74" fmla="*/ 50 w 50"/>
                    <a:gd name="T75" fmla="*/ 160 h 160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50" h="160">
                      <a:moveTo>
                        <a:pt x="50" y="10"/>
                      </a:moveTo>
                      <a:lnTo>
                        <a:pt x="30" y="1"/>
                      </a:lnTo>
                      <a:lnTo>
                        <a:pt x="21" y="0"/>
                      </a:lnTo>
                      <a:lnTo>
                        <a:pt x="13" y="0"/>
                      </a:lnTo>
                      <a:lnTo>
                        <a:pt x="9" y="1"/>
                      </a:lnTo>
                      <a:lnTo>
                        <a:pt x="5" y="4"/>
                      </a:lnTo>
                      <a:lnTo>
                        <a:pt x="2" y="13"/>
                      </a:lnTo>
                      <a:lnTo>
                        <a:pt x="0" y="22"/>
                      </a:lnTo>
                      <a:lnTo>
                        <a:pt x="0" y="34"/>
                      </a:lnTo>
                      <a:lnTo>
                        <a:pt x="2" y="43"/>
                      </a:lnTo>
                      <a:lnTo>
                        <a:pt x="7" y="54"/>
                      </a:lnTo>
                      <a:lnTo>
                        <a:pt x="13" y="61"/>
                      </a:lnTo>
                      <a:lnTo>
                        <a:pt x="17" y="69"/>
                      </a:lnTo>
                      <a:lnTo>
                        <a:pt x="20" y="79"/>
                      </a:lnTo>
                      <a:lnTo>
                        <a:pt x="21" y="87"/>
                      </a:lnTo>
                      <a:lnTo>
                        <a:pt x="20" y="102"/>
                      </a:lnTo>
                      <a:lnTo>
                        <a:pt x="20" y="114"/>
                      </a:lnTo>
                      <a:lnTo>
                        <a:pt x="18" y="124"/>
                      </a:lnTo>
                      <a:lnTo>
                        <a:pt x="20" y="133"/>
                      </a:lnTo>
                      <a:lnTo>
                        <a:pt x="24" y="144"/>
                      </a:lnTo>
                      <a:lnTo>
                        <a:pt x="30" y="150"/>
                      </a:lnTo>
                      <a:lnTo>
                        <a:pt x="38" y="156"/>
                      </a:lnTo>
                      <a:lnTo>
                        <a:pt x="50" y="160"/>
                      </a:lnTo>
                      <a:lnTo>
                        <a:pt x="50" y="10"/>
                      </a:lnTo>
                      <a:close/>
                    </a:path>
                  </a:pathLst>
                </a:custGeom>
                <a:solidFill>
                  <a:srgbClr val="FFC08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3845" name="Rectangle 9">
                <a:extLst>
                  <a:ext uri="{FF2B5EF4-FFF2-40B4-BE49-F238E27FC236}">
                    <a16:creationId xmlns:a16="http://schemas.microsoft.com/office/drawing/2014/main" id="{89A1795B-C219-4149-ABF6-DC76BF6E5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7" y="725"/>
                <a:ext cx="137" cy="88"/>
              </a:xfrm>
              <a:prstGeom prst="rect">
                <a:avLst/>
              </a:prstGeom>
              <a:solidFill>
                <a:srgbClr val="FFC08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3846" name="Freeform 10">
                <a:extLst>
                  <a:ext uri="{FF2B5EF4-FFF2-40B4-BE49-F238E27FC236}">
                    <a16:creationId xmlns:a16="http://schemas.microsoft.com/office/drawing/2014/main" id="{4AC6DA88-CE33-4F9C-BB2F-4651DB9ADC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8" y="357"/>
                <a:ext cx="253" cy="401"/>
              </a:xfrm>
              <a:custGeom>
                <a:avLst/>
                <a:gdLst>
                  <a:gd name="T0" fmla="*/ 1 w 504"/>
                  <a:gd name="T1" fmla="*/ 0 h 804"/>
                  <a:gd name="T2" fmla="*/ 1 w 504"/>
                  <a:gd name="T3" fmla="*/ 0 h 804"/>
                  <a:gd name="T4" fmla="*/ 1 w 504"/>
                  <a:gd name="T5" fmla="*/ 0 h 804"/>
                  <a:gd name="T6" fmla="*/ 0 w 504"/>
                  <a:gd name="T7" fmla="*/ 0 h 804"/>
                  <a:gd name="T8" fmla="*/ 1 w 504"/>
                  <a:gd name="T9" fmla="*/ 0 h 804"/>
                  <a:gd name="T10" fmla="*/ 1 w 504"/>
                  <a:gd name="T11" fmla="*/ 0 h 804"/>
                  <a:gd name="T12" fmla="*/ 1 w 504"/>
                  <a:gd name="T13" fmla="*/ 0 h 804"/>
                  <a:gd name="T14" fmla="*/ 1 w 504"/>
                  <a:gd name="T15" fmla="*/ 0 h 804"/>
                  <a:gd name="T16" fmla="*/ 1 w 504"/>
                  <a:gd name="T17" fmla="*/ 0 h 804"/>
                  <a:gd name="T18" fmla="*/ 1 w 504"/>
                  <a:gd name="T19" fmla="*/ 0 h 804"/>
                  <a:gd name="T20" fmla="*/ 1 w 504"/>
                  <a:gd name="T21" fmla="*/ 0 h 804"/>
                  <a:gd name="T22" fmla="*/ 1 w 504"/>
                  <a:gd name="T23" fmla="*/ 0 h 804"/>
                  <a:gd name="T24" fmla="*/ 1 w 504"/>
                  <a:gd name="T25" fmla="*/ 0 h 804"/>
                  <a:gd name="T26" fmla="*/ 1 w 504"/>
                  <a:gd name="T27" fmla="*/ 0 h 804"/>
                  <a:gd name="T28" fmla="*/ 1 w 504"/>
                  <a:gd name="T29" fmla="*/ 0 h 804"/>
                  <a:gd name="T30" fmla="*/ 1 w 504"/>
                  <a:gd name="T31" fmla="*/ 0 h 804"/>
                  <a:gd name="T32" fmla="*/ 1 w 504"/>
                  <a:gd name="T33" fmla="*/ 0 h 804"/>
                  <a:gd name="T34" fmla="*/ 1 w 504"/>
                  <a:gd name="T35" fmla="*/ 0 h 804"/>
                  <a:gd name="T36" fmla="*/ 1 w 504"/>
                  <a:gd name="T37" fmla="*/ 0 h 804"/>
                  <a:gd name="T38" fmla="*/ 1 w 504"/>
                  <a:gd name="T39" fmla="*/ 0 h 804"/>
                  <a:gd name="T40" fmla="*/ 1 w 504"/>
                  <a:gd name="T41" fmla="*/ 0 h 804"/>
                  <a:gd name="T42" fmla="*/ 1 w 504"/>
                  <a:gd name="T43" fmla="*/ 0 h 804"/>
                  <a:gd name="T44" fmla="*/ 1 w 504"/>
                  <a:gd name="T45" fmla="*/ 0 h 804"/>
                  <a:gd name="T46" fmla="*/ 1 w 504"/>
                  <a:gd name="T47" fmla="*/ 0 h 804"/>
                  <a:gd name="T48" fmla="*/ 1 w 504"/>
                  <a:gd name="T49" fmla="*/ 0 h 804"/>
                  <a:gd name="T50" fmla="*/ 1 w 504"/>
                  <a:gd name="T51" fmla="*/ 0 h 804"/>
                  <a:gd name="T52" fmla="*/ 1 w 504"/>
                  <a:gd name="T53" fmla="*/ 0 h 804"/>
                  <a:gd name="T54" fmla="*/ 1 w 504"/>
                  <a:gd name="T55" fmla="*/ 0 h 804"/>
                  <a:gd name="T56" fmla="*/ 1 w 504"/>
                  <a:gd name="T57" fmla="*/ 0 h 804"/>
                  <a:gd name="T58" fmla="*/ 1 w 504"/>
                  <a:gd name="T59" fmla="*/ 0 h 804"/>
                  <a:gd name="T60" fmla="*/ 1 w 504"/>
                  <a:gd name="T61" fmla="*/ 0 h 804"/>
                  <a:gd name="T62" fmla="*/ 1 w 504"/>
                  <a:gd name="T63" fmla="*/ 0 h 804"/>
                  <a:gd name="T64" fmla="*/ 1 w 504"/>
                  <a:gd name="T65" fmla="*/ 0 h 804"/>
                  <a:gd name="T66" fmla="*/ 1 w 504"/>
                  <a:gd name="T67" fmla="*/ 0 h 804"/>
                  <a:gd name="T68" fmla="*/ 1 w 504"/>
                  <a:gd name="T69" fmla="*/ 0 h 804"/>
                  <a:gd name="T70" fmla="*/ 1 w 504"/>
                  <a:gd name="T71" fmla="*/ 0 h 804"/>
                  <a:gd name="T72" fmla="*/ 1 w 504"/>
                  <a:gd name="T73" fmla="*/ 0 h 80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504"/>
                  <a:gd name="T112" fmla="*/ 0 h 804"/>
                  <a:gd name="T113" fmla="*/ 504 w 504"/>
                  <a:gd name="T114" fmla="*/ 804 h 80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504" h="804">
                    <a:moveTo>
                      <a:pt x="50" y="129"/>
                    </a:moveTo>
                    <a:lnTo>
                      <a:pt x="33" y="164"/>
                    </a:lnTo>
                    <a:lnTo>
                      <a:pt x="20" y="200"/>
                    </a:lnTo>
                    <a:lnTo>
                      <a:pt x="12" y="235"/>
                    </a:lnTo>
                    <a:lnTo>
                      <a:pt x="7" y="278"/>
                    </a:lnTo>
                    <a:lnTo>
                      <a:pt x="2" y="326"/>
                    </a:lnTo>
                    <a:lnTo>
                      <a:pt x="1" y="370"/>
                    </a:lnTo>
                    <a:lnTo>
                      <a:pt x="0" y="413"/>
                    </a:lnTo>
                    <a:lnTo>
                      <a:pt x="0" y="467"/>
                    </a:lnTo>
                    <a:lnTo>
                      <a:pt x="2" y="511"/>
                    </a:lnTo>
                    <a:lnTo>
                      <a:pt x="8" y="555"/>
                    </a:lnTo>
                    <a:lnTo>
                      <a:pt x="15" y="586"/>
                    </a:lnTo>
                    <a:lnTo>
                      <a:pt x="27" y="624"/>
                    </a:lnTo>
                    <a:lnTo>
                      <a:pt x="44" y="654"/>
                    </a:lnTo>
                    <a:lnTo>
                      <a:pt x="59" y="679"/>
                    </a:lnTo>
                    <a:lnTo>
                      <a:pt x="83" y="709"/>
                    </a:lnTo>
                    <a:lnTo>
                      <a:pt x="108" y="735"/>
                    </a:lnTo>
                    <a:lnTo>
                      <a:pt x="137" y="760"/>
                    </a:lnTo>
                    <a:lnTo>
                      <a:pt x="166" y="777"/>
                    </a:lnTo>
                    <a:lnTo>
                      <a:pt x="195" y="790"/>
                    </a:lnTo>
                    <a:lnTo>
                      <a:pt x="209" y="796"/>
                    </a:lnTo>
                    <a:lnTo>
                      <a:pt x="227" y="802"/>
                    </a:lnTo>
                    <a:lnTo>
                      <a:pt x="251" y="804"/>
                    </a:lnTo>
                    <a:lnTo>
                      <a:pt x="264" y="802"/>
                    </a:lnTo>
                    <a:lnTo>
                      <a:pt x="285" y="799"/>
                    </a:lnTo>
                    <a:lnTo>
                      <a:pt x="309" y="792"/>
                    </a:lnTo>
                    <a:lnTo>
                      <a:pt x="328" y="784"/>
                    </a:lnTo>
                    <a:lnTo>
                      <a:pt x="349" y="772"/>
                    </a:lnTo>
                    <a:lnTo>
                      <a:pt x="370" y="757"/>
                    </a:lnTo>
                    <a:lnTo>
                      <a:pt x="388" y="742"/>
                    </a:lnTo>
                    <a:lnTo>
                      <a:pt x="406" y="724"/>
                    </a:lnTo>
                    <a:lnTo>
                      <a:pt x="421" y="706"/>
                    </a:lnTo>
                    <a:lnTo>
                      <a:pt x="433" y="688"/>
                    </a:lnTo>
                    <a:lnTo>
                      <a:pt x="452" y="666"/>
                    </a:lnTo>
                    <a:lnTo>
                      <a:pt x="463" y="648"/>
                    </a:lnTo>
                    <a:lnTo>
                      <a:pt x="474" y="628"/>
                    </a:lnTo>
                    <a:lnTo>
                      <a:pt x="479" y="613"/>
                    </a:lnTo>
                    <a:lnTo>
                      <a:pt x="485" y="598"/>
                    </a:lnTo>
                    <a:lnTo>
                      <a:pt x="490" y="577"/>
                    </a:lnTo>
                    <a:lnTo>
                      <a:pt x="496" y="552"/>
                    </a:lnTo>
                    <a:lnTo>
                      <a:pt x="500" y="519"/>
                    </a:lnTo>
                    <a:lnTo>
                      <a:pt x="503" y="491"/>
                    </a:lnTo>
                    <a:lnTo>
                      <a:pt x="504" y="461"/>
                    </a:lnTo>
                    <a:lnTo>
                      <a:pt x="504" y="431"/>
                    </a:lnTo>
                    <a:lnTo>
                      <a:pt x="503" y="389"/>
                    </a:lnTo>
                    <a:lnTo>
                      <a:pt x="501" y="358"/>
                    </a:lnTo>
                    <a:lnTo>
                      <a:pt x="499" y="328"/>
                    </a:lnTo>
                    <a:lnTo>
                      <a:pt x="497" y="293"/>
                    </a:lnTo>
                    <a:lnTo>
                      <a:pt x="496" y="268"/>
                    </a:lnTo>
                    <a:lnTo>
                      <a:pt x="492" y="239"/>
                    </a:lnTo>
                    <a:lnTo>
                      <a:pt x="488" y="217"/>
                    </a:lnTo>
                    <a:lnTo>
                      <a:pt x="481" y="193"/>
                    </a:lnTo>
                    <a:lnTo>
                      <a:pt x="474" y="173"/>
                    </a:lnTo>
                    <a:lnTo>
                      <a:pt x="467" y="158"/>
                    </a:lnTo>
                    <a:lnTo>
                      <a:pt x="460" y="144"/>
                    </a:lnTo>
                    <a:lnTo>
                      <a:pt x="447" y="120"/>
                    </a:lnTo>
                    <a:lnTo>
                      <a:pt x="438" y="105"/>
                    </a:lnTo>
                    <a:lnTo>
                      <a:pt x="427" y="92"/>
                    </a:lnTo>
                    <a:lnTo>
                      <a:pt x="413" y="77"/>
                    </a:lnTo>
                    <a:lnTo>
                      <a:pt x="400" y="65"/>
                    </a:lnTo>
                    <a:lnTo>
                      <a:pt x="386" y="53"/>
                    </a:lnTo>
                    <a:lnTo>
                      <a:pt x="368" y="41"/>
                    </a:lnTo>
                    <a:lnTo>
                      <a:pt x="350" y="29"/>
                    </a:lnTo>
                    <a:lnTo>
                      <a:pt x="328" y="18"/>
                    </a:lnTo>
                    <a:lnTo>
                      <a:pt x="305" y="11"/>
                    </a:lnTo>
                    <a:lnTo>
                      <a:pt x="278" y="5"/>
                    </a:lnTo>
                    <a:lnTo>
                      <a:pt x="252" y="0"/>
                    </a:lnTo>
                    <a:lnTo>
                      <a:pt x="214" y="5"/>
                    </a:lnTo>
                    <a:lnTo>
                      <a:pt x="183" y="15"/>
                    </a:lnTo>
                    <a:lnTo>
                      <a:pt x="149" y="30"/>
                    </a:lnTo>
                    <a:lnTo>
                      <a:pt x="122" y="48"/>
                    </a:lnTo>
                    <a:lnTo>
                      <a:pt x="95" y="69"/>
                    </a:lnTo>
                    <a:lnTo>
                      <a:pt x="70" y="98"/>
                    </a:lnTo>
                    <a:lnTo>
                      <a:pt x="50" y="129"/>
                    </a:lnTo>
                    <a:close/>
                  </a:path>
                </a:pathLst>
              </a:custGeom>
              <a:solidFill>
                <a:srgbClr val="FFC08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47" name="Freeform 11">
                <a:extLst>
                  <a:ext uri="{FF2B5EF4-FFF2-40B4-BE49-F238E27FC236}">
                    <a16:creationId xmlns:a16="http://schemas.microsoft.com/office/drawing/2014/main" id="{A36C3AF6-41D3-4AA5-A4AA-0639CC755D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3" y="660"/>
                <a:ext cx="103" cy="24"/>
              </a:xfrm>
              <a:custGeom>
                <a:avLst/>
                <a:gdLst>
                  <a:gd name="T0" fmla="*/ 0 w 205"/>
                  <a:gd name="T1" fmla="*/ 1 h 48"/>
                  <a:gd name="T2" fmla="*/ 1 w 205"/>
                  <a:gd name="T3" fmla="*/ 1 h 48"/>
                  <a:gd name="T4" fmla="*/ 1 w 205"/>
                  <a:gd name="T5" fmla="*/ 1 h 48"/>
                  <a:gd name="T6" fmla="*/ 1 w 205"/>
                  <a:gd name="T7" fmla="*/ 1 h 48"/>
                  <a:gd name="T8" fmla="*/ 1 w 205"/>
                  <a:gd name="T9" fmla="*/ 1 h 48"/>
                  <a:gd name="T10" fmla="*/ 1 w 205"/>
                  <a:gd name="T11" fmla="*/ 0 h 48"/>
                  <a:gd name="T12" fmla="*/ 1 w 205"/>
                  <a:gd name="T13" fmla="*/ 0 h 48"/>
                  <a:gd name="T14" fmla="*/ 1 w 205"/>
                  <a:gd name="T15" fmla="*/ 1 h 48"/>
                  <a:gd name="T16" fmla="*/ 1 w 205"/>
                  <a:gd name="T17" fmla="*/ 0 h 48"/>
                  <a:gd name="T18" fmla="*/ 1 w 205"/>
                  <a:gd name="T19" fmla="*/ 0 h 48"/>
                  <a:gd name="T20" fmla="*/ 1 w 205"/>
                  <a:gd name="T21" fmla="*/ 1 h 48"/>
                  <a:gd name="T22" fmla="*/ 1 w 205"/>
                  <a:gd name="T23" fmla="*/ 1 h 48"/>
                  <a:gd name="T24" fmla="*/ 1 w 205"/>
                  <a:gd name="T25" fmla="*/ 1 h 48"/>
                  <a:gd name="T26" fmla="*/ 1 w 205"/>
                  <a:gd name="T27" fmla="*/ 1 h 48"/>
                  <a:gd name="T28" fmla="*/ 1 w 205"/>
                  <a:gd name="T29" fmla="*/ 1 h 48"/>
                  <a:gd name="T30" fmla="*/ 1 w 205"/>
                  <a:gd name="T31" fmla="*/ 1 h 48"/>
                  <a:gd name="T32" fmla="*/ 1 w 205"/>
                  <a:gd name="T33" fmla="*/ 1 h 48"/>
                  <a:gd name="T34" fmla="*/ 1 w 205"/>
                  <a:gd name="T35" fmla="*/ 1 h 48"/>
                  <a:gd name="T36" fmla="*/ 1 w 205"/>
                  <a:gd name="T37" fmla="*/ 1 h 48"/>
                  <a:gd name="T38" fmla="*/ 1 w 205"/>
                  <a:gd name="T39" fmla="*/ 1 h 48"/>
                  <a:gd name="T40" fmla="*/ 1 w 205"/>
                  <a:gd name="T41" fmla="*/ 1 h 48"/>
                  <a:gd name="T42" fmla="*/ 1 w 205"/>
                  <a:gd name="T43" fmla="*/ 1 h 48"/>
                  <a:gd name="T44" fmla="*/ 1 w 205"/>
                  <a:gd name="T45" fmla="*/ 1 h 48"/>
                  <a:gd name="T46" fmla="*/ 1 w 205"/>
                  <a:gd name="T47" fmla="*/ 1 h 48"/>
                  <a:gd name="T48" fmla="*/ 1 w 205"/>
                  <a:gd name="T49" fmla="*/ 1 h 48"/>
                  <a:gd name="T50" fmla="*/ 0 w 205"/>
                  <a:gd name="T51" fmla="*/ 1 h 4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05"/>
                  <a:gd name="T79" fmla="*/ 0 h 48"/>
                  <a:gd name="T80" fmla="*/ 205 w 205"/>
                  <a:gd name="T81" fmla="*/ 48 h 48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05" h="48">
                    <a:moveTo>
                      <a:pt x="0" y="33"/>
                    </a:moveTo>
                    <a:lnTo>
                      <a:pt x="7" y="27"/>
                    </a:lnTo>
                    <a:lnTo>
                      <a:pt x="17" y="18"/>
                    </a:lnTo>
                    <a:lnTo>
                      <a:pt x="35" y="9"/>
                    </a:lnTo>
                    <a:lnTo>
                      <a:pt x="56" y="3"/>
                    </a:lnTo>
                    <a:lnTo>
                      <a:pt x="77" y="0"/>
                    </a:lnTo>
                    <a:lnTo>
                      <a:pt x="95" y="0"/>
                    </a:lnTo>
                    <a:lnTo>
                      <a:pt x="107" y="2"/>
                    </a:lnTo>
                    <a:lnTo>
                      <a:pt x="117" y="0"/>
                    </a:lnTo>
                    <a:lnTo>
                      <a:pt x="126" y="0"/>
                    </a:lnTo>
                    <a:lnTo>
                      <a:pt x="139" y="2"/>
                    </a:lnTo>
                    <a:lnTo>
                      <a:pt x="154" y="5"/>
                    </a:lnTo>
                    <a:lnTo>
                      <a:pt x="168" y="9"/>
                    </a:lnTo>
                    <a:lnTo>
                      <a:pt x="185" y="15"/>
                    </a:lnTo>
                    <a:lnTo>
                      <a:pt x="193" y="21"/>
                    </a:lnTo>
                    <a:lnTo>
                      <a:pt x="200" y="27"/>
                    </a:lnTo>
                    <a:lnTo>
                      <a:pt x="205" y="36"/>
                    </a:lnTo>
                    <a:lnTo>
                      <a:pt x="204" y="39"/>
                    </a:lnTo>
                    <a:lnTo>
                      <a:pt x="185" y="45"/>
                    </a:lnTo>
                    <a:lnTo>
                      <a:pt x="151" y="48"/>
                    </a:lnTo>
                    <a:lnTo>
                      <a:pt x="120" y="48"/>
                    </a:lnTo>
                    <a:lnTo>
                      <a:pt x="86" y="48"/>
                    </a:lnTo>
                    <a:lnTo>
                      <a:pt x="42" y="45"/>
                    </a:lnTo>
                    <a:lnTo>
                      <a:pt x="13" y="42"/>
                    </a:lnTo>
                    <a:lnTo>
                      <a:pt x="4" y="39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FFE0C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48" name="Freeform 12">
                <a:extLst>
                  <a:ext uri="{FF2B5EF4-FFF2-40B4-BE49-F238E27FC236}">
                    <a16:creationId xmlns:a16="http://schemas.microsoft.com/office/drawing/2014/main" id="{0CF31304-C74C-43A8-A1C9-E76D01DE0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2" y="319"/>
                <a:ext cx="292" cy="216"/>
              </a:xfrm>
              <a:custGeom>
                <a:avLst/>
                <a:gdLst>
                  <a:gd name="T0" fmla="*/ 1 w 583"/>
                  <a:gd name="T1" fmla="*/ 0 h 433"/>
                  <a:gd name="T2" fmla="*/ 1 w 583"/>
                  <a:gd name="T3" fmla="*/ 0 h 433"/>
                  <a:gd name="T4" fmla="*/ 1 w 583"/>
                  <a:gd name="T5" fmla="*/ 0 h 433"/>
                  <a:gd name="T6" fmla="*/ 1 w 583"/>
                  <a:gd name="T7" fmla="*/ 0 h 433"/>
                  <a:gd name="T8" fmla="*/ 1 w 583"/>
                  <a:gd name="T9" fmla="*/ 0 h 433"/>
                  <a:gd name="T10" fmla="*/ 1 w 583"/>
                  <a:gd name="T11" fmla="*/ 0 h 433"/>
                  <a:gd name="T12" fmla="*/ 1 w 583"/>
                  <a:gd name="T13" fmla="*/ 0 h 433"/>
                  <a:gd name="T14" fmla="*/ 1 w 583"/>
                  <a:gd name="T15" fmla="*/ 0 h 433"/>
                  <a:gd name="T16" fmla="*/ 1 w 583"/>
                  <a:gd name="T17" fmla="*/ 0 h 433"/>
                  <a:gd name="T18" fmla="*/ 1 w 583"/>
                  <a:gd name="T19" fmla="*/ 0 h 433"/>
                  <a:gd name="T20" fmla="*/ 1 w 583"/>
                  <a:gd name="T21" fmla="*/ 0 h 433"/>
                  <a:gd name="T22" fmla="*/ 1 w 583"/>
                  <a:gd name="T23" fmla="*/ 0 h 433"/>
                  <a:gd name="T24" fmla="*/ 1 w 583"/>
                  <a:gd name="T25" fmla="*/ 0 h 433"/>
                  <a:gd name="T26" fmla="*/ 1 w 583"/>
                  <a:gd name="T27" fmla="*/ 0 h 433"/>
                  <a:gd name="T28" fmla="*/ 1 w 583"/>
                  <a:gd name="T29" fmla="*/ 0 h 433"/>
                  <a:gd name="T30" fmla="*/ 1 w 583"/>
                  <a:gd name="T31" fmla="*/ 0 h 433"/>
                  <a:gd name="T32" fmla="*/ 1 w 583"/>
                  <a:gd name="T33" fmla="*/ 0 h 433"/>
                  <a:gd name="T34" fmla="*/ 1 w 583"/>
                  <a:gd name="T35" fmla="*/ 0 h 433"/>
                  <a:gd name="T36" fmla="*/ 1 w 583"/>
                  <a:gd name="T37" fmla="*/ 0 h 433"/>
                  <a:gd name="T38" fmla="*/ 1 w 583"/>
                  <a:gd name="T39" fmla="*/ 0 h 433"/>
                  <a:gd name="T40" fmla="*/ 1 w 583"/>
                  <a:gd name="T41" fmla="*/ 0 h 433"/>
                  <a:gd name="T42" fmla="*/ 1 w 583"/>
                  <a:gd name="T43" fmla="*/ 0 h 433"/>
                  <a:gd name="T44" fmla="*/ 1 w 583"/>
                  <a:gd name="T45" fmla="*/ 0 h 433"/>
                  <a:gd name="T46" fmla="*/ 1 w 583"/>
                  <a:gd name="T47" fmla="*/ 0 h 433"/>
                  <a:gd name="T48" fmla="*/ 1 w 583"/>
                  <a:gd name="T49" fmla="*/ 0 h 433"/>
                  <a:gd name="T50" fmla="*/ 1 w 583"/>
                  <a:gd name="T51" fmla="*/ 0 h 433"/>
                  <a:gd name="T52" fmla="*/ 1 w 583"/>
                  <a:gd name="T53" fmla="*/ 0 h 433"/>
                  <a:gd name="T54" fmla="*/ 1 w 583"/>
                  <a:gd name="T55" fmla="*/ 0 h 433"/>
                  <a:gd name="T56" fmla="*/ 1 w 583"/>
                  <a:gd name="T57" fmla="*/ 0 h 433"/>
                  <a:gd name="T58" fmla="*/ 1 w 583"/>
                  <a:gd name="T59" fmla="*/ 0 h 433"/>
                  <a:gd name="T60" fmla="*/ 1 w 583"/>
                  <a:gd name="T61" fmla="*/ 0 h 433"/>
                  <a:gd name="T62" fmla="*/ 1 w 583"/>
                  <a:gd name="T63" fmla="*/ 0 h 433"/>
                  <a:gd name="T64" fmla="*/ 1 w 583"/>
                  <a:gd name="T65" fmla="*/ 0 h 433"/>
                  <a:gd name="T66" fmla="*/ 1 w 583"/>
                  <a:gd name="T67" fmla="*/ 0 h 433"/>
                  <a:gd name="T68" fmla="*/ 1 w 583"/>
                  <a:gd name="T69" fmla="*/ 0 h 433"/>
                  <a:gd name="T70" fmla="*/ 1 w 583"/>
                  <a:gd name="T71" fmla="*/ 0 h 433"/>
                  <a:gd name="T72" fmla="*/ 1 w 583"/>
                  <a:gd name="T73" fmla="*/ 0 h 433"/>
                  <a:gd name="T74" fmla="*/ 1 w 583"/>
                  <a:gd name="T75" fmla="*/ 0 h 433"/>
                  <a:gd name="T76" fmla="*/ 1 w 583"/>
                  <a:gd name="T77" fmla="*/ 0 h 433"/>
                  <a:gd name="T78" fmla="*/ 1 w 583"/>
                  <a:gd name="T79" fmla="*/ 0 h 433"/>
                  <a:gd name="T80" fmla="*/ 1 w 583"/>
                  <a:gd name="T81" fmla="*/ 0 h 433"/>
                  <a:gd name="T82" fmla="*/ 1 w 583"/>
                  <a:gd name="T83" fmla="*/ 0 h 433"/>
                  <a:gd name="T84" fmla="*/ 1 w 583"/>
                  <a:gd name="T85" fmla="*/ 0 h 433"/>
                  <a:gd name="T86" fmla="*/ 1 w 583"/>
                  <a:gd name="T87" fmla="*/ 0 h 433"/>
                  <a:gd name="T88" fmla="*/ 1 w 583"/>
                  <a:gd name="T89" fmla="*/ 0 h 433"/>
                  <a:gd name="T90" fmla="*/ 1 w 583"/>
                  <a:gd name="T91" fmla="*/ 0 h 433"/>
                  <a:gd name="T92" fmla="*/ 1 w 583"/>
                  <a:gd name="T93" fmla="*/ 0 h 433"/>
                  <a:gd name="T94" fmla="*/ 1 w 583"/>
                  <a:gd name="T95" fmla="*/ 0 h 433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583"/>
                  <a:gd name="T145" fmla="*/ 0 h 433"/>
                  <a:gd name="T146" fmla="*/ 583 w 583"/>
                  <a:gd name="T147" fmla="*/ 433 h 433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583" h="433">
                    <a:moveTo>
                      <a:pt x="34" y="433"/>
                    </a:moveTo>
                    <a:lnTo>
                      <a:pt x="29" y="425"/>
                    </a:lnTo>
                    <a:lnTo>
                      <a:pt x="18" y="412"/>
                    </a:lnTo>
                    <a:lnTo>
                      <a:pt x="29" y="406"/>
                    </a:lnTo>
                    <a:lnTo>
                      <a:pt x="22" y="394"/>
                    </a:lnTo>
                    <a:lnTo>
                      <a:pt x="15" y="380"/>
                    </a:lnTo>
                    <a:lnTo>
                      <a:pt x="9" y="371"/>
                    </a:lnTo>
                    <a:lnTo>
                      <a:pt x="25" y="371"/>
                    </a:lnTo>
                    <a:lnTo>
                      <a:pt x="21" y="358"/>
                    </a:lnTo>
                    <a:lnTo>
                      <a:pt x="12" y="343"/>
                    </a:lnTo>
                    <a:lnTo>
                      <a:pt x="0" y="329"/>
                    </a:lnTo>
                    <a:lnTo>
                      <a:pt x="16" y="328"/>
                    </a:lnTo>
                    <a:lnTo>
                      <a:pt x="12" y="316"/>
                    </a:lnTo>
                    <a:lnTo>
                      <a:pt x="5" y="301"/>
                    </a:lnTo>
                    <a:lnTo>
                      <a:pt x="15" y="304"/>
                    </a:lnTo>
                    <a:lnTo>
                      <a:pt x="23" y="307"/>
                    </a:lnTo>
                    <a:lnTo>
                      <a:pt x="21" y="298"/>
                    </a:lnTo>
                    <a:lnTo>
                      <a:pt x="14" y="287"/>
                    </a:lnTo>
                    <a:lnTo>
                      <a:pt x="22" y="287"/>
                    </a:lnTo>
                    <a:lnTo>
                      <a:pt x="18" y="271"/>
                    </a:lnTo>
                    <a:lnTo>
                      <a:pt x="26" y="272"/>
                    </a:lnTo>
                    <a:lnTo>
                      <a:pt x="26" y="260"/>
                    </a:lnTo>
                    <a:lnTo>
                      <a:pt x="23" y="250"/>
                    </a:lnTo>
                    <a:lnTo>
                      <a:pt x="16" y="231"/>
                    </a:lnTo>
                    <a:lnTo>
                      <a:pt x="26" y="234"/>
                    </a:lnTo>
                    <a:lnTo>
                      <a:pt x="36" y="237"/>
                    </a:lnTo>
                    <a:lnTo>
                      <a:pt x="29" y="225"/>
                    </a:lnTo>
                    <a:lnTo>
                      <a:pt x="43" y="227"/>
                    </a:lnTo>
                    <a:lnTo>
                      <a:pt x="54" y="228"/>
                    </a:lnTo>
                    <a:lnTo>
                      <a:pt x="44" y="213"/>
                    </a:lnTo>
                    <a:lnTo>
                      <a:pt x="39" y="204"/>
                    </a:lnTo>
                    <a:lnTo>
                      <a:pt x="30" y="192"/>
                    </a:lnTo>
                    <a:lnTo>
                      <a:pt x="41" y="191"/>
                    </a:lnTo>
                    <a:lnTo>
                      <a:pt x="52" y="191"/>
                    </a:lnTo>
                    <a:lnTo>
                      <a:pt x="62" y="189"/>
                    </a:lnTo>
                    <a:lnTo>
                      <a:pt x="54" y="180"/>
                    </a:lnTo>
                    <a:lnTo>
                      <a:pt x="44" y="171"/>
                    </a:lnTo>
                    <a:lnTo>
                      <a:pt x="55" y="167"/>
                    </a:lnTo>
                    <a:lnTo>
                      <a:pt x="50" y="152"/>
                    </a:lnTo>
                    <a:lnTo>
                      <a:pt x="44" y="141"/>
                    </a:lnTo>
                    <a:lnTo>
                      <a:pt x="40" y="132"/>
                    </a:lnTo>
                    <a:lnTo>
                      <a:pt x="52" y="134"/>
                    </a:lnTo>
                    <a:lnTo>
                      <a:pt x="64" y="137"/>
                    </a:lnTo>
                    <a:lnTo>
                      <a:pt x="66" y="122"/>
                    </a:lnTo>
                    <a:lnTo>
                      <a:pt x="65" y="105"/>
                    </a:lnTo>
                    <a:lnTo>
                      <a:pt x="62" y="90"/>
                    </a:lnTo>
                    <a:lnTo>
                      <a:pt x="52" y="72"/>
                    </a:lnTo>
                    <a:lnTo>
                      <a:pt x="72" y="83"/>
                    </a:lnTo>
                    <a:lnTo>
                      <a:pt x="80" y="87"/>
                    </a:lnTo>
                    <a:lnTo>
                      <a:pt x="90" y="95"/>
                    </a:lnTo>
                    <a:lnTo>
                      <a:pt x="101" y="95"/>
                    </a:lnTo>
                    <a:lnTo>
                      <a:pt x="101" y="83"/>
                    </a:lnTo>
                    <a:lnTo>
                      <a:pt x="104" y="71"/>
                    </a:lnTo>
                    <a:lnTo>
                      <a:pt x="111" y="56"/>
                    </a:lnTo>
                    <a:lnTo>
                      <a:pt x="116" y="66"/>
                    </a:lnTo>
                    <a:lnTo>
                      <a:pt x="120" y="72"/>
                    </a:lnTo>
                    <a:lnTo>
                      <a:pt x="129" y="78"/>
                    </a:lnTo>
                    <a:lnTo>
                      <a:pt x="134" y="68"/>
                    </a:lnTo>
                    <a:lnTo>
                      <a:pt x="141" y="57"/>
                    </a:lnTo>
                    <a:lnTo>
                      <a:pt x="154" y="47"/>
                    </a:lnTo>
                    <a:lnTo>
                      <a:pt x="165" y="35"/>
                    </a:lnTo>
                    <a:lnTo>
                      <a:pt x="179" y="26"/>
                    </a:lnTo>
                    <a:lnTo>
                      <a:pt x="195" y="21"/>
                    </a:lnTo>
                    <a:lnTo>
                      <a:pt x="217" y="17"/>
                    </a:lnTo>
                    <a:lnTo>
                      <a:pt x="249" y="8"/>
                    </a:lnTo>
                    <a:lnTo>
                      <a:pt x="270" y="3"/>
                    </a:lnTo>
                    <a:lnTo>
                      <a:pt x="288" y="2"/>
                    </a:lnTo>
                    <a:lnTo>
                      <a:pt x="302" y="0"/>
                    </a:lnTo>
                    <a:lnTo>
                      <a:pt x="323" y="0"/>
                    </a:lnTo>
                    <a:lnTo>
                      <a:pt x="362" y="2"/>
                    </a:lnTo>
                    <a:lnTo>
                      <a:pt x="348" y="8"/>
                    </a:lnTo>
                    <a:lnTo>
                      <a:pt x="339" y="17"/>
                    </a:lnTo>
                    <a:lnTo>
                      <a:pt x="337" y="21"/>
                    </a:lnTo>
                    <a:lnTo>
                      <a:pt x="350" y="26"/>
                    </a:lnTo>
                    <a:lnTo>
                      <a:pt x="367" y="27"/>
                    </a:lnTo>
                    <a:lnTo>
                      <a:pt x="384" y="26"/>
                    </a:lnTo>
                    <a:lnTo>
                      <a:pt x="399" y="24"/>
                    </a:lnTo>
                    <a:lnTo>
                      <a:pt x="411" y="21"/>
                    </a:lnTo>
                    <a:lnTo>
                      <a:pt x="435" y="23"/>
                    </a:lnTo>
                    <a:lnTo>
                      <a:pt x="420" y="29"/>
                    </a:lnTo>
                    <a:lnTo>
                      <a:pt x="407" y="39"/>
                    </a:lnTo>
                    <a:lnTo>
                      <a:pt x="420" y="41"/>
                    </a:lnTo>
                    <a:lnTo>
                      <a:pt x="431" y="39"/>
                    </a:lnTo>
                    <a:lnTo>
                      <a:pt x="447" y="41"/>
                    </a:lnTo>
                    <a:lnTo>
                      <a:pt x="474" y="50"/>
                    </a:lnTo>
                    <a:lnTo>
                      <a:pt x="459" y="53"/>
                    </a:lnTo>
                    <a:lnTo>
                      <a:pt x="445" y="56"/>
                    </a:lnTo>
                    <a:lnTo>
                      <a:pt x="436" y="60"/>
                    </a:lnTo>
                    <a:lnTo>
                      <a:pt x="454" y="63"/>
                    </a:lnTo>
                    <a:lnTo>
                      <a:pt x="468" y="66"/>
                    </a:lnTo>
                    <a:lnTo>
                      <a:pt x="478" y="68"/>
                    </a:lnTo>
                    <a:lnTo>
                      <a:pt x="492" y="74"/>
                    </a:lnTo>
                    <a:lnTo>
                      <a:pt x="508" y="83"/>
                    </a:lnTo>
                    <a:lnTo>
                      <a:pt x="533" y="92"/>
                    </a:lnTo>
                    <a:lnTo>
                      <a:pt x="518" y="96"/>
                    </a:lnTo>
                    <a:lnTo>
                      <a:pt x="507" y="102"/>
                    </a:lnTo>
                    <a:lnTo>
                      <a:pt x="499" y="108"/>
                    </a:lnTo>
                    <a:lnTo>
                      <a:pt x="497" y="116"/>
                    </a:lnTo>
                    <a:lnTo>
                      <a:pt x="508" y="117"/>
                    </a:lnTo>
                    <a:lnTo>
                      <a:pt x="520" y="122"/>
                    </a:lnTo>
                    <a:lnTo>
                      <a:pt x="531" y="128"/>
                    </a:lnTo>
                    <a:lnTo>
                      <a:pt x="547" y="132"/>
                    </a:lnTo>
                    <a:lnTo>
                      <a:pt x="560" y="131"/>
                    </a:lnTo>
                    <a:lnTo>
                      <a:pt x="550" y="143"/>
                    </a:lnTo>
                    <a:lnTo>
                      <a:pt x="547" y="161"/>
                    </a:lnTo>
                    <a:lnTo>
                      <a:pt x="553" y="176"/>
                    </a:lnTo>
                    <a:lnTo>
                      <a:pt x="557" y="189"/>
                    </a:lnTo>
                    <a:lnTo>
                      <a:pt x="560" y="201"/>
                    </a:lnTo>
                    <a:lnTo>
                      <a:pt x="550" y="224"/>
                    </a:lnTo>
                    <a:lnTo>
                      <a:pt x="583" y="222"/>
                    </a:lnTo>
                    <a:lnTo>
                      <a:pt x="554" y="243"/>
                    </a:lnTo>
                    <a:lnTo>
                      <a:pt x="545" y="257"/>
                    </a:lnTo>
                    <a:lnTo>
                      <a:pt x="540" y="281"/>
                    </a:lnTo>
                    <a:lnTo>
                      <a:pt x="554" y="292"/>
                    </a:lnTo>
                    <a:lnTo>
                      <a:pt x="549" y="307"/>
                    </a:lnTo>
                    <a:lnTo>
                      <a:pt x="545" y="326"/>
                    </a:lnTo>
                    <a:lnTo>
                      <a:pt x="554" y="343"/>
                    </a:lnTo>
                    <a:lnTo>
                      <a:pt x="540" y="367"/>
                    </a:lnTo>
                    <a:lnTo>
                      <a:pt x="535" y="382"/>
                    </a:lnTo>
                    <a:lnTo>
                      <a:pt x="528" y="430"/>
                    </a:lnTo>
                    <a:lnTo>
                      <a:pt x="517" y="317"/>
                    </a:lnTo>
                    <a:lnTo>
                      <a:pt x="504" y="275"/>
                    </a:lnTo>
                    <a:lnTo>
                      <a:pt x="478" y="212"/>
                    </a:lnTo>
                    <a:lnTo>
                      <a:pt x="456" y="191"/>
                    </a:lnTo>
                    <a:lnTo>
                      <a:pt x="421" y="180"/>
                    </a:lnTo>
                    <a:lnTo>
                      <a:pt x="384" y="177"/>
                    </a:lnTo>
                    <a:lnTo>
                      <a:pt x="344" y="167"/>
                    </a:lnTo>
                    <a:lnTo>
                      <a:pt x="309" y="158"/>
                    </a:lnTo>
                    <a:lnTo>
                      <a:pt x="269" y="147"/>
                    </a:lnTo>
                    <a:lnTo>
                      <a:pt x="231" y="144"/>
                    </a:lnTo>
                    <a:lnTo>
                      <a:pt x="162" y="141"/>
                    </a:lnTo>
                    <a:lnTo>
                      <a:pt x="154" y="150"/>
                    </a:lnTo>
                    <a:lnTo>
                      <a:pt x="143" y="159"/>
                    </a:lnTo>
                    <a:lnTo>
                      <a:pt x="131" y="167"/>
                    </a:lnTo>
                    <a:lnTo>
                      <a:pt x="123" y="167"/>
                    </a:lnTo>
                    <a:lnTo>
                      <a:pt x="113" y="171"/>
                    </a:lnTo>
                    <a:lnTo>
                      <a:pt x="104" y="191"/>
                    </a:lnTo>
                    <a:lnTo>
                      <a:pt x="93" y="210"/>
                    </a:lnTo>
                    <a:lnTo>
                      <a:pt x="90" y="237"/>
                    </a:lnTo>
                    <a:lnTo>
                      <a:pt x="82" y="256"/>
                    </a:lnTo>
                    <a:lnTo>
                      <a:pt x="73" y="277"/>
                    </a:lnTo>
                    <a:lnTo>
                      <a:pt x="64" y="292"/>
                    </a:lnTo>
                    <a:lnTo>
                      <a:pt x="55" y="308"/>
                    </a:lnTo>
                    <a:lnTo>
                      <a:pt x="50" y="328"/>
                    </a:lnTo>
                    <a:lnTo>
                      <a:pt x="45" y="350"/>
                    </a:lnTo>
                    <a:lnTo>
                      <a:pt x="34" y="433"/>
                    </a:lnTo>
                    <a:close/>
                  </a:path>
                </a:pathLst>
              </a:custGeom>
              <a:solidFill>
                <a:srgbClr val="201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3849" name="Group 13">
                <a:extLst>
                  <a:ext uri="{FF2B5EF4-FFF2-40B4-BE49-F238E27FC236}">
                    <a16:creationId xmlns:a16="http://schemas.microsoft.com/office/drawing/2014/main" id="{F39D795B-8682-432D-9612-08A2422E4F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50" y="531"/>
                <a:ext cx="122" cy="22"/>
                <a:chOff x="4850" y="531"/>
                <a:chExt cx="122" cy="22"/>
              </a:xfrm>
            </p:grpSpPr>
            <p:grpSp>
              <p:nvGrpSpPr>
                <p:cNvPr id="33862" name="Group 14">
                  <a:extLst>
                    <a:ext uri="{FF2B5EF4-FFF2-40B4-BE49-F238E27FC236}">
                      <a16:creationId xmlns:a16="http://schemas.microsoft.com/office/drawing/2014/main" id="{2B50DA7C-247D-470D-9FA8-92B3517D655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50" y="531"/>
                  <a:ext cx="19" cy="22"/>
                  <a:chOff x="4850" y="531"/>
                  <a:chExt cx="19" cy="22"/>
                </a:xfrm>
              </p:grpSpPr>
              <p:sp>
                <p:nvSpPr>
                  <p:cNvPr id="33866" name="Oval 15">
                    <a:extLst>
                      <a:ext uri="{FF2B5EF4-FFF2-40B4-BE49-F238E27FC236}">
                        <a16:creationId xmlns:a16="http://schemas.microsoft.com/office/drawing/2014/main" id="{6AFA4A51-E46D-48AA-81B0-EC7F896BB75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50" y="531"/>
                    <a:ext cx="19" cy="22"/>
                  </a:xfrm>
                  <a:prstGeom prst="ellipse">
                    <a:avLst/>
                  </a:prstGeom>
                  <a:solidFill>
                    <a:srgbClr val="4040FF"/>
                  </a:solidFill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33867" name="Oval 16">
                    <a:extLst>
                      <a:ext uri="{FF2B5EF4-FFF2-40B4-BE49-F238E27FC236}">
                        <a16:creationId xmlns:a16="http://schemas.microsoft.com/office/drawing/2014/main" id="{7166E77C-4BE2-4CB4-83F9-63AC5825B8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55" y="534"/>
                    <a:ext cx="9" cy="11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ahoma" panose="020B0604030504040204" pitchFamily="34" charset="0"/>
                    </a:endParaRPr>
                  </a:p>
                </p:txBody>
              </p:sp>
            </p:grpSp>
            <p:grpSp>
              <p:nvGrpSpPr>
                <p:cNvPr id="33863" name="Group 17">
                  <a:extLst>
                    <a:ext uri="{FF2B5EF4-FFF2-40B4-BE49-F238E27FC236}">
                      <a16:creationId xmlns:a16="http://schemas.microsoft.com/office/drawing/2014/main" id="{74FCCB84-2266-4694-A8C2-710F941F37B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52" y="531"/>
                  <a:ext cx="20" cy="22"/>
                  <a:chOff x="4952" y="531"/>
                  <a:chExt cx="20" cy="22"/>
                </a:xfrm>
              </p:grpSpPr>
              <p:sp>
                <p:nvSpPr>
                  <p:cNvPr id="33864" name="Oval 18">
                    <a:extLst>
                      <a:ext uri="{FF2B5EF4-FFF2-40B4-BE49-F238E27FC236}">
                        <a16:creationId xmlns:a16="http://schemas.microsoft.com/office/drawing/2014/main" id="{476F69D3-0493-4103-BB30-C0CE0F877A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52" y="531"/>
                    <a:ext cx="20" cy="22"/>
                  </a:xfrm>
                  <a:prstGeom prst="ellipse">
                    <a:avLst/>
                  </a:prstGeom>
                  <a:solidFill>
                    <a:srgbClr val="4040FF"/>
                  </a:solidFill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33865" name="Oval 19">
                    <a:extLst>
                      <a:ext uri="{FF2B5EF4-FFF2-40B4-BE49-F238E27FC236}">
                        <a16:creationId xmlns:a16="http://schemas.microsoft.com/office/drawing/2014/main" id="{A0836654-3299-4C83-9593-010DC2323E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57" y="534"/>
                    <a:ext cx="9" cy="13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ahoma" panose="020B0604030504040204" pitchFamily="34" charset="0"/>
                    </a:endParaRPr>
                  </a:p>
                </p:txBody>
              </p:sp>
            </p:grpSp>
          </p:grpSp>
          <p:sp>
            <p:nvSpPr>
              <p:cNvPr id="33850" name="Arc 20">
                <a:extLst>
                  <a:ext uri="{FF2B5EF4-FFF2-40B4-BE49-F238E27FC236}">
                    <a16:creationId xmlns:a16="http://schemas.microsoft.com/office/drawing/2014/main" id="{339C699E-F2AA-410B-AC48-DA5B89CD4C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85" y="604"/>
                <a:ext cx="56" cy="31"/>
              </a:xfrm>
              <a:custGeom>
                <a:avLst/>
                <a:gdLst>
                  <a:gd name="T0" fmla="*/ 0 w 43200"/>
                  <a:gd name="T1" fmla="*/ 0 h 21600"/>
                  <a:gd name="T2" fmla="*/ 0 w 43200"/>
                  <a:gd name="T3" fmla="*/ 0 h 21600"/>
                  <a:gd name="T4" fmla="*/ 0 w 432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1600"/>
                  <a:gd name="T11" fmla="*/ 43200 w 432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1600" fill="none" extrusionOk="0">
                    <a:moveTo>
                      <a:pt x="43200" y="0"/>
                    </a:moveTo>
                    <a:cubicBezTo>
                      <a:pt x="43200" y="11929"/>
                      <a:pt x="33529" y="21600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</a:path>
                  <a:path w="43200" h="21600" stroke="0" extrusionOk="0">
                    <a:moveTo>
                      <a:pt x="43200" y="0"/>
                    </a:moveTo>
                    <a:cubicBezTo>
                      <a:pt x="43200" y="11929"/>
                      <a:pt x="33529" y="21600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43200" y="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3851" name="Group 21">
                <a:extLst>
                  <a:ext uri="{FF2B5EF4-FFF2-40B4-BE49-F238E27FC236}">
                    <a16:creationId xmlns:a16="http://schemas.microsoft.com/office/drawing/2014/main" id="{ADA0EC6D-104D-4850-9BB9-BAAA1AE5F6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27" y="459"/>
                <a:ext cx="177" cy="53"/>
                <a:chOff x="4827" y="459"/>
                <a:chExt cx="177" cy="53"/>
              </a:xfrm>
            </p:grpSpPr>
            <p:sp>
              <p:nvSpPr>
                <p:cNvPr id="33860" name="Freeform 22">
                  <a:extLst>
                    <a:ext uri="{FF2B5EF4-FFF2-40B4-BE49-F238E27FC236}">
                      <a16:creationId xmlns:a16="http://schemas.microsoft.com/office/drawing/2014/main" id="{DE40E9ED-32D2-46F8-BB45-790C3488DF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27" y="459"/>
                  <a:ext cx="54" cy="49"/>
                </a:xfrm>
                <a:custGeom>
                  <a:avLst/>
                  <a:gdLst>
                    <a:gd name="T0" fmla="*/ 1 w 108"/>
                    <a:gd name="T1" fmla="*/ 0 h 99"/>
                    <a:gd name="T2" fmla="*/ 1 w 108"/>
                    <a:gd name="T3" fmla="*/ 0 h 99"/>
                    <a:gd name="T4" fmla="*/ 1 w 108"/>
                    <a:gd name="T5" fmla="*/ 0 h 99"/>
                    <a:gd name="T6" fmla="*/ 1 w 108"/>
                    <a:gd name="T7" fmla="*/ 0 h 99"/>
                    <a:gd name="T8" fmla="*/ 1 w 108"/>
                    <a:gd name="T9" fmla="*/ 0 h 99"/>
                    <a:gd name="T10" fmla="*/ 1 w 108"/>
                    <a:gd name="T11" fmla="*/ 0 h 99"/>
                    <a:gd name="T12" fmla="*/ 1 w 108"/>
                    <a:gd name="T13" fmla="*/ 0 h 99"/>
                    <a:gd name="T14" fmla="*/ 1 w 108"/>
                    <a:gd name="T15" fmla="*/ 0 h 99"/>
                    <a:gd name="T16" fmla="*/ 1 w 108"/>
                    <a:gd name="T17" fmla="*/ 0 h 99"/>
                    <a:gd name="T18" fmla="*/ 1 w 108"/>
                    <a:gd name="T19" fmla="*/ 0 h 99"/>
                    <a:gd name="T20" fmla="*/ 0 w 108"/>
                    <a:gd name="T21" fmla="*/ 0 h 99"/>
                    <a:gd name="T22" fmla="*/ 1 w 108"/>
                    <a:gd name="T23" fmla="*/ 0 h 99"/>
                    <a:gd name="T24" fmla="*/ 1 w 108"/>
                    <a:gd name="T25" fmla="*/ 0 h 99"/>
                    <a:gd name="T26" fmla="*/ 1 w 108"/>
                    <a:gd name="T27" fmla="*/ 0 h 99"/>
                    <a:gd name="T28" fmla="*/ 1 w 108"/>
                    <a:gd name="T29" fmla="*/ 0 h 99"/>
                    <a:gd name="T30" fmla="*/ 1 w 108"/>
                    <a:gd name="T31" fmla="*/ 0 h 99"/>
                    <a:gd name="T32" fmla="*/ 1 w 108"/>
                    <a:gd name="T33" fmla="*/ 0 h 99"/>
                    <a:gd name="T34" fmla="*/ 1 w 108"/>
                    <a:gd name="T35" fmla="*/ 0 h 99"/>
                    <a:gd name="T36" fmla="*/ 1 w 108"/>
                    <a:gd name="T37" fmla="*/ 0 h 99"/>
                    <a:gd name="T38" fmla="*/ 1 w 108"/>
                    <a:gd name="T39" fmla="*/ 0 h 99"/>
                    <a:gd name="T40" fmla="*/ 1 w 108"/>
                    <a:gd name="T41" fmla="*/ 0 h 99"/>
                    <a:gd name="T42" fmla="*/ 1 w 108"/>
                    <a:gd name="T43" fmla="*/ 0 h 99"/>
                    <a:gd name="T44" fmla="*/ 1 w 108"/>
                    <a:gd name="T45" fmla="*/ 0 h 99"/>
                    <a:gd name="T46" fmla="*/ 1 w 108"/>
                    <a:gd name="T47" fmla="*/ 0 h 99"/>
                    <a:gd name="T48" fmla="*/ 1 w 108"/>
                    <a:gd name="T49" fmla="*/ 0 h 99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108"/>
                    <a:gd name="T76" fmla="*/ 0 h 99"/>
                    <a:gd name="T77" fmla="*/ 108 w 108"/>
                    <a:gd name="T78" fmla="*/ 99 h 99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108" h="99">
                      <a:moveTo>
                        <a:pt x="93" y="7"/>
                      </a:moveTo>
                      <a:lnTo>
                        <a:pt x="82" y="12"/>
                      </a:lnTo>
                      <a:lnTo>
                        <a:pt x="71" y="18"/>
                      </a:lnTo>
                      <a:lnTo>
                        <a:pt x="63" y="24"/>
                      </a:lnTo>
                      <a:lnTo>
                        <a:pt x="56" y="30"/>
                      </a:lnTo>
                      <a:lnTo>
                        <a:pt x="49" y="42"/>
                      </a:lnTo>
                      <a:lnTo>
                        <a:pt x="42" y="55"/>
                      </a:lnTo>
                      <a:lnTo>
                        <a:pt x="36" y="66"/>
                      </a:lnTo>
                      <a:lnTo>
                        <a:pt x="31" y="73"/>
                      </a:lnTo>
                      <a:lnTo>
                        <a:pt x="24" y="82"/>
                      </a:lnTo>
                      <a:lnTo>
                        <a:pt x="0" y="99"/>
                      </a:lnTo>
                      <a:lnTo>
                        <a:pt x="16" y="94"/>
                      </a:lnTo>
                      <a:lnTo>
                        <a:pt x="25" y="91"/>
                      </a:lnTo>
                      <a:lnTo>
                        <a:pt x="35" y="85"/>
                      </a:lnTo>
                      <a:lnTo>
                        <a:pt x="46" y="75"/>
                      </a:lnTo>
                      <a:lnTo>
                        <a:pt x="52" y="67"/>
                      </a:lnTo>
                      <a:lnTo>
                        <a:pt x="60" y="55"/>
                      </a:lnTo>
                      <a:lnTo>
                        <a:pt x="64" y="45"/>
                      </a:lnTo>
                      <a:lnTo>
                        <a:pt x="70" y="36"/>
                      </a:lnTo>
                      <a:lnTo>
                        <a:pt x="76" y="25"/>
                      </a:lnTo>
                      <a:lnTo>
                        <a:pt x="83" y="21"/>
                      </a:lnTo>
                      <a:lnTo>
                        <a:pt x="95" y="15"/>
                      </a:lnTo>
                      <a:lnTo>
                        <a:pt x="103" y="10"/>
                      </a:lnTo>
                      <a:lnTo>
                        <a:pt x="108" y="0"/>
                      </a:lnTo>
                      <a:lnTo>
                        <a:pt x="93" y="7"/>
                      </a:lnTo>
                      <a:close/>
                    </a:path>
                  </a:pathLst>
                </a:custGeom>
                <a:solidFill>
                  <a:srgbClr val="201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61" name="Freeform 23">
                  <a:extLst>
                    <a:ext uri="{FF2B5EF4-FFF2-40B4-BE49-F238E27FC236}">
                      <a16:creationId xmlns:a16="http://schemas.microsoft.com/office/drawing/2014/main" id="{377DFB8A-E1D4-433E-8CBC-ED2483A65A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50" y="463"/>
                  <a:ext cx="54" cy="49"/>
                </a:xfrm>
                <a:custGeom>
                  <a:avLst/>
                  <a:gdLst>
                    <a:gd name="T0" fmla="*/ 1 w 108"/>
                    <a:gd name="T1" fmla="*/ 0 h 99"/>
                    <a:gd name="T2" fmla="*/ 1 w 108"/>
                    <a:gd name="T3" fmla="*/ 0 h 99"/>
                    <a:gd name="T4" fmla="*/ 1 w 108"/>
                    <a:gd name="T5" fmla="*/ 0 h 99"/>
                    <a:gd name="T6" fmla="*/ 1 w 108"/>
                    <a:gd name="T7" fmla="*/ 0 h 99"/>
                    <a:gd name="T8" fmla="*/ 1 w 108"/>
                    <a:gd name="T9" fmla="*/ 0 h 99"/>
                    <a:gd name="T10" fmla="*/ 1 w 108"/>
                    <a:gd name="T11" fmla="*/ 0 h 99"/>
                    <a:gd name="T12" fmla="*/ 1 w 108"/>
                    <a:gd name="T13" fmla="*/ 0 h 99"/>
                    <a:gd name="T14" fmla="*/ 1 w 108"/>
                    <a:gd name="T15" fmla="*/ 0 h 99"/>
                    <a:gd name="T16" fmla="*/ 1 w 108"/>
                    <a:gd name="T17" fmla="*/ 0 h 99"/>
                    <a:gd name="T18" fmla="*/ 1 w 108"/>
                    <a:gd name="T19" fmla="*/ 0 h 99"/>
                    <a:gd name="T20" fmla="*/ 1 w 108"/>
                    <a:gd name="T21" fmla="*/ 0 h 99"/>
                    <a:gd name="T22" fmla="*/ 1 w 108"/>
                    <a:gd name="T23" fmla="*/ 0 h 99"/>
                    <a:gd name="T24" fmla="*/ 1 w 108"/>
                    <a:gd name="T25" fmla="*/ 0 h 99"/>
                    <a:gd name="T26" fmla="*/ 1 w 108"/>
                    <a:gd name="T27" fmla="*/ 0 h 99"/>
                    <a:gd name="T28" fmla="*/ 1 w 108"/>
                    <a:gd name="T29" fmla="*/ 0 h 99"/>
                    <a:gd name="T30" fmla="*/ 1 w 108"/>
                    <a:gd name="T31" fmla="*/ 0 h 99"/>
                    <a:gd name="T32" fmla="*/ 1 w 108"/>
                    <a:gd name="T33" fmla="*/ 0 h 99"/>
                    <a:gd name="T34" fmla="*/ 1 w 108"/>
                    <a:gd name="T35" fmla="*/ 0 h 99"/>
                    <a:gd name="T36" fmla="*/ 1 w 108"/>
                    <a:gd name="T37" fmla="*/ 0 h 99"/>
                    <a:gd name="T38" fmla="*/ 1 w 108"/>
                    <a:gd name="T39" fmla="*/ 0 h 99"/>
                    <a:gd name="T40" fmla="*/ 1 w 108"/>
                    <a:gd name="T41" fmla="*/ 0 h 99"/>
                    <a:gd name="T42" fmla="*/ 1 w 108"/>
                    <a:gd name="T43" fmla="*/ 0 h 99"/>
                    <a:gd name="T44" fmla="*/ 1 w 108"/>
                    <a:gd name="T45" fmla="*/ 0 h 99"/>
                    <a:gd name="T46" fmla="*/ 0 w 108"/>
                    <a:gd name="T47" fmla="*/ 0 h 99"/>
                    <a:gd name="T48" fmla="*/ 1 w 108"/>
                    <a:gd name="T49" fmla="*/ 0 h 99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108"/>
                    <a:gd name="T76" fmla="*/ 0 h 99"/>
                    <a:gd name="T77" fmla="*/ 108 w 108"/>
                    <a:gd name="T78" fmla="*/ 99 h 99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108" h="99">
                      <a:moveTo>
                        <a:pt x="15" y="8"/>
                      </a:moveTo>
                      <a:lnTo>
                        <a:pt x="27" y="12"/>
                      </a:lnTo>
                      <a:lnTo>
                        <a:pt x="37" y="17"/>
                      </a:lnTo>
                      <a:lnTo>
                        <a:pt x="45" y="23"/>
                      </a:lnTo>
                      <a:lnTo>
                        <a:pt x="52" y="30"/>
                      </a:lnTo>
                      <a:lnTo>
                        <a:pt x="59" y="42"/>
                      </a:lnTo>
                      <a:lnTo>
                        <a:pt x="66" y="56"/>
                      </a:lnTo>
                      <a:lnTo>
                        <a:pt x="72" y="66"/>
                      </a:lnTo>
                      <a:lnTo>
                        <a:pt x="77" y="74"/>
                      </a:lnTo>
                      <a:lnTo>
                        <a:pt x="84" y="83"/>
                      </a:lnTo>
                      <a:lnTo>
                        <a:pt x="108" y="99"/>
                      </a:lnTo>
                      <a:lnTo>
                        <a:pt x="92" y="95"/>
                      </a:lnTo>
                      <a:lnTo>
                        <a:pt x="83" y="90"/>
                      </a:lnTo>
                      <a:lnTo>
                        <a:pt x="73" y="84"/>
                      </a:lnTo>
                      <a:lnTo>
                        <a:pt x="62" y="75"/>
                      </a:lnTo>
                      <a:lnTo>
                        <a:pt x="56" y="68"/>
                      </a:lnTo>
                      <a:lnTo>
                        <a:pt x="48" y="54"/>
                      </a:lnTo>
                      <a:lnTo>
                        <a:pt x="44" y="45"/>
                      </a:lnTo>
                      <a:lnTo>
                        <a:pt x="38" y="36"/>
                      </a:lnTo>
                      <a:lnTo>
                        <a:pt x="31" y="26"/>
                      </a:lnTo>
                      <a:lnTo>
                        <a:pt x="25" y="21"/>
                      </a:lnTo>
                      <a:lnTo>
                        <a:pt x="13" y="15"/>
                      </a:lnTo>
                      <a:lnTo>
                        <a:pt x="5" y="11"/>
                      </a:lnTo>
                      <a:lnTo>
                        <a:pt x="0" y="0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201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3852" name="Group 24">
                <a:extLst>
                  <a:ext uri="{FF2B5EF4-FFF2-40B4-BE49-F238E27FC236}">
                    <a16:creationId xmlns:a16="http://schemas.microsoft.com/office/drawing/2014/main" id="{4C48A7FB-1AFF-44EA-A12F-CE517026C5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89" y="504"/>
                <a:ext cx="257" cy="78"/>
                <a:chOff x="4789" y="504"/>
                <a:chExt cx="257" cy="78"/>
              </a:xfrm>
            </p:grpSpPr>
            <p:grpSp>
              <p:nvGrpSpPr>
                <p:cNvPr id="33854" name="Group 25">
                  <a:extLst>
                    <a:ext uri="{FF2B5EF4-FFF2-40B4-BE49-F238E27FC236}">
                      <a16:creationId xmlns:a16="http://schemas.microsoft.com/office/drawing/2014/main" id="{ADD5D2C0-7096-4B1B-8228-D78CAD229D3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24" y="504"/>
                  <a:ext cx="178" cy="78"/>
                  <a:chOff x="4824" y="504"/>
                  <a:chExt cx="178" cy="78"/>
                </a:xfrm>
              </p:grpSpPr>
              <p:sp>
                <p:nvSpPr>
                  <p:cNvPr id="33858" name="Oval 26">
                    <a:extLst>
                      <a:ext uri="{FF2B5EF4-FFF2-40B4-BE49-F238E27FC236}">
                        <a16:creationId xmlns:a16="http://schemas.microsoft.com/office/drawing/2014/main" id="{467D7A5F-A879-4397-850B-50C64F043F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31" y="504"/>
                    <a:ext cx="71" cy="78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33859" name="Oval 27">
                    <a:extLst>
                      <a:ext uri="{FF2B5EF4-FFF2-40B4-BE49-F238E27FC236}">
                        <a16:creationId xmlns:a16="http://schemas.microsoft.com/office/drawing/2014/main" id="{6EC3E923-98F5-42A3-B7C3-C7AF1F71E5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24" y="504"/>
                    <a:ext cx="72" cy="78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ahoma" panose="020B0604030504040204" pitchFamily="34" charset="0"/>
                    </a:endParaRPr>
                  </a:p>
                </p:txBody>
              </p:sp>
            </p:grpSp>
            <p:sp>
              <p:nvSpPr>
                <p:cNvPr id="33855" name="Arc 28">
                  <a:extLst>
                    <a:ext uri="{FF2B5EF4-FFF2-40B4-BE49-F238E27FC236}">
                      <a16:creationId xmlns:a16="http://schemas.microsoft.com/office/drawing/2014/main" id="{3C9EAC8E-0C0F-472D-8214-7349B6C608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97" y="526"/>
                  <a:ext cx="32" cy="22"/>
                </a:xfrm>
                <a:custGeom>
                  <a:avLst/>
                  <a:gdLst>
                    <a:gd name="T0" fmla="*/ 0 w 33534"/>
                    <a:gd name="T1" fmla="*/ 0 h 21600"/>
                    <a:gd name="T2" fmla="*/ 0 w 33534"/>
                    <a:gd name="T3" fmla="*/ 0 h 21600"/>
                    <a:gd name="T4" fmla="*/ 0 w 33534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3534"/>
                    <a:gd name="T10" fmla="*/ 0 h 21600"/>
                    <a:gd name="T11" fmla="*/ 33534 w 33534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3534" h="21600" fill="none" extrusionOk="0">
                      <a:moveTo>
                        <a:pt x="0" y="10221"/>
                      </a:moveTo>
                      <a:cubicBezTo>
                        <a:pt x="3938" y="3866"/>
                        <a:pt x="10883" y="-1"/>
                        <a:pt x="18360" y="0"/>
                      </a:cubicBezTo>
                      <a:cubicBezTo>
                        <a:pt x="24040" y="0"/>
                        <a:pt x="29491" y="2237"/>
                        <a:pt x="33534" y="6227"/>
                      </a:cubicBezTo>
                    </a:path>
                    <a:path w="33534" h="21600" stroke="0" extrusionOk="0">
                      <a:moveTo>
                        <a:pt x="0" y="10221"/>
                      </a:moveTo>
                      <a:cubicBezTo>
                        <a:pt x="3938" y="3866"/>
                        <a:pt x="10883" y="-1"/>
                        <a:pt x="18360" y="0"/>
                      </a:cubicBezTo>
                      <a:cubicBezTo>
                        <a:pt x="24040" y="0"/>
                        <a:pt x="29491" y="2237"/>
                        <a:pt x="33534" y="6227"/>
                      </a:cubicBezTo>
                      <a:lnTo>
                        <a:pt x="18360" y="21600"/>
                      </a:lnTo>
                      <a:lnTo>
                        <a:pt x="0" y="10221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56" name="Line 29">
                  <a:extLst>
                    <a:ext uri="{FF2B5EF4-FFF2-40B4-BE49-F238E27FC236}">
                      <a16:creationId xmlns:a16="http://schemas.microsoft.com/office/drawing/2014/main" id="{31FF276B-5B69-4F66-850B-86AFF89AF8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89" y="523"/>
                  <a:ext cx="41" cy="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57" name="Line 30">
                  <a:extLst>
                    <a:ext uri="{FF2B5EF4-FFF2-40B4-BE49-F238E27FC236}">
                      <a16:creationId xmlns:a16="http://schemas.microsoft.com/office/drawing/2014/main" id="{BE394FC3-6CB5-49A2-9032-1FB0A022A2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02" y="513"/>
                  <a:ext cx="44" cy="1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3853" name="Freeform 31">
                <a:extLst>
                  <a:ext uri="{FF2B5EF4-FFF2-40B4-BE49-F238E27FC236}">
                    <a16:creationId xmlns:a16="http://schemas.microsoft.com/office/drawing/2014/main" id="{6CF8995B-81C4-4339-8E22-992F27C143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8" y="704"/>
                <a:ext cx="14" cy="2"/>
              </a:xfrm>
              <a:custGeom>
                <a:avLst/>
                <a:gdLst>
                  <a:gd name="T0" fmla="*/ 0 w 29"/>
                  <a:gd name="T1" fmla="*/ 0 h 5"/>
                  <a:gd name="T2" fmla="*/ 0 w 29"/>
                  <a:gd name="T3" fmla="*/ 0 h 5"/>
                  <a:gd name="T4" fmla="*/ 0 w 29"/>
                  <a:gd name="T5" fmla="*/ 0 h 5"/>
                  <a:gd name="T6" fmla="*/ 0 w 29"/>
                  <a:gd name="T7" fmla="*/ 0 h 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"/>
                  <a:gd name="T13" fmla="*/ 0 h 5"/>
                  <a:gd name="T14" fmla="*/ 29 w 29"/>
                  <a:gd name="T15" fmla="*/ 5 h 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" h="5">
                    <a:moveTo>
                      <a:pt x="0" y="3"/>
                    </a:moveTo>
                    <a:lnTo>
                      <a:pt x="11" y="0"/>
                    </a:lnTo>
                    <a:lnTo>
                      <a:pt x="21" y="3"/>
                    </a:lnTo>
                    <a:lnTo>
                      <a:pt x="29" y="5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799" name="Freeform 32">
              <a:extLst>
                <a:ext uri="{FF2B5EF4-FFF2-40B4-BE49-F238E27FC236}">
                  <a16:creationId xmlns:a16="http://schemas.microsoft.com/office/drawing/2014/main" id="{47ADAC92-C14B-4A4F-9F49-F7C04B9F1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746"/>
              <a:ext cx="434" cy="755"/>
            </a:xfrm>
            <a:custGeom>
              <a:avLst/>
              <a:gdLst>
                <a:gd name="T0" fmla="*/ 1 w 867"/>
                <a:gd name="T1" fmla="*/ 1 h 1510"/>
                <a:gd name="T2" fmla="*/ 1 w 867"/>
                <a:gd name="T3" fmla="*/ 1 h 1510"/>
                <a:gd name="T4" fmla="*/ 1 w 867"/>
                <a:gd name="T5" fmla="*/ 1 h 1510"/>
                <a:gd name="T6" fmla="*/ 1 w 867"/>
                <a:gd name="T7" fmla="*/ 0 h 1510"/>
                <a:gd name="T8" fmla="*/ 1 w 867"/>
                <a:gd name="T9" fmla="*/ 1 h 1510"/>
                <a:gd name="T10" fmla="*/ 1 w 867"/>
                <a:gd name="T11" fmla="*/ 1 h 1510"/>
                <a:gd name="T12" fmla="*/ 1 w 867"/>
                <a:gd name="T13" fmla="*/ 1 h 1510"/>
                <a:gd name="T14" fmla="*/ 1 w 867"/>
                <a:gd name="T15" fmla="*/ 1 h 1510"/>
                <a:gd name="T16" fmla="*/ 0 w 867"/>
                <a:gd name="T17" fmla="*/ 1 h 1510"/>
                <a:gd name="T18" fmla="*/ 1 w 867"/>
                <a:gd name="T19" fmla="*/ 2 h 1510"/>
                <a:gd name="T20" fmla="*/ 1 w 867"/>
                <a:gd name="T21" fmla="*/ 2 h 1510"/>
                <a:gd name="T22" fmla="*/ 1 w 867"/>
                <a:gd name="T23" fmla="*/ 2 h 1510"/>
                <a:gd name="T24" fmla="*/ 1 w 867"/>
                <a:gd name="T25" fmla="*/ 2 h 1510"/>
                <a:gd name="T26" fmla="*/ 1 w 867"/>
                <a:gd name="T27" fmla="*/ 2 h 1510"/>
                <a:gd name="T28" fmla="*/ 1 w 867"/>
                <a:gd name="T29" fmla="*/ 2 h 1510"/>
                <a:gd name="T30" fmla="*/ 1 w 867"/>
                <a:gd name="T31" fmla="*/ 2 h 1510"/>
                <a:gd name="T32" fmla="*/ 1 w 867"/>
                <a:gd name="T33" fmla="*/ 2 h 1510"/>
                <a:gd name="T34" fmla="*/ 1 w 867"/>
                <a:gd name="T35" fmla="*/ 2 h 1510"/>
                <a:gd name="T36" fmla="*/ 1 w 867"/>
                <a:gd name="T37" fmla="*/ 2 h 1510"/>
                <a:gd name="T38" fmla="*/ 1 w 867"/>
                <a:gd name="T39" fmla="*/ 1 h 1510"/>
                <a:gd name="T40" fmla="*/ 1 w 867"/>
                <a:gd name="T41" fmla="*/ 1 h 1510"/>
                <a:gd name="T42" fmla="*/ 1 w 867"/>
                <a:gd name="T43" fmla="*/ 1 h 1510"/>
                <a:gd name="T44" fmla="*/ 1 w 867"/>
                <a:gd name="T45" fmla="*/ 1 h 1510"/>
                <a:gd name="T46" fmla="*/ 1 w 867"/>
                <a:gd name="T47" fmla="*/ 1 h 1510"/>
                <a:gd name="T48" fmla="*/ 1 w 867"/>
                <a:gd name="T49" fmla="*/ 1 h 1510"/>
                <a:gd name="T50" fmla="*/ 1 w 867"/>
                <a:gd name="T51" fmla="*/ 1 h 1510"/>
                <a:gd name="T52" fmla="*/ 1 w 867"/>
                <a:gd name="T53" fmla="*/ 1 h 1510"/>
                <a:gd name="T54" fmla="*/ 1 w 867"/>
                <a:gd name="T55" fmla="*/ 1 h 1510"/>
                <a:gd name="T56" fmla="*/ 1 w 867"/>
                <a:gd name="T57" fmla="*/ 1 h 1510"/>
                <a:gd name="T58" fmla="*/ 1 w 867"/>
                <a:gd name="T59" fmla="*/ 1 h 151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867"/>
                <a:gd name="T91" fmla="*/ 0 h 1510"/>
                <a:gd name="T92" fmla="*/ 867 w 867"/>
                <a:gd name="T93" fmla="*/ 1510 h 151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867" h="1510">
                  <a:moveTo>
                    <a:pt x="257" y="23"/>
                  </a:moveTo>
                  <a:lnTo>
                    <a:pt x="174" y="14"/>
                  </a:lnTo>
                  <a:lnTo>
                    <a:pt x="116" y="5"/>
                  </a:lnTo>
                  <a:lnTo>
                    <a:pt x="83" y="0"/>
                  </a:lnTo>
                  <a:lnTo>
                    <a:pt x="83" y="235"/>
                  </a:lnTo>
                  <a:lnTo>
                    <a:pt x="70" y="442"/>
                  </a:lnTo>
                  <a:lnTo>
                    <a:pt x="62" y="492"/>
                  </a:lnTo>
                  <a:lnTo>
                    <a:pt x="37" y="794"/>
                  </a:lnTo>
                  <a:lnTo>
                    <a:pt x="0" y="972"/>
                  </a:lnTo>
                  <a:lnTo>
                    <a:pt x="29" y="1270"/>
                  </a:lnTo>
                  <a:lnTo>
                    <a:pt x="54" y="1429"/>
                  </a:lnTo>
                  <a:lnTo>
                    <a:pt x="83" y="1470"/>
                  </a:lnTo>
                  <a:lnTo>
                    <a:pt x="141" y="1474"/>
                  </a:lnTo>
                  <a:lnTo>
                    <a:pt x="303" y="1492"/>
                  </a:lnTo>
                  <a:lnTo>
                    <a:pt x="424" y="1510"/>
                  </a:lnTo>
                  <a:lnTo>
                    <a:pt x="601" y="1492"/>
                  </a:lnTo>
                  <a:lnTo>
                    <a:pt x="776" y="1465"/>
                  </a:lnTo>
                  <a:lnTo>
                    <a:pt x="842" y="1447"/>
                  </a:lnTo>
                  <a:lnTo>
                    <a:pt x="838" y="1270"/>
                  </a:lnTo>
                  <a:lnTo>
                    <a:pt x="867" y="945"/>
                  </a:lnTo>
                  <a:lnTo>
                    <a:pt x="859" y="703"/>
                  </a:lnTo>
                  <a:lnTo>
                    <a:pt x="826" y="451"/>
                  </a:lnTo>
                  <a:lnTo>
                    <a:pt x="767" y="221"/>
                  </a:lnTo>
                  <a:lnTo>
                    <a:pt x="747" y="50"/>
                  </a:lnTo>
                  <a:lnTo>
                    <a:pt x="738" y="5"/>
                  </a:lnTo>
                  <a:lnTo>
                    <a:pt x="597" y="45"/>
                  </a:lnTo>
                  <a:lnTo>
                    <a:pt x="518" y="81"/>
                  </a:lnTo>
                  <a:lnTo>
                    <a:pt x="399" y="91"/>
                  </a:lnTo>
                  <a:lnTo>
                    <a:pt x="307" y="72"/>
                  </a:lnTo>
                  <a:lnTo>
                    <a:pt x="257" y="23"/>
                  </a:lnTo>
                  <a:close/>
                </a:path>
              </a:pathLst>
            </a:custGeom>
            <a:solidFill>
              <a:srgbClr val="E0E0E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800" name="Group 33">
              <a:extLst>
                <a:ext uri="{FF2B5EF4-FFF2-40B4-BE49-F238E27FC236}">
                  <a16:creationId xmlns:a16="http://schemas.microsoft.com/office/drawing/2014/main" id="{80D28172-2289-4CDB-9165-525AD55303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0" y="1473"/>
              <a:ext cx="839" cy="1213"/>
              <a:chOff x="4540" y="1473"/>
              <a:chExt cx="839" cy="1213"/>
            </a:xfrm>
          </p:grpSpPr>
          <p:grpSp>
            <p:nvGrpSpPr>
              <p:cNvPr id="33840" name="Group 34">
                <a:extLst>
                  <a:ext uri="{FF2B5EF4-FFF2-40B4-BE49-F238E27FC236}">
                    <a16:creationId xmlns:a16="http://schemas.microsoft.com/office/drawing/2014/main" id="{7B30668C-5604-4900-8519-E8B5963726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40" y="2445"/>
                <a:ext cx="839" cy="241"/>
                <a:chOff x="4540" y="2445"/>
                <a:chExt cx="839" cy="241"/>
              </a:xfrm>
            </p:grpSpPr>
            <p:sp>
              <p:nvSpPr>
                <p:cNvPr id="33842" name="Freeform 35">
                  <a:extLst>
                    <a:ext uri="{FF2B5EF4-FFF2-40B4-BE49-F238E27FC236}">
                      <a16:creationId xmlns:a16="http://schemas.microsoft.com/office/drawing/2014/main" id="{C3A9595A-26C0-49D1-A904-A462B7ADC2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9" y="2487"/>
                  <a:ext cx="300" cy="199"/>
                </a:xfrm>
                <a:custGeom>
                  <a:avLst/>
                  <a:gdLst>
                    <a:gd name="T0" fmla="*/ 0 w 601"/>
                    <a:gd name="T1" fmla="*/ 1 h 398"/>
                    <a:gd name="T2" fmla="*/ 0 w 601"/>
                    <a:gd name="T3" fmla="*/ 1 h 398"/>
                    <a:gd name="T4" fmla="*/ 0 w 601"/>
                    <a:gd name="T5" fmla="*/ 1 h 398"/>
                    <a:gd name="T6" fmla="*/ 0 w 601"/>
                    <a:gd name="T7" fmla="*/ 1 h 398"/>
                    <a:gd name="T8" fmla="*/ 0 w 601"/>
                    <a:gd name="T9" fmla="*/ 1 h 398"/>
                    <a:gd name="T10" fmla="*/ 0 w 601"/>
                    <a:gd name="T11" fmla="*/ 1 h 398"/>
                    <a:gd name="T12" fmla="*/ 0 w 601"/>
                    <a:gd name="T13" fmla="*/ 1 h 398"/>
                    <a:gd name="T14" fmla="*/ 0 w 601"/>
                    <a:gd name="T15" fmla="*/ 1 h 398"/>
                    <a:gd name="T16" fmla="*/ 0 w 601"/>
                    <a:gd name="T17" fmla="*/ 1 h 398"/>
                    <a:gd name="T18" fmla="*/ 0 w 601"/>
                    <a:gd name="T19" fmla="*/ 1 h 398"/>
                    <a:gd name="T20" fmla="*/ 0 w 601"/>
                    <a:gd name="T21" fmla="*/ 1 h 398"/>
                    <a:gd name="T22" fmla="*/ 0 w 601"/>
                    <a:gd name="T23" fmla="*/ 1 h 398"/>
                    <a:gd name="T24" fmla="*/ 0 w 601"/>
                    <a:gd name="T25" fmla="*/ 1 h 398"/>
                    <a:gd name="T26" fmla="*/ 0 w 601"/>
                    <a:gd name="T27" fmla="*/ 1 h 398"/>
                    <a:gd name="T28" fmla="*/ 0 w 601"/>
                    <a:gd name="T29" fmla="*/ 1 h 398"/>
                    <a:gd name="T30" fmla="*/ 0 w 601"/>
                    <a:gd name="T31" fmla="*/ 1 h 398"/>
                    <a:gd name="T32" fmla="*/ 0 w 601"/>
                    <a:gd name="T33" fmla="*/ 1 h 398"/>
                    <a:gd name="T34" fmla="*/ 0 w 601"/>
                    <a:gd name="T35" fmla="*/ 1 h 398"/>
                    <a:gd name="T36" fmla="*/ 0 w 601"/>
                    <a:gd name="T37" fmla="*/ 1 h 398"/>
                    <a:gd name="T38" fmla="*/ 0 w 601"/>
                    <a:gd name="T39" fmla="*/ 1 h 398"/>
                    <a:gd name="T40" fmla="*/ 0 w 601"/>
                    <a:gd name="T41" fmla="*/ 1 h 398"/>
                    <a:gd name="T42" fmla="*/ 0 w 601"/>
                    <a:gd name="T43" fmla="*/ 1 h 398"/>
                    <a:gd name="T44" fmla="*/ 0 w 601"/>
                    <a:gd name="T45" fmla="*/ 1 h 398"/>
                    <a:gd name="T46" fmla="*/ 0 w 601"/>
                    <a:gd name="T47" fmla="*/ 1 h 398"/>
                    <a:gd name="T48" fmla="*/ 0 w 601"/>
                    <a:gd name="T49" fmla="*/ 1 h 398"/>
                    <a:gd name="T50" fmla="*/ 0 w 601"/>
                    <a:gd name="T51" fmla="*/ 0 h 398"/>
                    <a:gd name="T52" fmla="*/ 0 w 601"/>
                    <a:gd name="T53" fmla="*/ 1 h 398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w 601"/>
                    <a:gd name="T82" fmla="*/ 0 h 398"/>
                    <a:gd name="T83" fmla="*/ 601 w 601"/>
                    <a:gd name="T84" fmla="*/ 398 h 398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T81" t="T82" r="T83" b="T84"/>
                  <a:pathLst>
                    <a:path w="601" h="398">
                      <a:moveTo>
                        <a:pt x="2" y="50"/>
                      </a:moveTo>
                      <a:lnTo>
                        <a:pt x="0" y="100"/>
                      </a:lnTo>
                      <a:lnTo>
                        <a:pt x="2" y="134"/>
                      </a:lnTo>
                      <a:lnTo>
                        <a:pt x="5" y="166"/>
                      </a:lnTo>
                      <a:lnTo>
                        <a:pt x="18" y="211"/>
                      </a:lnTo>
                      <a:lnTo>
                        <a:pt x="82" y="248"/>
                      </a:lnTo>
                      <a:lnTo>
                        <a:pt x="115" y="247"/>
                      </a:lnTo>
                      <a:lnTo>
                        <a:pt x="122" y="278"/>
                      </a:lnTo>
                      <a:lnTo>
                        <a:pt x="142" y="296"/>
                      </a:lnTo>
                      <a:lnTo>
                        <a:pt x="171" y="317"/>
                      </a:lnTo>
                      <a:lnTo>
                        <a:pt x="215" y="340"/>
                      </a:lnTo>
                      <a:lnTo>
                        <a:pt x="336" y="376"/>
                      </a:lnTo>
                      <a:lnTo>
                        <a:pt x="394" y="391"/>
                      </a:lnTo>
                      <a:lnTo>
                        <a:pt x="461" y="398"/>
                      </a:lnTo>
                      <a:lnTo>
                        <a:pt x="520" y="394"/>
                      </a:lnTo>
                      <a:lnTo>
                        <a:pt x="552" y="383"/>
                      </a:lnTo>
                      <a:lnTo>
                        <a:pt x="580" y="362"/>
                      </a:lnTo>
                      <a:lnTo>
                        <a:pt x="595" y="335"/>
                      </a:lnTo>
                      <a:lnTo>
                        <a:pt x="599" y="304"/>
                      </a:lnTo>
                      <a:lnTo>
                        <a:pt x="601" y="287"/>
                      </a:lnTo>
                      <a:lnTo>
                        <a:pt x="599" y="271"/>
                      </a:lnTo>
                      <a:lnTo>
                        <a:pt x="594" y="257"/>
                      </a:lnTo>
                      <a:lnTo>
                        <a:pt x="584" y="242"/>
                      </a:lnTo>
                      <a:lnTo>
                        <a:pt x="513" y="202"/>
                      </a:lnTo>
                      <a:lnTo>
                        <a:pt x="451" y="157"/>
                      </a:lnTo>
                      <a:lnTo>
                        <a:pt x="323" y="0"/>
                      </a:lnTo>
                      <a:lnTo>
                        <a:pt x="2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43" name="Freeform 36">
                  <a:extLst>
                    <a:ext uri="{FF2B5EF4-FFF2-40B4-BE49-F238E27FC236}">
                      <a16:creationId xmlns:a16="http://schemas.microsoft.com/office/drawing/2014/main" id="{F2456A1C-6E6B-4522-B7B6-D55483CF03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40" y="2445"/>
                  <a:ext cx="351" cy="158"/>
                </a:xfrm>
                <a:custGeom>
                  <a:avLst/>
                  <a:gdLst>
                    <a:gd name="T0" fmla="*/ 0 w 703"/>
                    <a:gd name="T1" fmla="*/ 0 h 315"/>
                    <a:gd name="T2" fmla="*/ 0 w 703"/>
                    <a:gd name="T3" fmla="*/ 1 h 315"/>
                    <a:gd name="T4" fmla="*/ 0 w 703"/>
                    <a:gd name="T5" fmla="*/ 1 h 315"/>
                    <a:gd name="T6" fmla="*/ 0 w 703"/>
                    <a:gd name="T7" fmla="*/ 1 h 315"/>
                    <a:gd name="T8" fmla="*/ 0 w 703"/>
                    <a:gd name="T9" fmla="*/ 1 h 315"/>
                    <a:gd name="T10" fmla="*/ 0 w 703"/>
                    <a:gd name="T11" fmla="*/ 1 h 315"/>
                    <a:gd name="T12" fmla="*/ 0 w 703"/>
                    <a:gd name="T13" fmla="*/ 1 h 315"/>
                    <a:gd name="T14" fmla="*/ 0 w 703"/>
                    <a:gd name="T15" fmla="*/ 1 h 315"/>
                    <a:gd name="T16" fmla="*/ 0 w 703"/>
                    <a:gd name="T17" fmla="*/ 1 h 315"/>
                    <a:gd name="T18" fmla="*/ 0 w 703"/>
                    <a:gd name="T19" fmla="*/ 1 h 315"/>
                    <a:gd name="T20" fmla="*/ 0 w 703"/>
                    <a:gd name="T21" fmla="*/ 1 h 315"/>
                    <a:gd name="T22" fmla="*/ 0 w 703"/>
                    <a:gd name="T23" fmla="*/ 1 h 315"/>
                    <a:gd name="T24" fmla="*/ 0 w 703"/>
                    <a:gd name="T25" fmla="*/ 1 h 315"/>
                    <a:gd name="T26" fmla="*/ 0 w 703"/>
                    <a:gd name="T27" fmla="*/ 1 h 315"/>
                    <a:gd name="T28" fmla="*/ 0 w 703"/>
                    <a:gd name="T29" fmla="*/ 1 h 315"/>
                    <a:gd name="T30" fmla="*/ 0 w 703"/>
                    <a:gd name="T31" fmla="*/ 1 h 315"/>
                    <a:gd name="T32" fmla="*/ 0 w 703"/>
                    <a:gd name="T33" fmla="*/ 1 h 315"/>
                    <a:gd name="T34" fmla="*/ 0 w 703"/>
                    <a:gd name="T35" fmla="*/ 1 h 315"/>
                    <a:gd name="T36" fmla="*/ 0 w 703"/>
                    <a:gd name="T37" fmla="*/ 1 h 315"/>
                    <a:gd name="T38" fmla="*/ 0 w 703"/>
                    <a:gd name="T39" fmla="*/ 1 h 315"/>
                    <a:gd name="T40" fmla="*/ 0 w 703"/>
                    <a:gd name="T41" fmla="*/ 1 h 315"/>
                    <a:gd name="T42" fmla="*/ 0 w 703"/>
                    <a:gd name="T43" fmla="*/ 1 h 315"/>
                    <a:gd name="T44" fmla="*/ 0 w 703"/>
                    <a:gd name="T45" fmla="*/ 1 h 315"/>
                    <a:gd name="T46" fmla="*/ 0 w 703"/>
                    <a:gd name="T47" fmla="*/ 1 h 315"/>
                    <a:gd name="T48" fmla="*/ 0 w 703"/>
                    <a:gd name="T49" fmla="*/ 1 h 315"/>
                    <a:gd name="T50" fmla="*/ 0 w 703"/>
                    <a:gd name="T51" fmla="*/ 1 h 315"/>
                    <a:gd name="T52" fmla="*/ 0 w 703"/>
                    <a:gd name="T53" fmla="*/ 1 h 315"/>
                    <a:gd name="T54" fmla="*/ 0 w 703"/>
                    <a:gd name="T55" fmla="*/ 1 h 315"/>
                    <a:gd name="T56" fmla="*/ 0 w 703"/>
                    <a:gd name="T57" fmla="*/ 1 h 315"/>
                    <a:gd name="T58" fmla="*/ 0 w 703"/>
                    <a:gd name="T59" fmla="*/ 1 h 315"/>
                    <a:gd name="T60" fmla="*/ 0 w 703"/>
                    <a:gd name="T61" fmla="*/ 1 h 315"/>
                    <a:gd name="T62" fmla="*/ 0 w 703"/>
                    <a:gd name="T63" fmla="*/ 1 h 315"/>
                    <a:gd name="T64" fmla="*/ 0 w 703"/>
                    <a:gd name="T65" fmla="*/ 1 h 315"/>
                    <a:gd name="T66" fmla="*/ 0 w 703"/>
                    <a:gd name="T67" fmla="*/ 1 h 315"/>
                    <a:gd name="T68" fmla="*/ 0 w 703"/>
                    <a:gd name="T69" fmla="*/ 1 h 315"/>
                    <a:gd name="T70" fmla="*/ 0 w 703"/>
                    <a:gd name="T71" fmla="*/ 1 h 315"/>
                    <a:gd name="T72" fmla="*/ 0 w 703"/>
                    <a:gd name="T73" fmla="*/ 0 h 315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703"/>
                    <a:gd name="T112" fmla="*/ 0 h 315"/>
                    <a:gd name="T113" fmla="*/ 703 w 703"/>
                    <a:gd name="T114" fmla="*/ 315 h 315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703" h="315">
                      <a:moveTo>
                        <a:pt x="347" y="0"/>
                      </a:moveTo>
                      <a:lnTo>
                        <a:pt x="277" y="63"/>
                      </a:lnTo>
                      <a:lnTo>
                        <a:pt x="202" y="109"/>
                      </a:lnTo>
                      <a:lnTo>
                        <a:pt x="139" y="132"/>
                      </a:lnTo>
                      <a:lnTo>
                        <a:pt x="31" y="170"/>
                      </a:lnTo>
                      <a:lnTo>
                        <a:pt x="14" y="180"/>
                      </a:lnTo>
                      <a:lnTo>
                        <a:pt x="6" y="192"/>
                      </a:lnTo>
                      <a:lnTo>
                        <a:pt x="0" y="210"/>
                      </a:lnTo>
                      <a:lnTo>
                        <a:pt x="0" y="231"/>
                      </a:lnTo>
                      <a:lnTo>
                        <a:pt x="6" y="261"/>
                      </a:lnTo>
                      <a:lnTo>
                        <a:pt x="12" y="284"/>
                      </a:lnTo>
                      <a:lnTo>
                        <a:pt x="31" y="296"/>
                      </a:lnTo>
                      <a:lnTo>
                        <a:pt x="60" y="306"/>
                      </a:lnTo>
                      <a:lnTo>
                        <a:pt x="105" y="311"/>
                      </a:lnTo>
                      <a:lnTo>
                        <a:pt x="158" y="314"/>
                      </a:lnTo>
                      <a:lnTo>
                        <a:pt x="204" y="315"/>
                      </a:lnTo>
                      <a:lnTo>
                        <a:pt x="256" y="314"/>
                      </a:lnTo>
                      <a:lnTo>
                        <a:pt x="302" y="311"/>
                      </a:lnTo>
                      <a:lnTo>
                        <a:pt x="348" y="302"/>
                      </a:lnTo>
                      <a:lnTo>
                        <a:pt x="385" y="290"/>
                      </a:lnTo>
                      <a:lnTo>
                        <a:pt x="420" y="275"/>
                      </a:lnTo>
                      <a:lnTo>
                        <a:pt x="467" y="263"/>
                      </a:lnTo>
                      <a:lnTo>
                        <a:pt x="471" y="281"/>
                      </a:lnTo>
                      <a:lnTo>
                        <a:pt x="505" y="282"/>
                      </a:lnTo>
                      <a:lnTo>
                        <a:pt x="536" y="282"/>
                      </a:lnTo>
                      <a:lnTo>
                        <a:pt x="570" y="281"/>
                      </a:lnTo>
                      <a:lnTo>
                        <a:pt x="597" y="278"/>
                      </a:lnTo>
                      <a:lnTo>
                        <a:pt x="624" y="273"/>
                      </a:lnTo>
                      <a:lnTo>
                        <a:pt x="658" y="263"/>
                      </a:lnTo>
                      <a:lnTo>
                        <a:pt x="689" y="248"/>
                      </a:lnTo>
                      <a:lnTo>
                        <a:pt x="689" y="210"/>
                      </a:lnTo>
                      <a:lnTo>
                        <a:pt x="694" y="197"/>
                      </a:lnTo>
                      <a:lnTo>
                        <a:pt x="697" y="185"/>
                      </a:lnTo>
                      <a:lnTo>
                        <a:pt x="699" y="111"/>
                      </a:lnTo>
                      <a:lnTo>
                        <a:pt x="703" y="37"/>
                      </a:lnTo>
                      <a:lnTo>
                        <a:pt x="545" y="54"/>
                      </a:lnTo>
                      <a:lnTo>
                        <a:pt x="34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3841" name="Freeform 37">
                <a:extLst>
                  <a:ext uri="{FF2B5EF4-FFF2-40B4-BE49-F238E27FC236}">
                    <a16:creationId xmlns:a16="http://schemas.microsoft.com/office/drawing/2014/main" id="{CE26C83C-EE90-4956-AB1C-C702A62E06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3" y="1473"/>
                <a:ext cx="548" cy="1061"/>
              </a:xfrm>
              <a:custGeom>
                <a:avLst/>
                <a:gdLst>
                  <a:gd name="T0" fmla="*/ 1 w 1096"/>
                  <a:gd name="T1" fmla="*/ 0 h 2123"/>
                  <a:gd name="T2" fmla="*/ 1 w 1096"/>
                  <a:gd name="T3" fmla="*/ 0 h 2123"/>
                  <a:gd name="T4" fmla="*/ 1 w 1096"/>
                  <a:gd name="T5" fmla="*/ 1 h 2123"/>
                  <a:gd name="T6" fmla="*/ 1 w 1096"/>
                  <a:gd name="T7" fmla="*/ 1 h 2123"/>
                  <a:gd name="T8" fmla="*/ 1 w 1096"/>
                  <a:gd name="T9" fmla="*/ 1 h 2123"/>
                  <a:gd name="T10" fmla="*/ 1 w 1096"/>
                  <a:gd name="T11" fmla="*/ 1 h 2123"/>
                  <a:gd name="T12" fmla="*/ 0 w 1096"/>
                  <a:gd name="T13" fmla="*/ 1 h 2123"/>
                  <a:gd name="T14" fmla="*/ 1 w 1096"/>
                  <a:gd name="T15" fmla="*/ 1 h 2123"/>
                  <a:gd name="T16" fmla="*/ 1 w 1096"/>
                  <a:gd name="T17" fmla="*/ 1 h 2123"/>
                  <a:gd name="T18" fmla="*/ 1 w 1096"/>
                  <a:gd name="T19" fmla="*/ 1 h 2123"/>
                  <a:gd name="T20" fmla="*/ 1 w 1096"/>
                  <a:gd name="T21" fmla="*/ 1 h 2123"/>
                  <a:gd name="T22" fmla="*/ 1 w 1096"/>
                  <a:gd name="T23" fmla="*/ 1 h 2123"/>
                  <a:gd name="T24" fmla="*/ 1 w 1096"/>
                  <a:gd name="T25" fmla="*/ 1 h 2123"/>
                  <a:gd name="T26" fmla="*/ 1 w 1096"/>
                  <a:gd name="T27" fmla="*/ 2 h 2123"/>
                  <a:gd name="T28" fmla="*/ 1 w 1096"/>
                  <a:gd name="T29" fmla="*/ 2 h 2123"/>
                  <a:gd name="T30" fmla="*/ 1 w 1096"/>
                  <a:gd name="T31" fmla="*/ 2 h 2123"/>
                  <a:gd name="T32" fmla="*/ 1 w 1096"/>
                  <a:gd name="T33" fmla="*/ 2 h 2123"/>
                  <a:gd name="T34" fmla="*/ 1 w 1096"/>
                  <a:gd name="T35" fmla="*/ 2 h 2123"/>
                  <a:gd name="T36" fmla="*/ 1 w 1096"/>
                  <a:gd name="T37" fmla="*/ 2 h 2123"/>
                  <a:gd name="T38" fmla="*/ 1 w 1096"/>
                  <a:gd name="T39" fmla="*/ 1 h 2123"/>
                  <a:gd name="T40" fmla="*/ 1 w 1096"/>
                  <a:gd name="T41" fmla="*/ 1 h 2123"/>
                  <a:gd name="T42" fmla="*/ 1 w 1096"/>
                  <a:gd name="T43" fmla="*/ 1 h 2123"/>
                  <a:gd name="T44" fmla="*/ 1 w 1096"/>
                  <a:gd name="T45" fmla="*/ 1 h 2123"/>
                  <a:gd name="T46" fmla="*/ 1 w 1096"/>
                  <a:gd name="T47" fmla="*/ 1 h 2123"/>
                  <a:gd name="T48" fmla="*/ 1 w 1096"/>
                  <a:gd name="T49" fmla="*/ 0 h 2123"/>
                  <a:gd name="T50" fmla="*/ 1 w 1096"/>
                  <a:gd name="T51" fmla="*/ 0 h 2123"/>
                  <a:gd name="T52" fmla="*/ 1 w 1096"/>
                  <a:gd name="T53" fmla="*/ 0 h 2123"/>
                  <a:gd name="T54" fmla="*/ 1 w 1096"/>
                  <a:gd name="T55" fmla="*/ 0 h 2123"/>
                  <a:gd name="T56" fmla="*/ 1 w 1096"/>
                  <a:gd name="T57" fmla="*/ 1 h 2123"/>
                  <a:gd name="T58" fmla="*/ 1 w 1096"/>
                  <a:gd name="T59" fmla="*/ 1 h 2123"/>
                  <a:gd name="T60" fmla="*/ 1 w 1096"/>
                  <a:gd name="T61" fmla="*/ 1 h 2123"/>
                  <a:gd name="T62" fmla="*/ 1 w 1096"/>
                  <a:gd name="T63" fmla="*/ 2 h 2123"/>
                  <a:gd name="T64" fmla="*/ 1 w 1096"/>
                  <a:gd name="T65" fmla="*/ 2 h 2123"/>
                  <a:gd name="T66" fmla="*/ 1 w 1096"/>
                  <a:gd name="T67" fmla="*/ 2 h 2123"/>
                  <a:gd name="T68" fmla="*/ 1 w 1096"/>
                  <a:gd name="T69" fmla="*/ 2 h 2123"/>
                  <a:gd name="T70" fmla="*/ 1 w 1096"/>
                  <a:gd name="T71" fmla="*/ 2 h 2123"/>
                  <a:gd name="T72" fmla="*/ 1 w 1096"/>
                  <a:gd name="T73" fmla="*/ 2 h 2123"/>
                  <a:gd name="T74" fmla="*/ 1 w 1096"/>
                  <a:gd name="T75" fmla="*/ 2 h 2123"/>
                  <a:gd name="T76" fmla="*/ 2 w 1096"/>
                  <a:gd name="T77" fmla="*/ 2 h 2123"/>
                  <a:gd name="T78" fmla="*/ 2 w 1096"/>
                  <a:gd name="T79" fmla="*/ 2 h 2123"/>
                  <a:gd name="T80" fmla="*/ 2 w 1096"/>
                  <a:gd name="T81" fmla="*/ 2 h 2123"/>
                  <a:gd name="T82" fmla="*/ 2 w 1096"/>
                  <a:gd name="T83" fmla="*/ 2 h 2123"/>
                  <a:gd name="T84" fmla="*/ 2 w 1096"/>
                  <a:gd name="T85" fmla="*/ 1 h 2123"/>
                  <a:gd name="T86" fmla="*/ 1 w 1096"/>
                  <a:gd name="T87" fmla="*/ 1 h 2123"/>
                  <a:gd name="T88" fmla="*/ 1 w 1096"/>
                  <a:gd name="T89" fmla="*/ 1 h 2123"/>
                  <a:gd name="T90" fmla="*/ 1 w 1096"/>
                  <a:gd name="T91" fmla="*/ 0 h 2123"/>
                  <a:gd name="T92" fmla="*/ 1 w 1096"/>
                  <a:gd name="T93" fmla="*/ 0 h 2123"/>
                  <a:gd name="T94" fmla="*/ 1 w 1096"/>
                  <a:gd name="T95" fmla="*/ 0 h 2123"/>
                  <a:gd name="T96" fmla="*/ 1 w 1096"/>
                  <a:gd name="T97" fmla="*/ 0 h 2123"/>
                  <a:gd name="T98" fmla="*/ 1 w 1096"/>
                  <a:gd name="T99" fmla="*/ 0 h 2123"/>
                  <a:gd name="T100" fmla="*/ 1 w 1096"/>
                  <a:gd name="T101" fmla="*/ 0 h 2123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096"/>
                  <a:gd name="T154" fmla="*/ 0 h 2123"/>
                  <a:gd name="T155" fmla="*/ 1096 w 1096"/>
                  <a:gd name="T156" fmla="*/ 2123 h 2123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096" h="2123">
                    <a:moveTo>
                      <a:pt x="41" y="0"/>
                    </a:moveTo>
                    <a:lnTo>
                      <a:pt x="8" y="639"/>
                    </a:lnTo>
                    <a:lnTo>
                      <a:pt x="16" y="1151"/>
                    </a:lnTo>
                    <a:lnTo>
                      <a:pt x="33" y="1349"/>
                    </a:lnTo>
                    <a:lnTo>
                      <a:pt x="58" y="1566"/>
                    </a:lnTo>
                    <a:lnTo>
                      <a:pt x="41" y="1773"/>
                    </a:lnTo>
                    <a:lnTo>
                      <a:pt x="0" y="1944"/>
                    </a:lnTo>
                    <a:lnTo>
                      <a:pt x="22" y="1971"/>
                    </a:lnTo>
                    <a:lnTo>
                      <a:pt x="43" y="1989"/>
                    </a:lnTo>
                    <a:lnTo>
                      <a:pt x="76" y="2006"/>
                    </a:lnTo>
                    <a:lnTo>
                      <a:pt x="108" y="2021"/>
                    </a:lnTo>
                    <a:lnTo>
                      <a:pt x="148" y="2036"/>
                    </a:lnTo>
                    <a:lnTo>
                      <a:pt x="191" y="2046"/>
                    </a:lnTo>
                    <a:lnTo>
                      <a:pt x="223" y="2054"/>
                    </a:lnTo>
                    <a:lnTo>
                      <a:pt x="263" y="2060"/>
                    </a:lnTo>
                    <a:lnTo>
                      <a:pt x="313" y="2070"/>
                    </a:lnTo>
                    <a:lnTo>
                      <a:pt x="367" y="2084"/>
                    </a:lnTo>
                    <a:lnTo>
                      <a:pt x="388" y="2089"/>
                    </a:lnTo>
                    <a:lnTo>
                      <a:pt x="396" y="2061"/>
                    </a:lnTo>
                    <a:lnTo>
                      <a:pt x="411" y="2010"/>
                    </a:lnTo>
                    <a:lnTo>
                      <a:pt x="424" y="1971"/>
                    </a:lnTo>
                    <a:lnTo>
                      <a:pt x="435" y="1919"/>
                    </a:lnTo>
                    <a:lnTo>
                      <a:pt x="439" y="1539"/>
                    </a:lnTo>
                    <a:lnTo>
                      <a:pt x="439" y="1196"/>
                    </a:lnTo>
                    <a:lnTo>
                      <a:pt x="414" y="810"/>
                    </a:lnTo>
                    <a:lnTo>
                      <a:pt x="422" y="567"/>
                    </a:lnTo>
                    <a:lnTo>
                      <a:pt x="431" y="490"/>
                    </a:lnTo>
                    <a:lnTo>
                      <a:pt x="514" y="855"/>
                    </a:lnTo>
                    <a:lnTo>
                      <a:pt x="589" y="1250"/>
                    </a:lnTo>
                    <a:lnTo>
                      <a:pt x="639" y="1476"/>
                    </a:lnTo>
                    <a:lnTo>
                      <a:pt x="672" y="1872"/>
                    </a:lnTo>
                    <a:lnTo>
                      <a:pt x="719" y="2098"/>
                    </a:lnTo>
                    <a:lnTo>
                      <a:pt x="766" y="2101"/>
                    </a:lnTo>
                    <a:lnTo>
                      <a:pt x="813" y="2105"/>
                    </a:lnTo>
                    <a:lnTo>
                      <a:pt x="860" y="2113"/>
                    </a:lnTo>
                    <a:lnTo>
                      <a:pt x="923" y="2120"/>
                    </a:lnTo>
                    <a:lnTo>
                      <a:pt x="966" y="2123"/>
                    </a:lnTo>
                    <a:lnTo>
                      <a:pt x="1009" y="2114"/>
                    </a:lnTo>
                    <a:lnTo>
                      <a:pt x="1050" y="2096"/>
                    </a:lnTo>
                    <a:lnTo>
                      <a:pt x="1065" y="2082"/>
                    </a:lnTo>
                    <a:lnTo>
                      <a:pt x="1082" y="2070"/>
                    </a:lnTo>
                    <a:lnTo>
                      <a:pt x="1096" y="2055"/>
                    </a:lnTo>
                    <a:lnTo>
                      <a:pt x="1072" y="1787"/>
                    </a:lnTo>
                    <a:lnTo>
                      <a:pt x="1011" y="1414"/>
                    </a:lnTo>
                    <a:lnTo>
                      <a:pt x="978" y="1127"/>
                    </a:lnTo>
                    <a:lnTo>
                      <a:pt x="863" y="478"/>
                    </a:lnTo>
                    <a:lnTo>
                      <a:pt x="813" y="0"/>
                    </a:lnTo>
                    <a:lnTo>
                      <a:pt x="614" y="40"/>
                    </a:lnTo>
                    <a:lnTo>
                      <a:pt x="425" y="52"/>
                    </a:lnTo>
                    <a:lnTo>
                      <a:pt x="205" y="40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80808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801" name="Group 38">
              <a:extLst>
                <a:ext uri="{FF2B5EF4-FFF2-40B4-BE49-F238E27FC236}">
                  <a16:creationId xmlns:a16="http://schemas.microsoft.com/office/drawing/2014/main" id="{326C10A9-1C26-4830-99F5-D0FC55B94F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9" y="734"/>
              <a:ext cx="536" cy="903"/>
              <a:chOff x="4339" y="734"/>
              <a:chExt cx="536" cy="903"/>
            </a:xfrm>
          </p:grpSpPr>
          <p:grpSp>
            <p:nvGrpSpPr>
              <p:cNvPr id="33835" name="Group 39">
                <a:extLst>
                  <a:ext uri="{FF2B5EF4-FFF2-40B4-BE49-F238E27FC236}">
                    <a16:creationId xmlns:a16="http://schemas.microsoft.com/office/drawing/2014/main" id="{0DCF8A97-2163-4CDD-88F1-532FCD6698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9" y="734"/>
                <a:ext cx="536" cy="903"/>
                <a:chOff x="4339" y="734"/>
                <a:chExt cx="536" cy="903"/>
              </a:xfrm>
            </p:grpSpPr>
            <p:sp>
              <p:nvSpPr>
                <p:cNvPr id="33838" name="Freeform 40">
                  <a:extLst>
                    <a:ext uri="{FF2B5EF4-FFF2-40B4-BE49-F238E27FC236}">
                      <a16:creationId xmlns:a16="http://schemas.microsoft.com/office/drawing/2014/main" id="{866BB603-7091-47A0-BEDB-EA43040A69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9" y="734"/>
                  <a:ext cx="536" cy="903"/>
                </a:xfrm>
                <a:custGeom>
                  <a:avLst/>
                  <a:gdLst>
                    <a:gd name="T0" fmla="*/ 0 w 1073"/>
                    <a:gd name="T1" fmla="*/ 0 h 1807"/>
                    <a:gd name="T2" fmla="*/ 0 w 1073"/>
                    <a:gd name="T3" fmla="*/ 0 h 1807"/>
                    <a:gd name="T4" fmla="*/ 0 w 1073"/>
                    <a:gd name="T5" fmla="*/ 0 h 1807"/>
                    <a:gd name="T6" fmla="*/ 0 w 1073"/>
                    <a:gd name="T7" fmla="*/ 0 h 1807"/>
                    <a:gd name="T8" fmla="*/ 0 w 1073"/>
                    <a:gd name="T9" fmla="*/ 0 h 1807"/>
                    <a:gd name="T10" fmla="*/ 0 w 1073"/>
                    <a:gd name="T11" fmla="*/ 0 h 1807"/>
                    <a:gd name="T12" fmla="*/ 0 w 1073"/>
                    <a:gd name="T13" fmla="*/ 0 h 1807"/>
                    <a:gd name="T14" fmla="*/ 0 w 1073"/>
                    <a:gd name="T15" fmla="*/ 0 h 1807"/>
                    <a:gd name="T16" fmla="*/ 0 w 1073"/>
                    <a:gd name="T17" fmla="*/ 0 h 1807"/>
                    <a:gd name="T18" fmla="*/ 0 w 1073"/>
                    <a:gd name="T19" fmla="*/ 0 h 1807"/>
                    <a:gd name="T20" fmla="*/ 0 w 1073"/>
                    <a:gd name="T21" fmla="*/ 0 h 1807"/>
                    <a:gd name="T22" fmla="*/ 0 w 1073"/>
                    <a:gd name="T23" fmla="*/ 1 h 1807"/>
                    <a:gd name="T24" fmla="*/ 0 w 1073"/>
                    <a:gd name="T25" fmla="*/ 1 h 1807"/>
                    <a:gd name="T26" fmla="*/ 0 w 1073"/>
                    <a:gd name="T27" fmla="*/ 1 h 1807"/>
                    <a:gd name="T28" fmla="*/ 0 w 1073"/>
                    <a:gd name="T29" fmla="*/ 0 h 1807"/>
                    <a:gd name="T30" fmla="*/ 0 w 1073"/>
                    <a:gd name="T31" fmla="*/ 1 h 1807"/>
                    <a:gd name="T32" fmla="*/ 0 w 1073"/>
                    <a:gd name="T33" fmla="*/ 1 h 1807"/>
                    <a:gd name="T34" fmla="*/ 0 w 1073"/>
                    <a:gd name="T35" fmla="*/ 1 h 1807"/>
                    <a:gd name="T36" fmla="*/ 0 w 1073"/>
                    <a:gd name="T37" fmla="*/ 1 h 1807"/>
                    <a:gd name="T38" fmla="*/ 0 w 1073"/>
                    <a:gd name="T39" fmla="*/ 1 h 1807"/>
                    <a:gd name="T40" fmla="*/ 0 w 1073"/>
                    <a:gd name="T41" fmla="*/ 1 h 1807"/>
                    <a:gd name="T42" fmla="*/ 0 w 1073"/>
                    <a:gd name="T43" fmla="*/ 1 h 1807"/>
                    <a:gd name="T44" fmla="*/ 0 w 1073"/>
                    <a:gd name="T45" fmla="*/ 1 h 1807"/>
                    <a:gd name="T46" fmla="*/ 0 w 1073"/>
                    <a:gd name="T47" fmla="*/ 1 h 1807"/>
                    <a:gd name="T48" fmla="*/ 1 w 1073"/>
                    <a:gd name="T49" fmla="*/ 1 h 1807"/>
                    <a:gd name="T50" fmla="*/ 1 w 1073"/>
                    <a:gd name="T51" fmla="*/ 1 h 1807"/>
                    <a:gd name="T52" fmla="*/ 0 w 1073"/>
                    <a:gd name="T53" fmla="*/ 1 h 1807"/>
                    <a:gd name="T54" fmla="*/ 1 w 1073"/>
                    <a:gd name="T55" fmla="*/ 0 h 1807"/>
                    <a:gd name="T56" fmla="*/ 0 w 1073"/>
                    <a:gd name="T57" fmla="*/ 0 h 1807"/>
                    <a:gd name="T58" fmla="*/ 0 w 1073"/>
                    <a:gd name="T59" fmla="*/ 0 h 1807"/>
                    <a:gd name="T60" fmla="*/ 0 w 1073"/>
                    <a:gd name="T61" fmla="*/ 0 h 1807"/>
                    <a:gd name="T62" fmla="*/ 0 w 1073"/>
                    <a:gd name="T63" fmla="*/ 0 h 1807"/>
                    <a:gd name="T64" fmla="*/ 0 w 1073"/>
                    <a:gd name="T65" fmla="*/ 0 h 1807"/>
                    <a:gd name="T66" fmla="*/ 0 w 1073"/>
                    <a:gd name="T67" fmla="*/ 0 h 1807"/>
                    <a:gd name="T68" fmla="*/ 0 w 1073"/>
                    <a:gd name="T69" fmla="*/ 0 h 1807"/>
                    <a:gd name="T70" fmla="*/ 0 w 1073"/>
                    <a:gd name="T71" fmla="*/ 0 h 1807"/>
                    <a:gd name="T72" fmla="*/ 0 w 1073"/>
                    <a:gd name="T73" fmla="*/ 0 h 1807"/>
                    <a:gd name="T74" fmla="*/ 0 w 1073"/>
                    <a:gd name="T75" fmla="*/ 0 h 1807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1073"/>
                    <a:gd name="T115" fmla="*/ 0 h 1807"/>
                    <a:gd name="T116" fmla="*/ 1073 w 1073"/>
                    <a:gd name="T117" fmla="*/ 1807 h 1807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1073" h="1807">
                      <a:moveTo>
                        <a:pt x="444" y="676"/>
                      </a:moveTo>
                      <a:lnTo>
                        <a:pt x="412" y="675"/>
                      </a:lnTo>
                      <a:lnTo>
                        <a:pt x="367" y="667"/>
                      </a:lnTo>
                      <a:lnTo>
                        <a:pt x="293" y="634"/>
                      </a:lnTo>
                      <a:lnTo>
                        <a:pt x="128" y="571"/>
                      </a:lnTo>
                      <a:lnTo>
                        <a:pt x="103" y="576"/>
                      </a:lnTo>
                      <a:lnTo>
                        <a:pt x="79" y="586"/>
                      </a:lnTo>
                      <a:lnTo>
                        <a:pt x="54" y="603"/>
                      </a:lnTo>
                      <a:lnTo>
                        <a:pt x="37" y="621"/>
                      </a:lnTo>
                      <a:lnTo>
                        <a:pt x="22" y="648"/>
                      </a:lnTo>
                      <a:lnTo>
                        <a:pt x="13" y="678"/>
                      </a:lnTo>
                      <a:lnTo>
                        <a:pt x="4" y="718"/>
                      </a:lnTo>
                      <a:lnTo>
                        <a:pt x="1" y="751"/>
                      </a:lnTo>
                      <a:lnTo>
                        <a:pt x="0" y="786"/>
                      </a:lnTo>
                      <a:lnTo>
                        <a:pt x="1" y="827"/>
                      </a:lnTo>
                      <a:lnTo>
                        <a:pt x="6" y="864"/>
                      </a:lnTo>
                      <a:lnTo>
                        <a:pt x="13" y="896"/>
                      </a:lnTo>
                      <a:lnTo>
                        <a:pt x="144" y="939"/>
                      </a:lnTo>
                      <a:lnTo>
                        <a:pt x="200" y="968"/>
                      </a:lnTo>
                      <a:lnTo>
                        <a:pt x="236" y="990"/>
                      </a:lnTo>
                      <a:lnTo>
                        <a:pt x="266" y="1008"/>
                      </a:lnTo>
                      <a:lnTo>
                        <a:pt x="293" y="1020"/>
                      </a:lnTo>
                      <a:lnTo>
                        <a:pt x="331" y="1032"/>
                      </a:lnTo>
                      <a:lnTo>
                        <a:pt x="409" y="1056"/>
                      </a:lnTo>
                      <a:lnTo>
                        <a:pt x="539" y="1088"/>
                      </a:lnTo>
                      <a:lnTo>
                        <a:pt x="635" y="1106"/>
                      </a:lnTo>
                      <a:lnTo>
                        <a:pt x="658" y="1098"/>
                      </a:lnTo>
                      <a:lnTo>
                        <a:pt x="674" y="1080"/>
                      </a:lnTo>
                      <a:lnTo>
                        <a:pt x="685" y="1052"/>
                      </a:lnTo>
                      <a:lnTo>
                        <a:pt x="715" y="980"/>
                      </a:lnTo>
                      <a:lnTo>
                        <a:pt x="722" y="1025"/>
                      </a:lnTo>
                      <a:lnTo>
                        <a:pt x="729" y="1140"/>
                      </a:lnTo>
                      <a:lnTo>
                        <a:pt x="725" y="1231"/>
                      </a:lnTo>
                      <a:lnTo>
                        <a:pt x="715" y="1277"/>
                      </a:lnTo>
                      <a:lnTo>
                        <a:pt x="714" y="1327"/>
                      </a:lnTo>
                      <a:lnTo>
                        <a:pt x="714" y="1375"/>
                      </a:lnTo>
                      <a:lnTo>
                        <a:pt x="708" y="1433"/>
                      </a:lnTo>
                      <a:lnTo>
                        <a:pt x="697" y="1487"/>
                      </a:lnTo>
                      <a:lnTo>
                        <a:pt x="667" y="1647"/>
                      </a:lnTo>
                      <a:lnTo>
                        <a:pt x="688" y="1674"/>
                      </a:lnTo>
                      <a:lnTo>
                        <a:pt x="717" y="1695"/>
                      </a:lnTo>
                      <a:lnTo>
                        <a:pt x="760" y="1713"/>
                      </a:lnTo>
                      <a:lnTo>
                        <a:pt x="804" y="1723"/>
                      </a:lnTo>
                      <a:lnTo>
                        <a:pt x="840" y="1737"/>
                      </a:lnTo>
                      <a:lnTo>
                        <a:pt x="880" y="1752"/>
                      </a:lnTo>
                      <a:lnTo>
                        <a:pt x="916" y="1767"/>
                      </a:lnTo>
                      <a:lnTo>
                        <a:pt x="956" y="1780"/>
                      </a:lnTo>
                      <a:lnTo>
                        <a:pt x="1008" y="1797"/>
                      </a:lnTo>
                      <a:lnTo>
                        <a:pt x="1073" y="1807"/>
                      </a:lnTo>
                      <a:lnTo>
                        <a:pt x="1042" y="1597"/>
                      </a:lnTo>
                      <a:lnTo>
                        <a:pt x="1031" y="1530"/>
                      </a:lnTo>
                      <a:lnTo>
                        <a:pt x="1026" y="1489"/>
                      </a:lnTo>
                      <a:lnTo>
                        <a:pt x="1024" y="1444"/>
                      </a:lnTo>
                      <a:lnTo>
                        <a:pt x="1020" y="1348"/>
                      </a:lnTo>
                      <a:lnTo>
                        <a:pt x="1023" y="1214"/>
                      </a:lnTo>
                      <a:lnTo>
                        <a:pt x="1044" y="873"/>
                      </a:lnTo>
                      <a:lnTo>
                        <a:pt x="1031" y="341"/>
                      </a:lnTo>
                      <a:lnTo>
                        <a:pt x="983" y="50"/>
                      </a:lnTo>
                      <a:lnTo>
                        <a:pt x="857" y="26"/>
                      </a:lnTo>
                      <a:lnTo>
                        <a:pt x="812" y="15"/>
                      </a:lnTo>
                      <a:lnTo>
                        <a:pt x="782" y="5"/>
                      </a:lnTo>
                      <a:lnTo>
                        <a:pt x="762" y="0"/>
                      </a:lnTo>
                      <a:lnTo>
                        <a:pt x="739" y="0"/>
                      </a:lnTo>
                      <a:lnTo>
                        <a:pt x="719" y="3"/>
                      </a:lnTo>
                      <a:lnTo>
                        <a:pt x="700" y="9"/>
                      </a:lnTo>
                      <a:lnTo>
                        <a:pt x="679" y="20"/>
                      </a:lnTo>
                      <a:lnTo>
                        <a:pt x="658" y="38"/>
                      </a:lnTo>
                      <a:lnTo>
                        <a:pt x="639" y="62"/>
                      </a:lnTo>
                      <a:lnTo>
                        <a:pt x="628" y="84"/>
                      </a:lnTo>
                      <a:lnTo>
                        <a:pt x="621" y="116"/>
                      </a:lnTo>
                      <a:lnTo>
                        <a:pt x="621" y="158"/>
                      </a:lnTo>
                      <a:lnTo>
                        <a:pt x="614" y="214"/>
                      </a:lnTo>
                      <a:lnTo>
                        <a:pt x="592" y="334"/>
                      </a:lnTo>
                      <a:lnTo>
                        <a:pt x="525" y="631"/>
                      </a:lnTo>
                      <a:lnTo>
                        <a:pt x="516" y="672"/>
                      </a:lnTo>
                      <a:lnTo>
                        <a:pt x="485" y="676"/>
                      </a:lnTo>
                      <a:lnTo>
                        <a:pt x="444" y="67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39" name="Freeform 41">
                  <a:extLst>
                    <a:ext uri="{FF2B5EF4-FFF2-40B4-BE49-F238E27FC236}">
                      <a16:creationId xmlns:a16="http://schemas.microsoft.com/office/drawing/2014/main" id="{AD5BC1C6-0BE0-4575-8B74-E8F7BE9B86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0" y="976"/>
                  <a:ext cx="59" cy="242"/>
                </a:xfrm>
                <a:custGeom>
                  <a:avLst/>
                  <a:gdLst>
                    <a:gd name="T0" fmla="*/ 0 w 116"/>
                    <a:gd name="T1" fmla="*/ 0 h 485"/>
                    <a:gd name="T2" fmla="*/ 1 w 116"/>
                    <a:gd name="T3" fmla="*/ 0 h 485"/>
                    <a:gd name="T4" fmla="*/ 1 w 116"/>
                    <a:gd name="T5" fmla="*/ 0 h 485"/>
                    <a:gd name="T6" fmla="*/ 1 w 116"/>
                    <a:gd name="T7" fmla="*/ 0 h 485"/>
                    <a:gd name="T8" fmla="*/ 1 w 116"/>
                    <a:gd name="T9" fmla="*/ 0 h 48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6"/>
                    <a:gd name="T16" fmla="*/ 0 h 485"/>
                    <a:gd name="T17" fmla="*/ 116 w 116"/>
                    <a:gd name="T18" fmla="*/ 485 h 48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6" h="485">
                      <a:moveTo>
                        <a:pt x="0" y="485"/>
                      </a:moveTo>
                      <a:lnTo>
                        <a:pt x="41" y="325"/>
                      </a:lnTo>
                      <a:lnTo>
                        <a:pt x="83" y="162"/>
                      </a:lnTo>
                      <a:lnTo>
                        <a:pt x="74" y="27"/>
                      </a:lnTo>
                      <a:lnTo>
                        <a:pt x="116" y="0"/>
                      </a:lnTo>
                    </a:path>
                  </a:pathLst>
                </a:custGeom>
                <a:solidFill>
                  <a:schemeClr val="tx2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3836" name="Freeform 42">
                <a:extLst>
                  <a:ext uri="{FF2B5EF4-FFF2-40B4-BE49-F238E27FC236}">
                    <a16:creationId xmlns:a16="http://schemas.microsoft.com/office/drawing/2014/main" id="{ABB96549-9997-4200-BA95-3A9E1E904F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8" y="1070"/>
                <a:ext cx="48" cy="50"/>
              </a:xfrm>
              <a:custGeom>
                <a:avLst/>
                <a:gdLst>
                  <a:gd name="T0" fmla="*/ 0 w 97"/>
                  <a:gd name="T1" fmla="*/ 1 h 99"/>
                  <a:gd name="T2" fmla="*/ 0 w 97"/>
                  <a:gd name="T3" fmla="*/ 0 h 99"/>
                  <a:gd name="T4" fmla="*/ 0 w 97"/>
                  <a:gd name="T5" fmla="*/ 1 h 99"/>
                  <a:gd name="T6" fmla="*/ 0 w 97"/>
                  <a:gd name="T7" fmla="*/ 1 h 99"/>
                  <a:gd name="T8" fmla="*/ 0 w 97"/>
                  <a:gd name="T9" fmla="*/ 1 h 99"/>
                  <a:gd name="T10" fmla="*/ 0 w 97"/>
                  <a:gd name="T11" fmla="*/ 1 h 9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7"/>
                  <a:gd name="T19" fmla="*/ 0 h 99"/>
                  <a:gd name="T20" fmla="*/ 97 w 97"/>
                  <a:gd name="T21" fmla="*/ 99 h 9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7" h="99">
                    <a:moveTo>
                      <a:pt x="0" y="3"/>
                    </a:moveTo>
                    <a:lnTo>
                      <a:pt x="46" y="0"/>
                    </a:lnTo>
                    <a:lnTo>
                      <a:pt x="71" y="12"/>
                    </a:lnTo>
                    <a:lnTo>
                      <a:pt x="89" y="36"/>
                    </a:lnTo>
                    <a:lnTo>
                      <a:pt x="97" y="72"/>
                    </a:lnTo>
                    <a:lnTo>
                      <a:pt x="96" y="99"/>
                    </a:lnTo>
                  </a:path>
                </a:pathLst>
              </a:custGeom>
              <a:solidFill>
                <a:schemeClr val="tx2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37" name="Freeform 43">
                <a:extLst>
                  <a:ext uri="{FF2B5EF4-FFF2-40B4-BE49-F238E27FC236}">
                    <a16:creationId xmlns:a16="http://schemas.microsoft.com/office/drawing/2014/main" id="{AA1E3D2B-82BE-41CD-A41D-45B7A6E29D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1" y="759"/>
                <a:ext cx="112" cy="702"/>
              </a:xfrm>
              <a:custGeom>
                <a:avLst/>
                <a:gdLst>
                  <a:gd name="T0" fmla="*/ 0 w 225"/>
                  <a:gd name="T1" fmla="*/ 0 h 1403"/>
                  <a:gd name="T2" fmla="*/ 0 w 225"/>
                  <a:gd name="T3" fmla="*/ 1 h 1403"/>
                  <a:gd name="T4" fmla="*/ 0 w 225"/>
                  <a:gd name="T5" fmla="*/ 1 h 1403"/>
                  <a:gd name="T6" fmla="*/ 0 w 225"/>
                  <a:gd name="T7" fmla="*/ 1 h 1403"/>
                  <a:gd name="T8" fmla="*/ 0 w 225"/>
                  <a:gd name="T9" fmla="*/ 1 h 1403"/>
                  <a:gd name="T10" fmla="*/ 0 w 225"/>
                  <a:gd name="T11" fmla="*/ 1 h 1403"/>
                  <a:gd name="T12" fmla="*/ 0 w 225"/>
                  <a:gd name="T13" fmla="*/ 1 h 1403"/>
                  <a:gd name="T14" fmla="*/ 0 w 225"/>
                  <a:gd name="T15" fmla="*/ 1 h 1403"/>
                  <a:gd name="T16" fmla="*/ 0 w 225"/>
                  <a:gd name="T17" fmla="*/ 1 h 1403"/>
                  <a:gd name="T18" fmla="*/ 0 w 225"/>
                  <a:gd name="T19" fmla="*/ 1 h 1403"/>
                  <a:gd name="T20" fmla="*/ 0 w 225"/>
                  <a:gd name="T21" fmla="*/ 1 h 1403"/>
                  <a:gd name="T22" fmla="*/ 0 w 225"/>
                  <a:gd name="T23" fmla="*/ 1 h 1403"/>
                  <a:gd name="T24" fmla="*/ 0 w 225"/>
                  <a:gd name="T25" fmla="*/ 1 h 1403"/>
                  <a:gd name="T26" fmla="*/ 0 w 225"/>
                  <a:gd name="T27" fmla="*/ 1 h 1403"/>
                  <a:gd name="T28" fmla="*/ 0 w 225"/>
                  <a:gd name="T29" fmla="*/ 1 h 1403"/>
                  <a:gd name="T30" fmla="*/ 0 w 225"/>
                  <a:gd name="T31" fmla="*/ 1 h 1403"/>
                  <a:gd name="T32" fmla="*/ 0 w 225"/>
                  <a:gd name="T33" fmla="*/ 1 h 1403"/>
                  <a:gd name="T34" fmla="*/ 0 w 225"/>
                  <a:gd name="T35" fmla="*/ 2 h 1403"/>
                  <a:gd name="T36" fmla="*/ 0 w 225"/>
                  <a:gd name="T37" fmla="*/ 2 h 1403"/>
                  <a:gd name="T38" fmla="*/ 0 w 225"/>
                  <a:gd name="T39" fmla="*/ 2 h 1403"/>
                  <a:gd name="T40" fmla="*/ 0 w 225"/>
                  <a:gd name="T41" fmla="*/ 2 h 1403"/>
                  <a:gd name="T42" fmla="*/ 0 w 225"/>
                  <a:gd name="T43" fmla="*/ 2 h 1403"/>
                  <a:gd name="T44" fmla="*/ 0 w 225"/>
                  <a:gd name="T45" fmla="*/ 1 h 1403"/>
                  <a:gd name="T46" fmla="*/ 0 w 225"/>
                  <a:gd name="T47" fmla="*/ 1 h 1403"/>
                  <a:gd name="T48" fmla="*/ 0 w 225"/>
                  <a:gd name="T49" fmla="*/ 1 h 1403"/>
                  <a:gd name="T50" fmla="*/ 0 w 225"/>
                  <a:gd name="T51" fmla="*/ 1 h 1403"/>
                  <a:gd name="T52" fmla="*/ 0 w 225"/>
                  <a:gd name="T53" fmla="*/ 1 h 1403"/>
                  <a:gd name="T54" fmla="*/ 0 w 225"/>
                  <a:gd name="T55" fmla="*/ 1 h 1403"/>
                  <a:gd name="T56" fmla="*/ 0 w 225"/>
                  <a:gd name="T57" fmla="*/ 1 h 1403"/>
                  <a:gd name="T58" fmla="*/ 0 w 225"/>
                  <a:gd name="T59" fmla="*/ 1 h 1403"/>
                  <a:gd name="T60" fmla="*/ 0 w 225"/>
                  <a:gd name="T61" fmla="*/ 1 h 1403"/>
                  <a:gd name="T62" fmla="*/ 0 w 225"/>
                  <a:gd name="T63" fmla="*/ 1 h 1403"/>
                  <a:gd name="T64" fmla="*/ 0 w 225"/>
                  <a:gd name="T65" fmla="*/ 1 h 1403"/>
                  <a:gd name="T66" fmla="*/ 0 w 225"/>
                  <a:gd name="T67" fmla="*/ 1 h 1403"/>
                  <a:gd name="T68" fmla="*/ 0 w 225"/>
                  <a:gd name="T69" fmla="*/ 1 h 1403"/>
                  <a:gd name="T70" fmla="*/ 0 w 225"/>
                  <a:gd name="T71" fmla="*/ 1 h 1403"/>
                  <a:gd name="T72" fmla="*/ 0 w 225"/>
                  <a:gd name="T73" fmla="*/ 1 h 1403"/>
                  <a:gd name="T74" fmla="*/ 0 w 225"/>
                  <a:gd name="T75" fmla="*/ 0 h 1403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25"/>
                  <a:gd name="T115" fmla="*/ 0 h 1403"/>
                  <a:gd name="T116" fmla="*/ 225 w 225"/>
                  <a:gd name="T117" fmla="*/ 1403 h 1403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25" h="1403">
                    <a:moveTo>
                      <a:pt x="137" y="0"/>
                    </a:moveTo>
                    <a:lnTo>
                      <a:pt x="103" y="94"/>
                    </a:lnTo>
                    <a:lnTo>
                      <a:pt x="89" y="128"/>
                    </a:lnTo>
                    <a:lnTo>
                      <a:pt x="75" y="158"/>
                    </a:lnTo>
                    <a:lnTo>
                      <a:pt x="50" y="197"/>
                    </a:lnTo>
                    <a:lnTo>
                      <a:pt x="31" y="221"/>
                    </a:lnTo>
                    <a:lnTo>
                      <a:pt x="0" y="257"/>
                    </a:lnTo>
                    <a:lnTo>
                      <a:pt x="104" y="262"/>
                    </a:lnTo>
                    <a:lnTo>
                      <a:pt x="33" y="365"/>
                    </a:lnTo>
                    <a:lnTo>
                      <a:pt x="72" y="471"/>
                    </a:lnTo>
                    <a:lnTo>
                      <a:pt x="88" y="516"/>
                    </a:lnTo>
                    <a:lnTo>
                      <a:pt x="100" y="564"/>
                    </a:lnTo>
                    <a:lnTo>
                      <a:pt x="111" y="624"/>
                    </a:lnTo>
                    <a:lnTo>
                      <a:pt x="132" y="765"/>
                    </a:lnTo>
                    <a:lnTo>
                      <a:pt x="142" y="843"/>
                    </a:lnTo>
                    <a:lnTo>
                      <a:pt x="147" y="924"/>
                    </a:lnTo>
                    <a:lnTo>
                      <a:pt x="150" y="986"/>
                    </a:lnTo>
                    <a:lnTo>
                      <a:pt x="150" y="1157"/>
                    </a:lnTo>
                    <a:lnTo>
                      <a:pt x="153" y="1204"/>
                    </a:lnTo>
                    <a:lnTo>
                      <a:pt x="160" y="1265"/>
                    </a:lnTo>
                    <a:lnTo>
                      <a:pt x="178" y="1403"/>
                    </a:lnTo>
                    <a:lnTo>
                      <a:pt x="200" y="1071"/>
                    </a:lnTo>
                    <a:lnTo>
                      <a:pt x="207" y="986"/>
                    </a:lnTo>
                    <a:lnTo>
                      <a:pt x="216" y="864"/>
                    </a:lnTo>
                    <a:lnTo>
                      <a:pt x="221" y="800"/>
                    </a:lnTo>
                    <a:lnTo>
                      <a:pt x="223" y="736"/>
                    </a:lnTo>
                    <a:lnTo>
                      <a:pt x="223" y="654"/>
                    </a:lnTo>
                    <a:lnTo>
                      <a:pt x="225" y="561"/>
                    </a:lnTo>
                    <a:lnTo>
                      <a:pt x="225" y="469"/>
                    </a:lnTo>
                    <a:lnTo>
                      <a:pt x="223" y="414"/>
                    </a:lnTo>
                    <a:lnTo>
                      <a:pt x="218" y="319"/>
                    </a:lnTo>
                    <a:lnTo>
                      <a:pt x="215" y="269"/>
                    </a:lnTo>
                    <a:lnTo>
                      <a:pt x="208" y="212"/>
                    </a:lnTo>
                    <a:lnTo>
                      <a:pt x="201" y="179"/>
                    </a:lnTo>
                    <a:lnTo>
                      <a:pt x="193" y="143"/>
                    </a:lnTo>
                    <a:lnTo>
                      <a:pt x="185" y="115"/>
                    </a:lnTo>
                    <a:lnTo>
                      <a:pt x="176" y="86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802" name="Freeform 44">
              <a:extLst>
                <a:ext uri="{FF2B5EF4-FFF2-40B4-BE49-F238E27FC236}">
                  <a16:creationId xmlns:a16="http://schemas.microsoft.com/office/drawing/2014/main" id="{C80CFF94-555F-4ADE-9F6A-E84E49BB8C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4" y="819"/>
              <a:ext cx="88" cy="704"/>
            </a:xfrm>
            <a:custGeom>
              <a:avLst/>
              <a:gdLst>
                <a:gd name="T0" fmla="*/ 1 w 174"/>
                <a:gd name="T1" fmla="*/ 0 h 1409"/>
                <a:gd name="T2" fmla="*/ 1 w 174"/>
                <a:gd name="T3" fmla="*/ 0 h 1409"/>
                <a:gd name="T4" fmla="*/ 1 w 174"/>
                <a:gd name="T5" fmla="*/ 0 h 1409"/>
                <a:gd name="T6" fmla="*/ 1 w 174"/>
                <a:gd name="T7" fmla="*/ 0 h 1409"/>
                <a:gd name="T8" fmla="*/ 0 w 174"/>
                <a:gd name="T9" fmla="*/ 1 h 1409"/>
                <a:gd name="T10" fmla="*/ 1 w 174"/>
                <a:gd name="T11" fmla="*/ 1 h 1409"/>
                <a:gd name="T12" fmla="*/ 1 w 174"/>
                <a:gd name="T13" fmla="*/ 1 h 1409"/>
                <a:gd name="T14" fmla="*/ 1 w 174"/>
                <a:gd name="T15" fmla="*/ 0 h 1409"/>
                <a:gd name="T16" fmla="*/ 1 w 174"/>
                <a:gd name="T17" fmla="*/ 0 h 1409"/>
                <a:gd name="T18" fmla="*/ 1 w 174"/>
                <a:gd name="T19" fmla="*/ 0 h 1409"/>
                <a:gd name="T20" fmla="*/ 1 w 174"/>
                <a:gd name="T21" fmla="*/ 0 h 1409"/>
                <a:gd name="T22" fmla="*/ 1 w 174"/>
                <a:gd name="T23" fmla="*/ 0 h 140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74"/>
                <a:gd name="T37" fmla="*/ 0 h 1409"/>
                <a:gd name="T38" fmla="*/ 174 w 174"/>
                <a:gd name="T39" fmla="*/ 1409 h 140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74" h="1409">
                  <a:moveTo>
                    <a:pt x="55" y="0"/>
                  </a:moveTo>
                  <a:lnTo>
                    <a:pt x="26" y="203"/>
                  </a:lnTo>
                  <a:lnTo>
                    <a:pt x="5" y="469"/>
                  </a:lnTo>
                  <a:lnTo>
                    <a:pt x="9" y="1008"/>
                  </a:lnTo>
                  <a:lnTo>
                    <a:pt x="0" y="1260"/>
                  </a:lnTo>
                  <a:lnTo>
                    <a:pt x="83" y="1409"/>
                  </a:lnTo>
                  <a:lnTo>
                    <a:pt x="169" y="1260"/>
                  </a:lnTo>
                  <a:lnTo>
                    <a:pt x="166" y="1008"/>
                  </a:lnTo>
                  <a:lnTo>
                    <a:pt x="174" y="464"/>
                  </a:lnTo>
                  <a:lnTo>
                    <a:pt x="141" y="180"/>
                  </a:lnTo>
                  <a:lnTo>
                    <a:pt x="99" y="0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E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03" name="Arc 45">
              <a:extLst>
                <a:ext uri="{FF2B5EF4-FFF2-40B4-BE49-F238E27FC236}">
                  <a16:creationId xmlns:a16="http://schemas.microsoft.com/office/drawing/2014/main" id="{BBEFC04F-84A3-4F2E-B28D-C4511D0D9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9" y="772"/>
              <a:ext cx="49" cy="50"/>
            </a:xfrm>
            <a:custGeom>
              <a:avLst/>
              <a:gdLst>
                <a:gd name="T0" fmla="*/ 0 w 43200"/>
                <a:gd name="T1" fmla="*/ 0 h 32330"/>
                <a:gd name="T2" fmla="*/ 0 w 43200"/>
                <a:gd name="T3" fmla="*/ 0 h 32330"/>
                <a:gd name="T4" fmla="*/ 0 w 43200"/>
                <a:gd name="T5" fmla="*/ 0 h 32330"/>
                <a:gd name="T6" fmla="*/ 0 60000 65536"/>
                <a:gd name="T7" fmla="*/ 0 60000 65536"/>
                <a:gd name="T8" fmla="*/ 0 60000 65536"/>
                <a:gd name="T9" fmla="*/ 0 w 43200"/>
                <a:gd name="T10" fmla="*/ 0 h 32330"/>
                <a:gd name="T11" fmla="*/ 43200 w 43200"/>
                <a:gd name="T12" fmla="*/ 32330 h 3233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2330" fill="none" extrusionOk="0">
                  <a:moveTo>
                    <a:pt x="40346" y="0"/>
                  </a:moveTo>
                  <a:cubicBezTo>
                    <a:pt x="42216" y="3267"/>
                    <a:pt x="43200" y="6965"/>
                    <a:pt x="43200" y="10730"/>
                  </a:cubicBezTo>
                  <a:cubicBezTo>
                    <a:pt x="43200" y="22659"/>
                    <a:pt x="33529" y="32330"/>
                    <a:pt x="21600" y="32330"/>
                  </a:cubicBezTo>
                  <a:cubicBezTo>
                    <a:pt x="9670" y="32330"/>
                    <a:pt x="0" y="22659"/>
                    <a:pt x="0" y="10730"/>
                  </a:cubicBezTo>
                  <a:cubicBezTo>
                    <a:pt x="-1" y="8286"/>
                    <a:pt x="414" y="5860"/>
                    <a:pt x="1226" y="3556"/>
                  </a:cubicBezTo>
                </a:path>
                <a:path w="43200" h="32330" stroke="0" extrusionOk="0">
                  <a:moveTo>
                    <a:pt x="40346" y="0"/>
                  </a:moveTo>
                  <a:cubicBezTo>
                    <a:pt x="42216" y="3267"/>
                    <a:pt x="43200" y="6965"/>
                    <a:pt x="43200" y="10730"/>
                  </a:cubicBezTo>
                  <a:cubicBezTo>
                    <a:pt x="43200" y="22659"/>
                    <a:pt x="33529" y="32330"/>
                    <a:pt x="21600" y="32330"/>
                  </a:cubicBezTo>
                  <a:cubicBezTo>
                    <a:pt x="9670" y="32330"/>
                    <a:pt x="0" y="22659"/>
                    <a:pt x="0" y="10730"/>
                  </a:cubicBezTo>
                  <a:cubicBezTo>
                    <a:pt x="-1" y="8286"/>
                    <a:pt x="414" y="5860"/>
                    <a:pt x="1226" y="3556"/>
                  </a:cubicBezTo>
                  <a:lnTo>
                    <a:pt x="21600" y="10730"/>
                  </a:lnTo>
                  <a:lnTo>
                    <a:pt x="40346" y="0"/>
                  </a:lnTo>
                  <a:close/>
                </a:path>
              </a:pathLst>
            </a:custGeom>
            <a:solidFill>
              <a:srgbClr val="E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04" name="Freeform 46">
              <a:extLst>
                <a:ext uri="{FF2B5EF4-FFF2-40B4-BE49-F238E27FC236}">
                  <a16:creationId xmlns:a16="http://schemas.microsoft.com/office/drawing/2014/main" id="{7FB6140B-09C8-4C0B-9130-A1F9776DD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0" y="738"/>
              <a:ext cx="168" cy="108"/>
            </a:xfrm>
            <a:custGeom>
              <a:avLst/>
              <a:gdLst>
                <a:gd name="T0" fmla="*/ 0 w 337"/>
                <a:gd name="T1" fmla="*/ 0 h 217"/>
                <a:gd name="T2" fmla="*/ 0 w 337"/>
                <a:gd name="T3" fmla="*/ 0 h 217"/>
                <a:gd name="T4" fmla="*/ 0 w 337"/>
                <a:gd name="T5" fmla="*/ 0 h 217"/>
                <a:gd name="T6" fmla="*/ 0 w 337"/>
                <a:gd name="T7" fmla="*/ 0 h 217"/>
                <a:gd name="T8" fmla="*/ 0 w 337"/>
                <a:gd name="T9" fmla="*/ 0 h 217"/>
                <a:gd name="T10" fmla="*/ 0 w 337"/>
                <a:gd name="T11" fmla="*/ 0 h 217"/>
                <a:gd name="T12" fmla="*/ 0 w 337"/>
                <a:gd name="T13" fmla="*/ 0 h 217"/>
                <a:gd name="T14" fmla="*/ 0 w 337"/>
                <a:gd name="T15" fmla="*/ 0 h 217"/>
                <a:gd name="T16" fmla="*/ 0 w 337"/>
                <a:gd name="T17" fmla="*/ 0 h 2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37"/>
                <a:gd name="T28" fmla="*/ 0 h 217"/>
                <a:gd name="T29" fmla="*/ 337 w 337"/>
                <a:gd name="T30" fmla="*/ 217 h 21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37" h="217">
                  <a:moveTo>
                    <a:pt x="32" y="0"/>
                  </a:moveTo>
                  <a:lnTo>
                    <a:pt x="168" y="93"/>
                  </a:lnTo>
                  <a:lnTo>
                    <a:pt x="312" y="0"/>
                  </a:lnTo>
                  <a:lnTo>
                    <a:pt x="337" y="45"/>
                  </a:lnTo>
                  <a:lnTo>
                    <a:pt x="242" y="217"/>
                  </a:lnTo>
                  <a:lnTo>
                    <a:pt x="168" y="100"/>
                  </a:lnTo>
                  <a:lnTo>
                    <a:pt x="95" y="215"/>
                  </a:lnTo>
                  <a:lnTo>
                    <a:pt x="0" y="44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05" name="Freeform 47">
              <a:extLst>
                <a:ext uri="{FF2B5EF4-FFF2-40B4-BE49-F238E27FC236}">
                  <a16:creationId xmlns:a16="http://schemas.microsoft.com/office/drawing/2014/main" id="{65505A24-F895-4B8D-97BF-F0A4BC428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0" y="1033"/>
              <a:ext cx="47" cy="143"/>
            </a:xfrm>
            <a:custGeom>
              <a:avLst/>
              <a:gdLst>
                <a:gd name="T0" fmla="*/ 0 w 96"/>
                <a:gd name="T1" fmla="*/ 0 h 287"/>
                <a:gd name="T2" fmla="*/ 0 w 96"/>
                <a:gd name="T3" fmla="*/ 0 h 287"/>
                <a:gd name="T4" fmla="*/ 0 w 96"/>
                <a:gd name="T5" fmla="*/ 0 h 287"/>
                <a:gd name="T6" fmla="*/ 0 w 96"/>
                <a:gd name="T7" fmla="*/ 0 h 287"/>
                <a:gd name="T8" fmla="*/ 0 w 96"/>
                <a:gd name="T9" fmla="*/ 0 h 287"/>
                <a:gd name="T10" fmla="*/ 0 w 96"/>
                <a:gd name="T11" fmla="*/ 0 h 287"/>
                <a:gd name="T12" fmla="*/ 0 w 96"/>
                <a:gd name="T13" fmla="*/ 0 h 287"/>
                <a:gd name="T14" fmla="*/ 0 w 96"/>
                <a:gd name="T15" fmla="*/ 0 h 287"/>
                <a:gd name="T16" fmla="*/ 0 w 96"/>
                <a:gd name="T17" fmla="*/ 0 h 287"/>
                <a:gd name="T18" fmla="*/ 0 w 96"/>
                <a:gd name="T19" fmla="*/ 0 h 287"/>
                <a:gd name="T20" fmla="*/ 0 w 96"/>
                <a:gd name="T21" fmla="*/ 0 h 287"/>
                <a:gd name="T22" fmla="*/ 0 w 96"/>
                <a:gd name="T23" fmla="*/ 0 h 287"/>
                <a:gd name="T24" fmla="*/ 0 w 96"/>
                <a:gd name="T25" fmla="*/ 0 h 287"/>
                <a:gd name="T26" fmla="*/ 0 w 96"/>
                <a:gd name="T27" fmla="*/ 0 h 287"/>
                <a:gd name="T28" fmla="*/ 0 w 96"/>
                <a:gd name="T29" fmla="*/ 0 h 287"/>
                <a:gd name="T30" fmla="*/ 0 w 96"/>
                <a:gd name="T31" fmla="*/ 0 h 287"/>
                <a:gd name="T32" fmla="*/ 0 w 96"/>
                <a:gd name="T33" fmla="*/ 0 h 287"/>
                <a:gd name="T34" fmla="*/ 0 w 96"/>
                <a:gd name="T35" fmla="*/ 0 h 287"/>
                <a:gd name="T36" fmla="*/ 0 w 96"/>
                <a:gd name="T37" fmla="*/ 0 h 287"/>
                <a:gd name="T38" fmla="*/ 0 w 96"/>
                <a:gd name="T39" fmla="*/ 0 h 287"/>
                <a:gd name="T40" fmla="*/ 0 w 96"/>
                <a:gd name="T41" fmla="*/ 0 h 28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6"/>
                <a:gd name="T64" fmla="*/ 0 h 287"/>
                <a:gd name="T65" fmla="*/ 96 w 96"/>
                <a:gd name="T66" fmla="*/ 287 h 28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6" h="287">
                  <a:moveTo>
                    <a:pt x="79" y="0"/>
                  </a:moveTo>
                  <a:lnTo>
                    <a:pt x="88" y="29"/>
                  </a:lnTo>
                  <a:lnTo>
                    <a:pt x="92" y="54"/>
                  </a:lnTo>
                  <a:lnTo>
                    <a:pt x="96" y="89"/>
                  </a:lnTo>
                  <a:lnTo>
                    <a:pt x="96" y="111"/>
                  </a:lnTo>
                  <a:lnTo>
                    <a:pt x="96" y="138"/>
                  </a:lnTo>
                  <a:lnTo>
                    <a:pt x="89" y="173"/>
                  </a:lnTo>
                  <a:lnTo>
                    <a:pt x="79" y="211"/>
                  </a:lnTo>
                  <a:lnTo>
                    <a:pt x="70" y="236"/>
                  </a:lnTo>
                  <a:lnTo>
                    <a:pt x="58" y="260"/>
                  </a:lnTo>
                  <a:lnTo>
                    <a:pt x="43" y="277"/>
                  </a:lnTo>
                  <a:lnTo>
                    <a:pt x="25" y="286"/>
                  </a:lnTo>
                  <a:lnTo>
                    <a:pt x="10" y="287"/>
                  </a:lnTo>
                  <a:lnTo>
                    <a:pt x="4" y="269"/>
                  </a:lnTo>
                  <a:lnTo>
                    <a:pt x="3" y="254"/>
                  </a:lnTo>
                  <a:lnTo>
                    <a:pt x="0" y="229"/>
                  </a:lnTo>
                  <a:lnTo>
                    <a:pt x="0" y="206"/>
                  </a:lnTo>
                  <a:lnTo>
                    <a:pt x="6" y="146"/>
                  </a:lnTo>
                  <a:lnTo>
                    <a:pt x="43" y="17"/>
                  </a:lnTo>
                  <a:lnTo>
                    <a:pt x="63" y="3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20202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806" name="Group 48">
              <a:extLst>
                <a:ext uri="{FF2B5EF4-FFF2-40B4-BE49-F238E27FC236}">
                  <a16:creationId xmlns:a16="http://schemas.microsoft.com/office/drawing/2014/main" id="{8173E6F5-40A0-4B5F-87CA-B8384448CC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59" y="738"/>
              <a:ext cx="536" cy="904"/>
              <a:chOff x="4959" y="738"/>
              <a:chExt cx="536" cy="904"/>
            </a:xfrm>
          </p:grpSpPr>
          <p:grpSp>
            <p:nvGrpSpPr>
              <p:cNvPr id="33829" name="Group 49">
                <a:extLst>
                  <a:ext uri="{FF2B5EF4-FFF2-40B4-BE49-F238E27FC236}">
                    <a16:creationId xmlns:a16="http://schemas.microsoft.com/office/drawing/2014/main" id="{C2530C95-8015-491C-9EE8-1F8284A2A6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59" y="738"/>
                <a:ext cx="536" cy="904"/>
                <a:chOff x="4959" y="738"/>
                <a:chExt cx="536" cy="904"/>
              </a:xfrm>
            </p:grpSpPr>
            <p:grpSp>
              <p:nvGrpSpPr>
                <p:cNvPr id="33831" name="Group 50">
                  <a:extLst>
                    <a:ext uri="{FF2B5EF4-FFF2-40B4-BE49-F238E27FC236}">
                      <a16:creationId xmlns:a16="http://schemas.microsoft.com/office/drawing/2014/main" id="{4DC5E0B1-0627-4BE9-987B-C551DCBB300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59" y="738"/>
                  <a:ext cx="536" cy="904"/>
                  <a:chOff x="4959" y="738"/>
                  <a:chExt cx="536" cy="904"/>
                </a:xfrm>
              </p:grpSpPr>
              <p:sp>
                <p:nvSpPr>
                  <p:cNvPr id="33833" name="Freeform 51">
                    <a:extLst>
                      <a:ext uri="{FF2B5EF4-FFF2-40B4-BE49-F238E27FC236}">
                        <a16:creationId xmlns:a16="http://schemas.microsoft.com/office/drawing/2014/main" id="{489C941D-25E8-4D3C-9E4E-5317909A567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959" y="738"/>
                    <a:ext cx="536" cy="904"/>
                  </a:xfrm>
                  <a:custGeom>
                    <a:avLst/>
                    <a:gdLst>
                      <a:gd name="T0" fmla="*/ 1 w 1072"/>
                      <a:gd name="T1" fmla="*/ 1 h 1807"/>
                      <a:gd name="T2" fmla="*/ 1 w 1072"/>
                      <a:gd name="T3" fmla="*/ 1 h 1807"/>
                      <a:gd name="T4" fmla="*/ 1 w 1072"/>
                      <a:gd name="T5" fmla="*/ 1 h 1807"/>
                      <a:gd name="T6" fmla="*/ 1 w 1072"/>
                      <a:gd name="T7" fmla="*/ 1 h 1807"/>
                      <a:gd name="T8" fmla="*/ 2 w 1072"/>
                      <a:gd name="T9" fmla="*/ 1 h 1807"/>
                      <a:gd name="T10" fmla="*/ 2 w 1072"/>
                      <a:gd name="T11" fmla="*/ 1 h 1807"/>
                      <a:gd name="T12" fmla="*/ 2 w 1072"/>
                      <a:gd name="T13" fmla="*/ 1 h 1807"/>
                      <a:gd name="T14" fmla="*/ 2 w 1072"/>
                      <a:gd name="T15" fmla="*/ 1 h 1807"/>
                      <a:gd name="T16" fmla="*/ 1 w 1072"/>
                      <a:gd name="T17" fmla="*/ 1 h 1807"/>
                      <a:gd name="T18" fmla="*/ 1 w 1072"/>
                      <a:gd name="T19" fmla="*/ 1 h 1807"/>
                      <a:gd name="T20" fmla="*/ 1 w 1072"/>
                      <a:gd name="T21" fmla="*/ 1 h 1807"/>
                      <a:gd name="T22" fmla="*/ 1 w 1072"/>
                      <a:gd name="T23" fmla="*/ 2 h 1807"/>
                      <a:gd name="T24" fmla="*/ 1 w 1072"/>
                      <a:gd name="T25" fmla="*/ 2 h 1807"/>
                      <a:gd name="T26" fmla="*/ 1 w 1072"/>
                      <a:gd name="T27" fmla="*/ 2 h 1807"/>
                      <a:gd name="T28" fmla="*/ 1 w 1072"/>
                      <a:gd name="T29" fmla="*/ 1 h 1807"/>
                      <a:gd name="T30" fmla="*/ 1 w 1072"/>
                      <a:gd name="T31" fmla="*/ 2 h 1807"/>
                      <a:gd name="T32" fmla="*/ 1 w 1072"/>
                      <a:gd name="T33" fmla="*/ 2 h 1807"/>
                      <a:gd name="T34" fmla="*/ 1 w 1072"/>
                      <a:gd name="T35" fmla="*/ 2 h 1807"/>
                      <a:gd name="T36" fmla="*/ 1 w 1072"/>
                      <a:gd name="T37" fmla="*/ 2 h 1807"/>
                      <a:gd name="T38" fmla="*/ 1 w 1072"/>
                      <a:gd name="T39" fmla="*/ 2 h 1807"/>
                      <a:gd name="T40" fmla="*/ 1 w 1072"/>
                      <a:gd name="T41" fmla="*/ 2 h 1807"/>
                      <a:gd name="T42" fmla="*/ 1 w 1072"/>
                      <a:gd name="T43" fmla="*/ 2 h 1807"/>
                      <a:gd name="T44" fmla="*/ 1 w 1072"/>
                      <a:gd name="T45" fmla="*/ 2 h 1807"/>
                      <a:gd name="T46" fmla="*/ 1 w 1072"/>
                      <a:gd name="T47" fmla="*/ 2 h 1807"/>
                      <a:gd name="T48" fmla="*/ 1 w 1072"/>
                      <a:gd name="T49" fmla="*/ 2 h 1807"/>
                      <a:gd name="T50" fmla="*/ 1 w 1072"/>
                      <a:gd name="T51" fmla="*/ 2 h 1807"/>
                      <a:gd name="T52" fmla="*/ 1 w 1072"/>
                      <a:gd name="T53" fmla="*/ 2 h 1807"/>
                      <a:gd name="T54" fmla="*/ 1 w 1072"/>
                      <a:gd name="T55" fmla="*/ 1 h 1807"/>
                      <a:gd name="T56" fmla="*/ 1 w 1072"/>
                      <a:gd name="T57" fmla="*/ 1 h 1807"/>
                      <a:gd name="T58" fmla="*/ 1 w 1072"/>
                      <a:gd name="T59" fmla="*/ 1 h 1807"/>
                      <a:gd name="T60" fmla="*/ 1 w 1072"/>
                      <a:gd name="T61" fmla="*/ 0 h 1807"/>
                      <a:gd name="T62" fmla="*/ 1 w 1072"/>
                      <a:gd name="T63" fmla="*/ 1 h 1807"/>
                      <a:gd name="T64" fmla="*/ 1 w 1072"/>
                      <a:gd name="T65" fmla="*/ 1 h 1807"/>
                      <a:gd name="T66" fmla="*/ 1 w 1072"/>
                      <a:gd name="T67" fmla="*/ 1 h 1807"/>
                      <a:gd name="T68" fmla="*/ 1 w 1072"/>
                      <a:gd name="T69" fmla="*/ 1 h 1807"/>
                      <a:gd name="T70" fmla="*/ 1 w 1072"/>
                      <a:gd name="T71" fmla="*/ 1 h 1807"/>
                      <a:gd name="T72" fmla="*/ 1 w 1072"/>
                      <a:gd name="T73" fmla="*/ 1 h 1807"/>
                      <a:gd name="T74" fmla="*/ 1 w 1072"/>
                      <a:gd name="T75" fmla="*/ 1 h 1807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w 1072"/>
                      <a:gd name="T115" fmla="*/ 0 h 1807"/>
                      <a:gd name="T116" fmla="*/ 1072 w 1072"/>
                      <a:gd name="T117" fmla="*/ 1807 h 1807"/>
                    </a:gdLst>
                    <a:ahLst/>
                    <a:cxnLst>
                      <a:cxn ang="T76">
                        <a:pos x="T0" y="T1"/>
                      </a:cxn>
                      <a:cxn ang="T77">
                        <a:pos x="T2" y="T3"/>
                      </a:cxn>
                      <a:cxn ang="T78">
                        <a:pos x="T4" y="T5"/>
                      </a:cxn>
                      <a:cxn ang="T79">
                        <a:pos x="T6" y="T7"/>
                      </a:cxn>
                      <a:cxn ang="T80">
                        <a:pos x="T8" y="T9"/>
                      </a:cxn>
                      <a:cxn ang="T81">
                        <a:pos x="T10" y="T11"/>
                      </a:cxn>
                      <a:cxn ang="T82">
                        <a:pos x="T12" y="T13"/>
                      </a:cxn>
                      <a:cxn ang="T83">
                        <a:pos x="T14" y="T15"/>
                      </a:cxn>
                      <a:cxn ang="T84">
                        <a:pos x="T16" y="T17"/>
                      </a:cxn>
                      <a:cxn ang="T85">
                        <a:pos x="T18" y="T19"/>
                      </a:cxn>
                      <a:cxn ang="T86">
                        <a:pos x="T20" y="T21"/>
                      </a:cxn>
                      <a:cxn ang="T87">
                        <a:pos x="T22" y="T23"/>
                      </a:cxn>
                      <a:cxn ang="T88">
                        <a:pos x="T24" y="T25"/>
                      </a:cxn>
                      <a:cxn ang="T89">
                        <a:pos x="T26" y="T27"/>
                      </a:cxn>
                      <a:cxn ang="T90">
                        <a:pos x="T28" y="T29"/>
                      </a:cxn>
                      <a:cxn ang="T91">
                        <a:pos x="T30" y="T31"/>
                      </a:cxn>
                      <a:cxn ang="T92">
                        <a:pos x="T32" y="T33"/>
                      </a:cxn>
                      <a:cxn ang="T93">
                        <a:pos x="T34" y="T35"/>
                      </a:cxn>
                      <a:cxn ang="T94">
                        <a:pos x="T36" y="T37"/>
                      </a:cxn>
                      <a:cxn ang="T95">
                        <a:pos x="T38" y="T39"/>
                      </a:cxn>
                      <a:cxn ang="T96">
                        <a:pos x="T40" y="T41"/>
                      </a:cxn>
                      <a:cxn ang="T97">
                        <a:pos x="T42" y="T43"/>
                      </a:cxn>
                      <a:cxn ang="T98">
                        <a:pos x="T44" y="T45"/>
                      </a:cxn>
                      <a:cxn ang="T99">
                        <a:pos x="T46" y="T47"/>
                      </a:cxn>
                      <a:cxn ang="T100">
                        <a:pos x="T48" y="T49"/>
                      </a:cxn>
                      <a:cxn ang="T101">
                        <a:pos x="T50" y="T51"/>
                      </a:cxn>
                      <a:cxn ang="T102">
                        <a:pos x="T52" y="T53"/>
                      </a:cxn>
                      <a:cxn ang="T103">
                        <a:pos x="T54" y="T55"/>
                      </a:cxn>
                      <a:cxn ang="T104">
                        <a:pos x="T56" y="T57"/>
                      </a:cxn>
                      <a:cxn ang="T105">
                        <a:pos x="T58" y="T59"/>
                      </a:cxn>
                      <a:cxn ang="T106">
                        <a:pos x="T60" y="T61"/>
                      </a:cxn>
                      <a:cxn ang="T107">
                        <a:pos x="T62" y="T63"/>
                      </a:cxn>
                      <a:cxn ang="T108">
                        <a:pos x="T64" y="T65"/>
                      </a:cxn>
                      <a:cxn ang="T109">
                        <a:pos x="T66" y="T67"/>
                      </a:cxn>
                      <a:cxn ang="T110">
                        <a:pos x="T68" y="T69"/>
                      </a:cxn>
                      <a:cxn ang="T111">
                        <a:pos x="T70" y="T71"/>
                      </a:cxn>
                      <a:cxn ang="T112">
                        <a:pos x="T72" y="T73"/>
                      </a:cxn>
                      <a:cxn ang="T113">
                        <a:pos x="T74" y="T75"/>
                      </a:cxn>
                    </a:cxnLst>
                    <a:rect l="T114" t="T115" r="T116" b="T117"/>
                    <a:pathLst>
                      <a:path w="1072" h="1807">
                        <a:moveTo>
                          <a:pt x="629" y="676"/>
                        </a:moveTo>
                        <a:lnTo>
                          <a:pt x="661" y="675"/>
                        </a:lnTo>
                        <a:lnTo>
                          <a:pt x="705" y="667"/>
                        </a:lnTo>
                        <a:lnTo>
                          <a:pt x="780" y="634"/>
                        </a:lnTo>
                        <a:lnTo>
                          <a:pt x="945" y="571"/>
                        </a:lnTo>
                        <a:lnTo>
                          <a:pt x="970" y="576"/>
                        </a:lnTo>
                        <a:lnTo>
                          <a:pt x="993" y="586"/>
                        </a:lnTo>
                        <a:lnTo>
                          <a:pt x="1018" y="603"/>
                        </a:lnTo>
                        <a:lnTo>
                          <a:pt x="1035" y="621"/>
                        </a:lnTo>
                        <a:lnTo>
                          <a:pt x="1050" y="648"/>
                        </a:lnTo>
                        <a:lnTo>
                          <a:pt x="1060" y="678"/>
                        </a:lnTo>
                        <a:lnTo>
                          <a:pt x="1068" y="718"/>
                        </a:lnTo>
                        <a:lnTo>
                          <a:pt x="1071" y="751"/>
                        </a:lnTo>
                        <a:lnTo>
                          <a:pt x="1072" y="786"/>
                        </a:lnTo>
                        <a:lnTo>
                          <a:pt x="1071" y="827"/>
                        </a:lnTo>
                        <a:lnTo>
                          <a:pt x="1067" y="864"/>
                        </a:lnTo>
                        <a:lnTo>
                          <a:pt x="1060" y="896"/>
                        </a:lnTo>
                        <a:lnTo>
                          <a:pt x="928" y="939"/>
                        </a:lnTo>
                        <a:lnTo>
                          <a:pt x="873" y="968"/>
                        </a:lnTo>
                        <a:lnTo>
                          <a:pt x="837" y="990"/>
                        </a:lnTo>
                        <a:lnTo>
                          <a:pt x="806" y="1008"/>
                        </a:lnTo>
                        <a:lnTo>
                          <a:pt x="780" y="1020"/>
                        </a:lnTo>
                        <a:lnTo>
                          <a:pt x="741" y="1032"/>
                        </a:lnTo>
                        <a:lnTo>
                          <a:pt x="664" y="1056"/>
                        </a:lnTo>
                        <a:lnTo>
                          <a:pt x="533" y="1088"/>
                        </a:lnTo>
                        <a:lnTo>
                          <a:pt x="438" y="1106"/>
                        </a:lnTo>
                        <a:lnTo>
                          <a:pt x="414" y="1098"/>
                        </a:lnTo>
                        <a:lnTo>
                          <a:pt x="399" y="1080"/>
                        </a:lnTo>
                        <a:lnTo>
                          <a:pt x="388" y="1052"/>
                        </a:lnTo>
                        <a:lnTo>
                          <a:pt x="357" y="980"/>
                        </a:lnTo>
                        <a:lnTo>
                          <a:pt x="350" y="1025"/>
                        </a:lnTo>
                        <a:lnTo>
                          <a:pt x="343" y="1141"/>
                        </a:lnTo>
                        <a:lnTo>
                          <a:pt x="348" y="1231"/>
                        </a:lnTo>
                        <a:lnTo>
                          <a:pt x="357" y="1277"/>
                        </a:lnTo>
                        <a:lnTo>
                          <a:pt x="359" y="1327"/>
                        </a:lnTo>
                        <a:lnTo>
                          <a:pt x="359" y="1375"/>
                        </a:lnTo>
                        <a:lnTo>
                          <a:pt x="364" y="1433"/>
                        </a:lnTo>
                        <a:lnTo>
                          <a:pt x="375" y="1488"/>
                        </a:lnTo>
                        <a:lnTo>
                          <a:pt x="406" y="1647"/>
                        </a:lnTo>
                        <a:lnTo>
                          <a:pt x="385" y="1674"/>
                        </a:lnTo>
                        <a:lnTo>
                          <a:pt x="356" y="1695"/>
                        </a:lnTo>
                        <a:lnTo>
                          <a:pt x="313" y="1713"/>
                        </a:lnTo>
                        <a:lnTo>
                          <a:pt x="269" y="1723"/>
                        </a:lnTo>
                        <a:lnTo>
                          <a:pt x="232" y="1737"/>
                        </a:lnTo>
                        <a:lnTo>
                          <a:pt x="192" y="1752"/>
                        </a:lnTo>
                        <a:lnTo>
                          <a:pt x="156" y="1767"/>
                        </a:lnTo>
                        <a:lnTo>
                          <a:pt x="116" y="1780"/>
                        </a:lnTo>
                        <a:lnTo>
                          <a:pt x="65" y="1797"/>
                        </a:lnTo>
                        <a:lnTo>
                          <a:pt x="0" y="1807"/>
                        </a:lnTo>
                        <a:lnTo>
                          <a:pt x="30" y="1597"/>
                        </a:lnTo>
                        <a:lnTo>
                          <a:pt x="41" y="1530"/>
                        </a:lnTo>
                        <a:lnTo>
                          <a:pt x="47" y="1489"/>
                        </a:lnTo>
                        <a:lnTo>
                          <a:pt x="48" y="1444"/>
                        </a:lnTo>
                        <a:lnTo>
                          <a:pt x="52" y="1348"/>
                        </a:lnTo>
                        <a:lnTo>
                          <a:pt x="50" y="1214"/>
                        </a:lnTo>
                        <a:lnTo>
                          <a:pt x="29" y="872"/>
                        </a:lnTo>
                        <a:lnTo>
                          <a:pt x="41" y="341"/>
                        </a:lnTo>
                        <a:lnTo>
                          <a:pt x="90" y="50"/>
                        </a:lnTo>
                        <a:lnTo>
                          <a:pt x="216" y="26"/>
                        </a:lnTo>
                        <a:lnTo>
                          <a:pt x="260" y="14"/>
                        </a:lnTo>
                        <a:lnTo>
                          <a:pt x="291" y="5"/>
                        </a:lnTo>
                        <a:lnTo>
                          <a:pt x="310" y="0"/>
                        </a:lnTo>
                        <a:lnTo>
                          <a:pt x="334" y="0"/>
                        </a:lnTo>
                        <a:lnTo>
                          <a:pt x="353" y="3"/>
                        </a:lnTo>
                        <a:lnTo>
                          <a:pt x="372" y="8"/>
                        </a:lnTo>
                        <a:lnTo>
                          <a:pt x="393" y="20"/>
                        </a:lnTo>
                        <a:lnTo>
                          <a:pt x="414" y="38"/>
                        </a:lnTo>
                        <a:lnTo>
                          <a:pt x="433" y="62"/>
                        </a:lnTo>
                        <a:lnTo>
                          <a:pt x="445" y="84"/>
                        </a:lnTo>
                        <a:lnTo>
                          <a:pt x="452" y="116"/>
                        </a:lnTo>
                        <a:lnTo>
                          <a:pt x="452" y="158"/>
                        </a:lnTo>
                        <a:lnTo>
                          <a:pt x="458" y="214"/>
                        </a:lnTo>
                        <a:lnTo>
                          <a:pt x="481" y="334"/>
                        </a:lnTo>
                        <a:lnTo>
                          <a:pt x="547" y="631"/>
                        </a:lnTo>
                        <a:lnTo>
                          <a:pt x="557" y="672"/>
                        </a:lnTo>
                        <a:lnTo>
                          <a:pt x="587" y="676"/>
                        </a:lnTo>
                        <a:lnTo>
                          <a:pt x="629" y="676"/>
                        </a:lnTo>
                        <a:close/>
                      </a:path>
                    </a:pathLst>
                  </a:custGeom>
                  <a:solidFill>
                    <a:schemeClr val="tx2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3834" name="Freeform 52">
                    <a:extLst>
                      <a:ext uri="{FF2B5EF4-FFF2-40B4-BE49-F238E27FC236}">
                        <a16:creationId xmlns:a16="http://schemas.microsoft.com/office/drawing/2014/main" id="{5501C4CC-83A5-4455-A364-78AD0F4CFF7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75" y="980"/>
                    <a:ext cx="58" cy="243"/>
                  </a:xfrm>
                  <a:custGeom>
                    <a:avLst/>
                    <a:gdLst>
                      <a:gd name="T0" fmla="*/ 0 w 117"/>
                      <a:gd name="T1" fmla="*/ 1 h 485"/>
                      <a:gd name="T2" fmla="*/ 0 w 117"/>
                      <a:gd name="T3" fmla="*/ 1 h 485"/>
                      <a:gd name="T4" fmla="*/ 0 w 117"/>
                      <a:gd name="T5" fmla="*/ 1 h 485"/>
                      <a:gd name="T6" fmla="*/ 0 w 117"/>
                      <a:gd name="T7" fmla="*/ 1 h 485"/>
                      <a:gd name="T8" fmla="*/ 0 w 117"/>
                      <a:gd name="T9" fmla="*/ 0 h 48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7"/>
                      <a:gd name="T16" fmla="*/ 0 h 485"/>
                      <a:gd name="T17" fmla="*/ 117 w 117"/>
                      <a:gd name="T18" fmla="*/ 485 h 48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7" h="485">
                        <a:moveTo>
                          <a:pt x="117" y="485"/>
                        </a:moveTo>
                        <a:lnTo>
                          <a:pt x="75" y="325"/>
                        </a:lnTo>
                        <a:lnTo>
                          <a:pt x="34" y="162"/>
                        </a:lnTo>
                        <a:lnTo>
                          <a:pt x="42" y="27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tx2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33832" name="Freeform 53">
                  <a:extLst>
                    <a:ext uri="{FF2B5EF4-FFF2-40B4-BE49-F238E27FC236}">
                      <a16:creationId xmlns:a16="http://schemas.microsoft.com/office/drawing/2014/main" id="{2E48705E-0B42-4832-841A-B7F2A95E25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88" y="1075"/>
                  <a:ext cx="48" cy="49"/>
                </a:xfrm>
                <a:custGeom>
                  <a:avLst/>
                  <a:gdLst>
                    <a:gd name="T0" fmla="*/ 0 w 97"/>
                    <a:gd name="T1" fmla="*/ 0 h 99"/>
                    <a:gd name="T2" fmla="*/ 0 w 97"/>
                    <a:gd name="T3" fmla="*/ 0 h 99"/>
                    <a:gd name="T4" fmla="*/ 0 w 97"/>
                    <a:gd name="T5" fmla="*/ 0 h 99"/>
                    <a:gd name="T6" fmla="*/ 0 w 97"/>
                    <a:gd name="T7" fmla="*/ 0 h 99"/>
                    <a:gd name="T8" fmla="*/ 0 w 97"/>
                    <a:gd name="T9" fmla="*/ 0 h 99"/>
                    <a:gd name="T10" fmla="*/ 0 w 97"/>
                    <a:gd name="T11" fmla="*/ 0 h 9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97"/>
                    <a:gd name="T19" fmla="*/ 0 h 99"/>
                    <a:gd name="T20" fmla="*/ 97 w 97"/>
                    <a:gd name="T21" fmla="*/ 99 h 9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97" h="99">
                      <a:moveTo>
                        <a:pt x="97" y="3"/>
                      </a:moveTo>
                      <a:lnTo>
                        <a:pt x="51" y="0"/>
                      </a:lnTo>
                      <a:lnTo>
                        <a:pt x="26" y="12"/>
                      </a:lnTo>
                      <a:lnTo>
                        <a:pt x="8" y="36"/>
                      </a:lnTo>
                      <a:lnTo>
                        <a:pt x="0" y="72"/>
                      </a:lnTo>
                      <a:lnTo>
                        <a:pt x="1" y="99"/>
                      </a:lnTo>
                    </a:path>
                  </a:pathLst>
                </a:custGeom>
                <a:solidFill>
                  <a:schemeClr val="tx2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3830" name="Freeform 54">
                <a:extLst>
                  <a:ext uri="{FF2B5EF4-FFF2-40B4-BE49-F238E27FC236}">
                    <a16:creationId xmlns:a16="http://schemas.microsoft.com/office/drawing/2014/main" id="{1868CB54-C761-4CB3-B736-14D827FEA0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1" y="764"/>
                <a:ext cx="112" cy="701"/>
              </a:xfrm>
              <a:custGeom>
                <a:avLst/>
                <a:gdLst>
                  <a:gd name="T0" fmla="*/ 1 w 224"/>
                  <a:gd name="T1" fmla="*/ 0 h 1403"/>
                  <a:gd name="T2" fmla="*/ 1 w 224"/>
                  <a:gd name="T3" fmla="*/ 0 h 1403"/>
                  <a:gd name="T4" fmla="*/ 1 w 224"/>
                  <a:gd name="T5" fmla="*/ 0 h 1403"/>
                  <a:gd name="T6" fmla="*/ 1 w 224"/>
                  <a:gd name="T7" fmla="*/ 0 h 1403"/>
                  <a:gd name="T8" fmla="*/ 1 w 224"/>
                  <a:gd name="T9" fmla="*/ 0 h 1403"/>
                  <a:gd name="T10" fmla="*/ 1 w 224"/>
                  <a:gd name="T11" fmla="*/ 0 h 1403"/>
                  <a:gd name="T12" fmla="*/ 1 w 224"/>
                  <a:gd name="T13" fmla="*/ 0 h 1403"/>
                  <a:gd name="T14" fmla="*/ 1 w 224"/>
                  <a:gd name="T15" fmla="*/ 0 h 1403"/>
                  <a:gd name="T16" fmla="*/ 1 w 224"/>
                  <a:gd name="T17" fmla="*/ 0 h 1403"/>
                  <a:gd name="T18" fmla="*/ 1 w 224"/>
                  <a:gd name="T19" fmla="*/ 0 h 1403"/>
                  <a:gd name="T20" fmla="*/ 1 w 224"/>
                  <a:gd name="T21" fmla="*/ 0 h 1403"/>
                  <a:gd name="T22" fmla="*/ 1 w 224"/>
                  <a:gd name="T23" fmla="*/ 0 h 1403"/>
                  <a:gd name="T24" fmla="*/ 1 w 224"/>
                  <a:gd name="T25" fmla="*/ 0 h 1403"/>
                  <a:gd name="T26" fmla="*/ 1 w 224"/>
                  <a:gd name="T27" fmla="*/ 0 h 1403"/>
                  <a:gd name="T28" fmla="*/ 1 w 224"/>
                  <a:gd name="T29" fmla="*/ 0 h 1403"/>
                  <a:gd name="T30" fmla="*/ 1 w 224"/>
                  <a:gd name="T31" fmla="*/ 0 h 1403"/>
                  <a:gd name="T32" fmla="*/ 1 w 224"/>
                  <a:gd name="T33" fmla="*/ 0 h 1403"/>
                  <a:gd name="T34" fmla="*/ 1 w 224"/>
                  <a:gd name="T35" fmla="*/ 1 h 1403"/>
                  <a:gd name="T36" fmla="*/ 1 w 224"/>
                  <a:gd name="T37" fmla="*/ 1 h 1403"/>
                  <a:gd name="T38" fmla="*/ 1 w 224"/>
                  <a:gd name="T39" fmla="*/ 1 h 1403"/>
                  <a:gd name="T40" fmla="*/ 1 w 224"/>
                  <a:gd name="T41" fmla="*/ 1 h 1403"/>
                  <a:gd name="T42" fmla="*/ 1 w 224"/>
                  <a:gd name="T43" fmla="*/ 1 h 1403"/>
                  <a:gd name="T44" fmla="*/ 1 w 224"/>
                  <a:gd name="T45" fmla="*/ 0 h 1403"/>
                  <a:gd name="T46" fmla="*/ 1 w 224"/>
                  <a:gd name="T47" fmla="*/ 0 h 1403"/>
                  <a:gd name="T48" fmla="*/ 1 w 224"/>
                  <a:gd name="T49" fmla="*/ 0 h 1403"/>
                  <a:gd name="T50" fmla="*/ 1 w 224"/>
                  <a:gd name="T51" fmla="*/ 0 h 1403"/>
                  <a:gd name="T52" fmla="*/ 1 w 224"/>
                  <a:gd name="T53" fmla="*/ 0 h 1403"/>
                  <a:gd name="T54" fmla="*/ 0 w 224"/>
                  <a:gd name="T55" fmla="*/ 0 h 1403"/>
                  <a:gd name="T56" fmla="*/ 0 w 224"/>
                  <a:gd name="T57" fmla="*/ 0 h 1403"/>
                  <a:gd name="T58" fmla="*/ 1 w 224"/>
                  <a:gd name="T59" fmla="*/ 0 h 1403"/>
                  <a:gd name="T60" fmla="*/ 1 w 224"/>
                  <a:gd name="T61" fmla="*/ 0 h 1403"/>
                  <a:gd name="T62" fmla="*/ 1 w 224"/>
                  <a:gd name="T63" fmla="*/ 0 h 1403"/>
                  <a:gd name="T64" fmla="*/ 1 w 224"/>
                  <a:gd name="T65" fmla="*/ 0 h 1403"/>
                  <a:gd name="T66" fmla="*/ 1 w 224"/>
                  <a:gd name="T67" fmla="*/ 0 h 1403"/>
                  <a:gd name="T68" fmla="*/ 1 w 224"/>
                  <a:gd name="T69" fmla="*/ 0 h 1403"/>
                  <a:gd name="T70" fmla="*/ 1 w 224"/>
                  <a:gd name="T71" fmla="*/ 0 h 1403"/>
                  <a:gd name="T72" fmla="*/ 1 w 224"/>
                  <a:gd name="T73" fmla="*/ 0 h 1403"/>
                  <a:gd name="T74" fmla="*/ 1 w 224"/>
                  <a:gd name="T75" fmla="*/ 0 h 1403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24"/>
                  <a:gd name="T115" fmla="*/ 0 h 1403"/>
                  <a:gd name="T116" fmla="*/ 224 w 224"/>
                  <a:gd name="T117" fmla="*/ 1403 h 1403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24" h="1403">
                    <a:moveTo>
                      <a:pt x="87" y="0"/>
                    </a:moveTo>
                    <a:lnTo>
                      <a:pt x="122" y="94"/>
                    </a:lnTo>
                    <a:lnTo>
                      <a:pt x="136" y="128"/>
                    </a:lnTo>
                    <a:lnTo>
                      <a:pt x="149" y="158"/>
                    </a:lnTo>
                    <a:lnTo>
                      <a:pt x="174" y="197"/>
                    </a:lnTo>
                    <a:lnTo>
                      <a:pt x="194" y="221"/>
                    </a:lnTo>
                    <a:lnTo>
                      <a:pt x="224" y="257"/>
                    </a:lnTo>
                    <a:lnTo>
                      <a:pt x="120" y="262"/>
                    </a:lnTo>
                    <a:lnTo>
                      <a:pt x="191" y="365"/>
                    </a:lnTo>
                    <a:lnTo>
                      <a:pt x="152" y="471"/>
                    </a:lnTo>
                    <a:lnTo>
                      <a:pt x="137" y="516"/>
                    </a:lnTo>
                    <a:lnTo>
                      <a:pt x="125" y="564"/>
                    </a:lnTo>
                    <a:lnTo>
                      <a:pt x="113" y="624"/>
                    </a:lnTo>
                    <a:lnTo>
                      <a:pt x="93" y="765"/>
                    </a:lnTo>
                    <a:lnTo>
                      <a:pt x="83" y="843"/>
                    </a:lnTo>
                    <a:lnTo>
                      <a:pt x="77" y="924"/>
                    </a:lnTo>
                    <a:lnTo>
                      <a:pt x="75" y="986"/>
                    </a:lnTo>
                    <a:lnTo>
                      <a:pt x="75" y="1157"/>
                    </a:lnTo>
                    <a:lnTo>
                      <a:pt x="72" y="1204"/>
                    </a:lnTo>
                    <a:lnTo>
                      <a:pt x="65" y="1265"/>
                    </a:lnTo>
                    <a:lnTo>
                      <a:pt x="47" y="1403"/>
                    </a:lnTo>
                    <a:lnTo>
                      <a:pt x="25" y="1071"/>
                    </a:lnTo>
                    <a:lnTo>
                      <a:pt x="18" y="986"/>
                    </a:lnTo>
                    <a:lnTo>
                      <a:pt x="8" y="864"/>
                    </a:lnTo>
                    <a:lnTo>
                      <a:pt x="4" y="800"/>
                    </a:lnTo>
                    <a:lnTo>
                      <a:pt x="1" y="736"/>
                    </a:lnTo>
                    <a:lnTo>
                      <a:pt x="1" y="654"/>
                    </a:lnTo>
                    <a:lnTo>
                      <a:pt x="0" y="561"/>
                    </a:lnTo>
                    <a:lnTo>
                      <a:pt x="0" y="469"/>
                    </a:lnTo>
                    <a:lnTo>
                      <a:pt x="1" y="414"/>
                    </a:lnTo>
                    <a:lnTo>
                      <a:pt x="7" y="319"/>
                    </a:lnTo>
                    <a:lnTo>
                      <a:pt x="9" y="269"/>
                    </a:lnTo>
                    <a:lnTo>
                      <a:pt x="16" y="212"/>
                    </a:lnTo>
                    <a:lnTo>
                      <a:pt x="23" y="179"/>
                    </a:lnTo>
                    <a:lnTo>
                      <a:pt x="32" y="143"/>
                    </a:lnTo>
                    <a:lnTo>
                      <a:pt x="40" y="115"/>
                    </a:lnTo>
                    <a:lnTo>
                      <a:pt x="48" y="86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807" name="Group 55">
              <a:extLst>
                <a:ext uri="{FF2B5EF4-FFF2-40B4-BE49-F238E27FC236}">
                  <a16:creationId xmlns:a16="http://schemas.microsoft.com/office/drawing/2014/main" id="{9F9BF067-5666-435E-8D7B-7B1A0C483D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8" y="978"/>
              <a:ext cx="310" cy="255"/>
              <a:chOff x="4088" y="978"/>
              <a:chExt cx="310" cy="255"/>
            </a:xfrm>
          </p:grpSpPr>
          <p:grpSp>
            <p:nvGrpSpPr>
              <p:cNvPr id="33825" name="Group 56">
                <a:extLst>
                  <a:ext uri="{FF2B5EF4-FFF2-40B4-BE49-F238E27FC236}">
                    <a16:creationId xmlns:a16="http://schemas.microsoft.com/office/drawing/2014/main" id="{1406FD07-CB62-41D4-B91A-A902587033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88" y="978"/>
                <a:ext cx="310" cy="255"/>
                <a:chOff x="4088" y="978"/>
                <a:chExt cx="310" cy="255"/>
              </a:xfrm>
            </p:grpSpPr>
            <p:sp>
              <p:nvSpPr>
                <p:cNvPr id="33827" name="Freeform 57">
                  <a:extLst>
                    <a:ext uri="{FF2B5EF4-FFF2-40B4-BE49-F238E27FC236}">
                      <a16:creationId xmlns:a16="http://schemas.microsoft.com/office/drawing/2014/main" id="{4009F181-0273-4805-A161-BBD4DD9A42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50" y="988"/>
                  <a:ext cx="148" cy="166"/>
                </a:xfrm>
                <a:custGeom>
                  <a:avLst/>
                  <a:gdLst>
                    <a:gd name="T0" fmla="*/ 0 w 295"/>
                    <a:gd name="T1" fmla="*/ 0 h 334"/>
                    <a:gd name="T2" fmla="*/ 1 w 295"/>
                    <a:gd name="T3" fmla="*/ 0 h 334"/>
                    <a:gd name="T4" fmla="*/ 1 w 295"/>
                    <a:gd name="T5" fmla="*/ 0 h 334"/>
                    <a:gd name="T6" fmla="*/ 1 w 295"/>
                    <a:gd name="T7" fmla="*/ 0 h 334"/>
                    <a:gd name="T8" fmla="*/ 1 w 295"/>
                    <a:gd name="T9" fmla="*/ 0 h 334"/>
                    <a:gd name="T10" fmla="*/ 1 w 295"/>
                    <a:gd name="T11" fmla="*/ 0 h 334"/>
                    <a:gd name="T12" fmla="*/ 1 w 295"/>
                    <a:gd name="T13" fmla="*/ 0 h 334"/>
                    <a:gd name="T14" fmla="*/ 1 w 295"/>
                    <a:gd name="T15" fmla="*/ 0 h 334"/>
                    <a:gd name="T16" fmla="*/ 0 w 295"/>
                    <a:gd name="T17" fmla="*/ 0 h 33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95"/>
                    <a:gd name="T28" fmla="*/ 0 h 334"/>
                    <a:gd name="T29" fmla="*/ 295 w 295"/>
                    <a:gd name="T30" fmla="*/ 334 h 334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95" h="334">
                      <a:moveTo>
                        <a:pt x="0" y="0"/>
                      </a:moveTo>
                      <a:lnTo>
                        <a:pt x="281" y="104"/>
                      </a:lnTo>
                      <a:lnTo>
                        <a:pt x="291" y="162"/>
                      </a:lnTo>
                      <a:lnTo>
                        <a:pt x="295" y="216"/>
                      </a:lnTo>
                      <a:lnTo>
                        <a:pt x="283" y="279"/>
                      </a:lnTo>
                      <a:lnTo>
                        <a:pt x="258" y="334"/>
                      </a:lnTo>
                      <a:lnTo>
                        <a:pt x="158" y="257"/>
                      </a:lnTo>
                      <a:lnTo>
                        <a:pt x="46" y="2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C08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28" name="Freeform 58">
                  <a:extLst>
                    <a:ext uri="{FF2B5EF4-FFF2-40B4-BE49-F238E27FC236}">
                      <a16:creationId xmlns:a16="http://schemas.microsoft.com/office/drawing/2014/main" id="{6225D4F1-4F89-4F88-9E11-06A98ACBC9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88" y="978"/>
                  <a:ext cx="241" cy="255"/>
                </a:xfrm>
                <a:custGeom>
                  <a:avLst/>
                  <a:gdLst>
                    <a:gd name="T0" fmla="*/ 1 w 481"/>
                    <a:gd name="T1" fmla="*/ 1 h 510"/>
                    <a:gd name="T2" fmla="*/ 1 w 481"/>
                    <a:gd name="T3" fmla="*/ 1 h 510"/>
                    <a:gd name="T4" fmla="*/ 1 w 481"/>
                    <a:gd name="T5" fmla="*/ 1 h 510"/>
                    <a:gd name="T6" fmla="*/ 1 w 481"/>
                    <a:gd name="T7" fmla="*/ 1 h 510"/>
                    <a:gd name="T8" fmla="*/ 1 w 481"/>
                    <a:gd name="T9" fmla="*/ 0 h 510"/>
                    <a:gd name="T10" fmla="*/ 1 w 481"/>
                    <a:gd name="T11" fmla="*/ 1 h 510"/>
                    <a:gd name="T12" fmla="*/ 1 w 481"/>
                    <a:gd name="T13" fmla="*/ 1 h 510"/>
                    <a:gd name="T14" fmla="*/ 1 w 481"/>
                    <a:gd name="T15" fmla="*/ 1 h 510"/>
                    <a:gd name="T16" fmla="*/ 1 w 481"/>
                    <a:gd name="T17" fmla="*/ 1 h 510"/>
                    <a:gd name="T18" fmla="*/ 1 w 481"/>
                    <a:gd name="T19" fmla="*/ 1 h 510"/>
                    <a:gd name="T20" fmla="*/ 1 w 481"/>
                    <a:gd name="T21" fmla="*/ 1 h 510"/>
                    <a:gd name="T22" fmla="*/ 1 w 481"/>
                    <a:gd name="T23" fmla="*/ 1 h 510"/>
                    <a:gd name="T24" fmla="*/ 1 w 481"/>
                    <a:gd name="T25" fmla="*/ 1 h 510"/>
                    <a:gd name="T26" fmla="*/ 1 w 481"/>
                    <a:gd name="T27" fmla="*/ 1 h 510"/>
                    <a:gd name="T28" fmla="*/ 1 w 481"/>
                    <a:gd name="T29" fmla="*/ 1 h 510"/>
                    <a:gd name="T30" fmla="*/ 1 w 481"/>
                    <a:gd name="T31" fmla="*/ 1 h 510"/>
                    <a:gd name="T32" fmla="*/ 1 w 481"/>
                    <a:gd name="T33" fmla="*/ 1 h 510"/>
                    <a:gd name="T34" fmla="*/ 1 w 481"/>
                    <a:gd name="T35" fmla="*/ 1 h 510"/>
                    <a:gd name="T36" fmla="*/ 1 w 481"/>
                    <a:gd name="T37" fmla="*/ 1 h 510"/>
                    <a:gd name="T38" fmla="*/ 1 w 481"/>
                    <a:gd name="T39" fmla="*/ 1 h 510"/>
                    <a:gd name="T40" fmla="*/ 0 w 481"/>
                    <a:gd name="T41" fmla="*/ 1 h 510"/>
                    <a:gd name="T42" fmla="*/ 1 w 481"/>
                    <a:gd name="T43" fmla="*/ 1 h 510"/>
                    <a:gd name="T44" fmla="*/ 1 w 481"/>
                    <a:gd name="T45" fmla="*/ 1 h 510"/>
                    <a:gd name="T46" fmla="*/ 1 w 481"/>
                    <a:gd name="T47" fmla="*/ 1 h 510"/>
                    <a:gd name="T48" fmla="*/ 1 w 481"/>
                    <a:gd name="T49" fmla="*/ 1 h 510"/>
                    <a:gd name="T50" fmla="*/ 1 w 481"/>
                    <a:gd name="T51" fmla="*/ 1 h 510"/>
                    <a:gd name="T52" fmla="*/ 1 w 481"/>
                    <a:gd name="T53" fmla="*/ 1 h 510"/>
                    <a:gd name="T54" fmla="*/ 1 w 481"/>
                    <a:gd name="T55" fmla="*/ 1 h 510"/>
                    <a:gd name="T56" fmla="*/ 1 w 481"/>
                    <a:gd name="T57" fmla="*/ 1 h 510"/>
                    <a:gd name="T58" fmla="*/ 1 w 481"/>
                    <a:gd name="T59" fmla="*/ 1 h 510"/>
                    <a:gd name="T60" fmla="*/ 1 w 481"/>
                    <a:gd name="T61" fmla="*/ 1 h 510"/>
                    <a:gd name="T62" fmla="*/ 1 w 481"/>
                    <a:gd name="T63" fmla="*/ 1 h 510"/>
                    <a:gd name="T64" fmla="*/ 1 w 481"/>
                    <a:gd name="T65" fmla="*/ 1 h 510"/>
                    <a:gd name="T66" fmla="*/ 1 w 481"/>
                    <a:gd name="T67" fmla="*/ 1 h 510"/>
                    <a:gd name="T68" fmla="*/ 1 w 481"/>
                    <a:gd name="T69" fmla="*/ 1 h 510"/>
                    <a:gd name="T70" fmla="*/ 1 w 481"/>
                    <a:gd name="T71" fmla="*/ 1 h 510"/>
                    <a:gd name="T72" fmla="*/ 1 w 481"/>
                    <a:gd name="T73" fmla="*/ 1 h 510"/>
                    <a:gd name="T74" fmla="*/ 1 w 481"/>
                    <a:gd name="T75" fmla="*/ 1 h 510"/>
                    <a:gd name="T76" fmla="*/ 1 w 481"/>
                    <a:gd name="T77" fmla="*/ 1 h 510"/>
                    <a:gd name="T78" fmla="*/ 1 w 481"/>
                    <a:gd name="T79" fmla="*/ 1 h 510"/>
                    <a:gd name="T80" fmla="*/ 1 w 481"/>
                    <a:gd name="T81" fmla="*/ 1 h 510"/>
                    <a:gd name="T82" fmla="*/ 1 w 481"/>
                    <a:gd name="T83" fmla="*/ 1 h 510"/>
                    <a:gd name="T84" fmla="*/ 1 w 481"/>
                    <a:gd name="T85" fmla="*/ 1 h 510"/>
                    <a:gd name="T86" fmla="*/ 1 w 481"/>
                    <a:gd name="T87" fmla="*/ 1 h 510"/>
                    <a:gd name="T88" fmla="*/ 1 w 481"/>
                    <a:gd name="T89" fmla="*/ 1 h 510"/>
                    <a:gd name="T90" fmla="*/ 1 w 481"/>
                    <a:gd name="T91" fmla="*/ 1 h 510"/>
                    <a:gd name="T92" fmla="*/ 1 w 481"/>
                    <a:gd name="T93" fmla="*/ 1 h 510"/>
                    <a:gd name="T94" fmla="*/ 1 w 481"/>
                    <a:gd name="T95" fmla="*/ 1 h 510"/>
                    <a:gd name="T96" fmla="*/ 1 w 481"/>
                    <a:gd name="T97" fmla="*/ 1 h 510"/>
                    <a:gd name="T98" fmla="*/ 1 w 481"/>
                    <a:gd name="T99" fmla="*/ 1 h 510"/>
                    <a:gd name="T100" fmla="*/ 1 w 481"/>
                    <a:gd name="T101" fmla="*/ 1 h 510"/>
                    <a:gd name="T102" fmla="*/ 1 w 481"/>
                    <a:gd name="T103" fmla="*/ 1 h 510"/>
                    <a:gd name="T104" fmla="*/ 1 w 481"/>
                    <a:gd name="T105" fmla="*/ 1 h 510"/>
                    <a:gd name="T106" fmla="*/ 1 w 481"/>
                    <a:gd name="T107" fmla="*/ 1 h 510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w 481"/>
                    <a:gd name="T163" fmla="*/ 0 h 510"/>
                    <a:gd name="T164" fmla="*/ 481 w 481"/>
                    <a:gd name="T165" fmla="*/ 510 h 510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T162" t="T163" r="T164" b="T165"/>
                  <a:pathLst>
                    <a:path w="481" h="510">
                      <a:moveTo>
                        <a:pt x="457" y="97"/>
                      </a:moveTo>
                      <a:lnTo>
                        <a:pt x="443" y="81"/>
                      </a:lnTo>
                      <a:lnTo>
                        <a:pt x="425" y="67"/>
                      </a:lnTo>
                      <a:lnTo>
                        <a:pt x="404" y="60"/>
                      </a:lnTo>
                      <a:lnTo>
                        <a:pt x="377" y="54"/>
                      </a:lnTo>
                      <a:lnTo>
                        <a:pt x="364" y="45"/>
                      </a:lnTo>
                      <a:lnTo>
                        <a:pt x="345" y="30"/>
                      </a:lnTo>
                      <a:lnTo>
                        <a:pt x="318" y="12"/>
                      </a:lnTo>
                      <a:lnTo>
                        <a:pt x="291" y="1"/>
                      </a:lnTo>
                      <a:lnTo>
                        <a:pt x="275" y="0"/>
                      </a:lnTo>
                      <a:lnTo>
                        <a:pt x="260" y="3"/>
                      </a:lnTo>
                      <a:lnTo>
                        <a:pt x="239" y="12"/>
                      </a:lnTo>
                      <a:lnTo>
                        <a:pt x="221" y="21"/>
                      </a:lnTo>
                      <a:lnTo>
                        <a:pt x="205" y="27"/>
                      </a:lnTo>
                      <a:lnTo>
                        <a:pt x="181" y="31"/>
                      </a:lnTo>
                      <a:lnTo>
                        <a:pt x="144" y="31"/>
                      </a:lnTo>
                      <a:lnTo>
                        <a:pt x="119" y="30"/>
                      </a:lnTo>
                      <a:lnTo>
                        <a:pt x="93" y="24"/>
                      </a:lnTo>
                      <a:lnTo>
                        <a:pt x="68" y="18"/>
                      </a:lnTo>
                      <a:lnTo>
                        <a:pt x="52" y="18"/>
                      </a:lnTo>
                      <a:lnTo>
                        <a:pt x="34" y="22"/>
                      </a:lnTo>
                      <a:lnTo>
                        <a:pt x="18" y="31"/>
                      </a:lnTo>
                      <a:lnTo>
                        <a:pt x="13" y="40"/>
                      </a:lnTo>
                      <a:lnTo>
                        <a:pt x="13" y="51"/>
                      </a:lnTo>
                      <a:lnTo>
                        <a:pt x="15" y="66"/>
                      </a:lnTo>
                      <a:lnTo>
                        <a:pt x="26" y="75"/>
                      </a:lnTo>
                      <a:lnTo>
                        <a:pt x="69" y="78"/>
                      </a:lnTo>
                      <a:lnTo>
                        <a:pt x="104" y="91"/>
                      </a:lnTo>
                      <a:lnTo>
                        <a:pt x="160" y="103"/>
                      </a:lnTo>
                      <a:lnTo>
                        <a:pt x="170" y="108"/>
                      </a:lnTo>
                      <a:lnTo>
                        <a:pt x="180" y="124"/>
                      </a:lnTo>
                      <a:lnTo>
                        <a:pt x="180" y="139"/>
                      </a:lnTo>
                      <a:lnTo>
                        <a:pt x="165" y="184"/>
                      </a:lnTo>
                      <a:lnTo>
                        <a:pt x="144" y="222"/>
                      </a:lnTo>
                      <a:lnTo>
                        <a:pt x="116" y="256"/>
                      </a:lnTo>
                      <a:lnTo>
                        <a:pt x="73" y="294"/>
                      </a:lnTo>
                      <a:lnTo>
                        <a:pt x="43" y="321"/>
                      </a:lnTo>
                      <a:lnTo>
                        <a:pt x="30" y="329"/>
                      </a:lnTo>
                      <a:lnTo>
                        <a:pt x="18" y="338"/>
                      </a:lnTo>
                      <a:lnTo>
                        <a:pt x="7" y="348"/>
                      </a:lnTo>
                      <a:lnTo>
                        <a:pt x="0" y="360"/>
                      </a:lnTo>
                      <a:lnTo>
                        <a:pt x="0" y="372"/>
                      </a:lnTo>
                      <a:lnTo>
                        <a:pt x="4" y="386"/>
                      </a:lnTo>
                      <a:lnTo>
                        <a:pt x="11" y="392"/>
                      </a:lnTo>
                      <a:lnTo>
                        <a:pt x="25" y="395"/>
                      </a:lnTo>
                      <a:lnTo>
                        <a:pt x="41" y="393"/>
                      </a:lnTo>
                      <a:lnTo>
                        <a:pt x="56" y="386"/>
                      </a:lnTo>
                      <a:lnTo>
                        <a:pt x="86" y="360"/>
                      </a:lnTo>
                      <a:lnTo>
                        <a:pt x="138" y="326"/>
                      </a:lnTo>
                      <a:lnTo>
                        <a:pt x="180" y="283"/>
                      </a:lnTo>
                      <a:lnTo>
                        <a:pt x="185" y="277"/>
                      </a:lnTo>
                      <a:lnTo>
                        <a:pt x="192" y="279"/>
                      </a:lnTo>
                      <a:lnTo>
                        <a:pt x="190" y="291"/>
                      </a:lnTo>
                      <a:lnTo>
                        <a:pt x="148" y="336"/>
                      </a:lnTo>
                      <a:lnTo>
                        <a:pt x="134" y="351"/>
                      </a:lnTo>
                      <a:lnTo>
                        <a:pt x="119" y="369"/>
                      </a:lnTo>
                      <a:lnTo>
                        <a:pt x="87" y="393"/>
                      </a:lnTo>
                      <a:lnTo>
                        <a:pt x="70" y="410"/>
                      </a:lnTo>
                      <a:lnTo>
                        <a:pt x="65" y="423"/>
                      </a:lnTo>
                      <a:lnTo>
                        <a:pt x="66" y="438"/>
                      </a:lnTo>
                      <a:lnTo>
                        <a:pt x="73" y="449"/>
                      </a:lnTo>
                      <a:lnTo>
                        <a:pt x="83" y="456"/>
                      </a:lnTo>
                      <a:lnTo>
                        <a:pt x="98" y="459"/>
                      </a:lnTo>
                      <a:lnTo>
                        <a:pt x="115" y="456"/>
                      </a:lnTo>
                      <a:lnTo>
                        <a:pt x="127" y="449"/>
                      </a:lnTo>
                      <a:lnTo>
                        <a:pt x="166" y="413"/>
                      </a:lnTo>
                      <a:lnTo>
                        <a:pt x="191" y="384"/>
                      </a:lnTo>
                      <a:lnTo>
                        <a:pt x="255" y="304"/>
                      </a:lnTo>
                      <a:lnTo>
                        <a:pt x="233" y="338"/>
                      </a:lnTo>
                      <a:lnTo>
                        <a:pt x="223" y="365"/>
                      </a:lnTo>
                      <a:lnTo>
                        <a:pt x="217" y="378"/>
                      </a:lnTo>
                      <a:lnTo>
                        <a:pt x="206" y="404"/>
                      </a:lnTo>
                      <a:lnTo>
                        <a:pt x="178" y="444"/>
                      </a:lnTo>
                      <a:lnTo>
                        <a:pt x="169" y="458"/>
                      </a:lnTo>
                      <a:lnTo>
                        <a:pt x="163" y="471"/>
                      </a:lnTo>
                      <a:lnTo>
                        <a:pt x="162" y="483"/>
                      </a:lnTo>
                      <a:lnTo>
                        <a:pt x="165" y="494"/>
                      </a:lnTo>
                      <a:lnTo>
                        <a:pt x="173" y="504"/>
                      </a:lnTo>
                      <a:lnTo>
                        <a:pt x="184" y="510"/>
                      </a:lnTo>
                      <a:lnTo>
                        <a:pt x="201" y="509"/>
                      </a:lnTo>
                      <a:lnTo>
                        <a:pt x="213" y="504"/>
                      </a:lnTo>
                      <a:lnTo>
                        <a:pt x="264" y="426"/>
                      </a:lnTo>
                      <a:lnTo>
                        <a:pt x="293" y="363"/>
                      </a:lnTo>
                      <a:lnTo>
                        <a:pt x="317" y="314"/>
                      </a:lnTo>
                      <a:lnTo>
                        <a:pt x="321" y="306"/>
                      </a:lnTo>
                      <a:lnTo>
                        <a:pt x="330" y="306"/>
                      </a:lnTo>
                      <a:lnTo>
                        <a:pt x="332" y="312"/>
                      </a:lnTo>
                      <a:lnTo>
                        <a:pt x="328" y="348"/>
                      </a:lnTo>
                      <a:lnTo>
                        <a:pt x="325" y="377"/>
                      </a:lnTo>
                      <a:lnTo>
                        <a:pt x="327" y="414"/>
                      </a:lnTo>
                      <a:lnTo>
                        <a:pt x="327" y="464"/>
                      </a:lnTo>
                      <a:lnTo>
                        <a:pt x="328" y="473"/>
                      </a:lnTo>
                      <a:lnTo>
                        <a:pt x="334" y="482"/>
                      </a:lnTo>
                      <a:lnTo>
                        <a:pt x="343" y="491"/>
                      </a:lnTo>
                      <a:lnTo>
                        <a:pt x="356" y="494"/>
                      </a:lnTo>
                      <a:lnTo>
                        <a:pt x="368" y="492"/>
                      </a:lnTo>
                      <a:lnTo>
                        <a:pt x="377" y="486"/>
                      </a:lnTo>
                      <a:lnTo>
                        <a:pt x="382" y="474"/>
                      </a:lnTo>
                      <a:lnTo>
                        <a:pt x="384" y="446"/>
                      </a:lnTo>
                      <a:lnTo>
                        <a:pt x="381" y="408"/>
                      </a:lnTo>
                      <a:lnTo>
                        <a:pt x="381" y="377"/>
                      </a:lnTo>
                      <a:lnTo>
                        <a:pt x="386" y="326"/>
                      </a:lnTo>
                      <a:lnTo>
                        <a:pt x="391" y="306"/>
                      </a:lnTo>
                      <a:lnTo>
                        <a:pt x="397" y="289"/>
                      </a:lnTo>
                      <a:lnTo>
                        <a:pt x="446" y="217"/>
                      </a:lnTo>
                      <a:lnTo>
                        <a:pt x="479" y="165"/>
                      </a:lnTo>
                      <a:lnTo>
                        <a:pt x="481" y="144"/>
                      </a:lnTo>
                      <a:lnTo>
                        <a:pt x="472" y="118"/>
                      </a:lnTo>
                      <a:lnTo>
                        <a:pt x="457" y="97"/>
                      </a:lnTo>
                      <a:close/>
                    </a:path>
                  </a:pathLst>
                </a:custGeom>
                <a:solidFill>
                  <a:srgbClr val="FFC08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3826" name="Arc 59">
                <a:extLst>
                  <a:ext uri="{FF2B5EF4-FFF2-40B4-BE49-F238E27FC236}">
                    <a16:creationId xmlns:a16="http://schemas.microsoft.com/office/drawing/2014/main" id="{E32C8C28-F3D5-401E-8DF8-64B69A8485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8" y="1018"/>
                <a:ext cx="25" cy="47"/>
              </a:xfrm>
              <a:custGeom>
                <a:avLst/>
                <a:gdLst>
                  <a:gd name="T0" fmla="*/ 0 w 27739"/>
                  <a:gd name="T1" fmla="*/ 0 h 25592"/>
                  <a:gd name="T2" fmla="*/ 0 w 27739"/>
                  <a:gd name="T3" fmla="*/ 0 h 25592"/>
                  <a:gd name="T4" fmla="*/ 0 w 27739"/>
                  <a:gd name="T5" fmla="*/ 0 h 25592"/>
                  <a:gd name="T6" fmla="*/ 0 60000 65536"/>
                  <a:gd name="T7" fmla="*/ 0 60000 65536"/>
                  <a:gd name="T8" fmla="*/ 0 60000 65536"/>
                  <a:gd name="T9" fmla="*/ 0 w 27739"/>
                  <a:gd name="T10" fmla="*/ 0 h 25592"/>
                  <a:gd name="T11" fmla="*/ 27739 w 27739"/>
                  <a:gd name="T12" fmla="*/ 25592 h 255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739" h="25592" fill="none" extrusionOk="0">
                    <a:moveTo>
                      <a:pt x="27366" y="0"/>
                    </a:moveTo>
                    <a:cubicBezTo>
                      <a:pt x="27614" y="1316"/>
                      <a:pt x="27739" y="2652"/>
                      <a:pt x="27739" y="3992"/>
                    </a:cubicBezTo>
                    <a:cubicBezTo>
                      <a:pt x="27739" y="15921"/>
                      <a:pt x="18068" y="25592"/>
                      <a:pt x="6139" y="25592"/>
                    </a:cubicBezTo>
                    <a:cubicBezTo>
                      <a:pt x="4060" y="25592"/>
                      <a:pt x="1992" y="25291"/>
                      <a:pt x="-1" y="24701"/>
                    </a:cubicBezTo>
                  </a:path>
                  <a:path w="27739" h="25592" stroke="0" extrusionOk="0">
                    <a:moveTo>
                      <a:pt x="27366" y="0"/>
                    </a:moveTo>
                    <a:cubicBezTo>
                      <a:pt x="27614" y="1316"/>
                      <a:pt x="27739" y="2652"/>
                      <a:pt x="27739" y="3992"/>
                    </a:cubicBezTo>
                    <a:cubicBezTo>
                      <a:pt x="27739" y="15921"/>
                      <a:pt x="18068" y="25592"/>
                      <a:pt x="6139" y="25592"/>
                    </a:cubicBezTo>
                    <a:cubicBezTo>
                      <a:pt x="4060" y="25592"/>
                      <a:pt x="1992" y="25291"/>
                      <a:pt x="-1" y="24701"/>
                    </a:cubicBezTo>
                    <a:lnTo>
                      <a:pt x="6139" y="3992"/>
                    </a:lnTo>
                    <a:lnTo>
                      <a:pt x="27366" y="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808" name="Group 60">
              <a:extLst>
                <a:ext uri="{FF2B5EF4-FFF2-40B4-BE49-F238E27FC236}">
                  <a16:creationId xmlns:a16="http://schemas.microsoft.com/office/drawing/2014/main" id="{FD207574-CD96-4CDC-BF37-9A290954E9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6" y="982"/>
              <a:ext cx="309" cy="256"/>
              <a:chOff x="5436" y="982"/>
              <a:chExt cx="309" cy="256"/>
            </a:xfrm>
          </p:grpSpPr>
          <p:grpSp>
            <p:nvGrpSpPr>
              <p:cNvPr id="33819" name="Group 61">
                <a:extLst>
                  <a:ext uri="{FF2B5EF4-FFF2-40B4-BE49-F238E27FC236}">
                    <a16:creationId xmlns:a16="http://schemas.microsoft.com/office/drawing/2014/main" id="{F6607B10-A338-4B0A-BFF2-07CAA86302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36" y="982"/>
                <a:ext cx="309" cy="256"/>
                <a:chOff x="5436" y="982"/>
                <a:chExt cx="309" cy="256"/>
              </a:xfrm>
            </p:grpSpPr>
            <p:sp>
              <p:nvSpPr>
                <p:cNvPr id="33821" name="Freeform 62">
                  <a:extLst>
                    <a:ext uri="{FF2B5EF4-FFF2-40B4-BE49-F238E27FC236}">
                      <a16:creationId xmlns:a16="http://schemas.microsoft.com/office/drawing/2014/main" id="{B735E58B-E9C6-4FC5-A202-8A85A6EDEA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36" y="1037"/>
                  <a:ext cx="48" cy="144"/>
                </a:xfrm>
                <a:custGeom>
                  <a:avLst/>
                  <a:gdLst>
                    <a:gd name="T0" fmla="*/ 1 w 95"/>
                    <a:gd name="T1" fmla="*/ 0 h 287"/>
                    <a:gd name="T2" fmla="*/ 1 w 95"/>
                    <a:gd name="T3" fmla="*/ 1 h 287"/>
                    <a:gd name="T4" fmla="*/ 1 w 95"/>
                    <a:gd name="T5" fmla="*/ 1 h 287"/>
                    <a:gd name="T6" fmla="*/ 0 w 95"/>
                    <a:gd name="T7" fmla="*/ 1 h 287"/>
                    <a:gd name="T8" fmla="*/ 0 w 95"/>
                    <a:gd name="T9" fmla="*/ 1 h 287"/>
                    <a:gd name="T10" fmla="*/ 0 w 95"/>
                    <a:gd name="T11" fmla="*/ 1 h 287"/>
                    <a:gd name="T12" fmla="*/ 1 w 95"/>
                    <a:gd name="T13" fmla="*/ 1 h 287"/>
                    <a:gd name="T14" fmla="*/ 1 w 95"/>
                    <a:gd name="T15" fmla="*/ 1 h 287"/>
                    <a:gd name="T16" fmla="*/ 1 w 95"/>
                    <a:gd name="T17" fmla="*/ 1 h 287"/>
                    <a:gd name="T18" fmla="*/ 1 w 95"/>
                    <a:gd name="T19" fmla="*/ 1 h 287"/>
                    <a:gd name="T20" fmla="*/ 1 w 95"/>
                    <a:gd name="T21" fmla="*/ 1 h 287"/>
                    <a:gd name="T22" fmla="*/ 1 w 95"/>
                    <a:gd name="T23" fmla="*/ 1 h 287"/>
                    <a:gd name="T24" fmla="*/ 1 w 95"/>
                    <a:gd name="T25" fmla="*/ 1 h 287"/>
                    <a:gd name="T26" fmla="*/ 1 w 95"/>
                    <a:gd name="T27" fmla="*/ 1 h 287"/>
                    <a:gd name="T28" fmla="*/ 1 w 95"/>
                    <a:gd name="T29" fmla="*/ 1 h 287"/>
                    <a:gd name="T30" fmla="*/ 1 w 95"/>
                    <a:gd name="T31" fmla="*/ 1 h 287"/>
                    <a:gd name="T32" fmla="*/ 1 w 95"/>
                    <a:gd name="T33" fmla="*/ 1 h 287"/>
                    <a:gd name="T34" fmla="*/ 1 w 95"/>
                    <a:gd name="T35" fmla="*/ 1 h 287"/>
                    <a:gd name="T36" fmla="*/ 1 w 95"/>
                    <a:gd name="T37" fmla="*/ 1 h 287"/>
                    <a:gd name="T38" fmla="*/ 1 w 95"/>
                    <a:gd name="T39" fmla="*/ 1 h 287"/>
                    <a:gd name="T40" fmla="*/ 1 w 95"/>
                    <a:gd name="T41" fmla="*/ 0 h 287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95"/>
                    <a:gd name="T64" fmla="*/ 0 h 287"/>
                    <a:gd name="T65" fmla="*/ 95 w 95"/>
                    <a:gd name="T66" fmla="*/ 287 h 287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95" h="287">
                      <a:moveTo>
                        <a:pt x="16" y="0"/>
                      </a:moveTo>
                      <a:lnTo>
                        <a:pt x="8" y="29"/>
                      </a:lnTo>
                      <a:lnTo>
                        <a:pt x="4" y="54"/>
                      </a:lnTo>
                      <a:lnTo>
                        <a:pt x="0" y="89"/>
                      </a:lnTo>
                      <a:lnTo>
                        <a:pt x="0" y="111"/>
                      </a:lnTo>
                      <a:lnTo>
                        <a:pt x="0" y="138"/>
                      </a:lnTo>
                      <a:lnTo>
                        <a:pt x="7" y="173"/>
                      </a:lnTo>
                      <a:lnTo>
                        <a:pt x="16" y="211"/>
                      </a:lnTo>
                      <a:lnTo>
                        <a:pt x="26" y="236"/>
                      </a:lnTo>
                      <a:lnTo>
                        <a:pt x="37" y="260"/>
                      </a:lnTo>
                      <a:lnTo>
                        <a:pt x="52" y="275"/>
                      </a:lnTo>
                      <a:lnTo>
                        <a:pt x="70" y="286"/>
                      </a:lnTo>
                      <a:lnTo>
                        <a:pt x="86" y="287"/>
                      </a:lnTo>
                      <a:lnTo>
                        <a:pt x="91" y="269"/>
                      </a:lnTo>
                      <a:lnTo>
                        <a:pt x="93" y="254"/>
                      </a:lnTo>
                      <a:lnTo>
                        <a:pt x="95" y="229"/>
                      </a:lnTo>
                      <a:lnTo>
                        <a:pt x="95" y="206"/>
                      </a:lnTo>
                      <a:lnTo>
                        <a:pt x="90" y="146"/>
                      </a:lnTo>
                      <a:lnTo>
                        <a:pt x="52" y="17"/>
                      </a:lnTo>
                      <a:lnTo>
                        <a:pt x="33" y="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33822" name="Group 63">
                  <a:extLst>
                    <a:ext uri="{FF2B5EF4-FFF2-40B4-BE49-F238E27FC236}">
                      <a16:creationId xmlns:a16="http://schemas.microsoft.com/office/drawing/2014/main" id="{5AE518AD-AC91-4594-AA58-8B318E63A1C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36" y="982"/>
                  <a:ext cx="309" cy="256"/>
                  <a:chOff x="5436" y="982"/>
                  <a:chExt cx="309" cy="256"/>
                </a:xfrm>
              </p:grpSpPr>
              <p:sp>
                <p:nvSpPr>
                  <p:cNvPr id="33823" name="Freeform 64">
                    <a:extLst>
                      <a:ext uri="{FF2B5EF4-FFF2-40B4-BE49-F238E27FC236}">
                        <a16:creationId xmlns:a16="http://schemas.microsoft.com/office/drawing/2014/main" id="{F27D053C-7F55-4F7A-B9F9-9F2A424B39C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436" y="992"/>
                    <a:ext cx="147" cy="167"/>
                  </a:xfrm>
                  <a:custGeom>
                    <a:avLst/>
                    <a:gdLst>
                      <a:gd name="T0" fmla="*/ 0 w 296"/>
                      <a:gd name="T1" fmla="*/ 0 h 334"/>
                      <a:gd name="T2" fmla="*/ 0 w 296"/>
                      <a:gd name="T3" fmla="*/ 1 h 334"/>
                      <a:gd name="T4" fmla="*/ 0 w 296"/>
                      <a:gd name="T5" fmla="*/ 1 h 334"/>
                      <a:gd name="T6" fmla="*/ 0 w 296"/>
                      <a:gd name="T7" fmla="*/ 1 h 334"/>
                      <a:gd name="T8" fmla="*/ 0 w 296"/>
                      <a:gd name="T9" fmla="*/ 1 h 334"/>
                      <a:gd name="T10" fmla="*/ 0 w 296"/>
                      <a:gd name="T11" fmla="*/ 1 h 334"/>
                      <a:gd name="T12" fmla="*/ 0 w 296"/>
                      <a:gd name="T13" fmla="*/ 1 h 334"/>
                      <a:gd name="T14" fmla="*/ 0 w 296"/>
                      <a:gd name="T15" fmla="*/ 1 h 334"/>
                      <a:gd name="T16" fmla="*/ 0 w 296"/>
                      <a:gd name="T17" fmla="*/ 0 h 33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296"/>
                      <a:gd name="T28" fmla="*/ 0 h 334"/>
                      <a:gd name="T29" fmla="*/ 296 w 296"/>
                      <a:gd name="T30" fmla="*/ 334 h 334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296" h="334">
                        <a:moveTo>
                          <a:pt x="296" y="0"/>
                        </a:moveTo>
                        <a:lnTo>
                          <a:pt x="14" y="104"/>
                        </a:lnTo>
                        <a:lnTo>
                          <a:pt x="4" y="162"/>
                        </a:lnTo>
                        <a:lnTo>
                          <a:pt x="0" y="216"/>
                        </a:lnTo>
                        <a:lnTo>
                          <a:pt x="13" y="279"/>
                        </a:lnTo>
                        <a:lnTo>
                          <a:pt x="38" y="334"/>
                        </a:lnTo>
                        <a:lnTo>
                          <a:pt x="138" y="257"/>
                        </a:lnTo>
                        <a:lnTo>
                          <a:pt x="250" y="234"/>
                        </a:lnTo>
                        <a:lnTo>
                          <a:pt x="296" y="0"/>
                        </a:lnTo>
                        <a:close/>
                      </a:path>
                    </a:pathLst>
                  </a:custGeom>
                  <a:solidFill>
                    <a:srgbClr val="FFC080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3824" name="Freeform 65">
                    <a:extLst>
                      <a:ext uri="{FF2B5EF4-FFF2-40B4-BE49-F238E27FC236}">
                        <a16:creationId xmlns:a16="http://schemas.microsoft.com/office/drawing/2014/main" id="{C1138431-952D-4DD0-A585-5EEBB7C7F6B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505" y="982"/>
                    <a:ext cx="240" cy="256"/>
                  </a:xfrm>
                  <a:custGeom>
                    <a:avLst/>
                    <a:gdLst>
                      <a:gd name="T0" fmla="*/ 0 w 481"/>
                      <a:gd name="T1" fmla="*/ 1 h 510"/>
                      <a:gd name="T2" fmla="*/ 0 w 481"/>
                      <a:gd name="T3" fmla="*/ 1 h 510"/>
                      <a:gd name="T4" fmla="*/ 0 w 481"/>
                      <a:gd name="T5" fmla="*/ 1 h 510"/>
                      <a:gd name="T6" fmla="*/ 0 w 481"/>
                      <a:gd name="T7" fmla="*/ 1 h 510"/>
                      <a:gd name="T8" fmla="*/ 0 w 481"/>
                      <a:gd name="T9" fmla="*/ 0 h 510"/>
                      <a:gd name="T10" fmla="*/ 0 w 481"/>
                      <a:gd name="T11" fmla="*/ 1 h 510"/>
                      <a:gd name="T12" fmla="*/ 0 w 481"/>
                      <a:gd name="T13" fmla="*/ 1 h 510"/>
                      <a:gd name="T14" fmla="*/ 0 w 481"/>
                      <a:gd name="T15" fmla="*/ 1 h 510"/>
                      <a:gd name="T16" fmla="*/ 0 w 481"/>
                      <a:gd name="T17" fmla="*/ 1 h 510"/>
                      <a:gd name="T18" fmla="*/ 0 w 481"/>
                      <a:gd name="T19" fmla="*/ 1 h 510"/>
                      <a:gd name="T20" fmla="*/ 0 w 481"/>
                      <a:gd name="T21" fmla="*/ 1 h 510"/>
                      <a:gd name="T22" fmla="*/ 0 w 481"/>
                      <a:gd name="T23" fmla="*/ 1 h 510"/>
                      <a:gd name="T24" fmla="*/ 0 w 481"/>
                      <a:gd name="T25" fmla="*/ 1 h 510"/>
                      <a:gd name="T26" fmla="*/ 0 w 481"/>
                      <a:gd name="T27" fmla="*/ 1 h 510"/>
                      <a:gd name="T28" fmla="*/ 0 w 481"/>
                      <a:gd name="T29" fmla="*/ 1 h 510"/>
                      <a:gd name="T30" fmla="*/ 0 w 481"/>
                      <a:gd name="T31" fmla="*/ 1 h 510"/>
                      <a:gd name="T32" fmla="*/ 0 w 481"/>
                      <a:gd name="T33" fmla="*/ 1 h 510"/>
                      <a:gd name="T34" fmla="*/ 0 w 481"/>
                      <a:gd name="T35" fmla="*/ 1 h 510"/>
                      <a:gd name="T36" fmla="*/ 0 w 481"/>
                      <a:gd name="T37" fmla="*/ 1 h 510"/>
                      <a:gd name="T38" fmla="*/ 0 w 481"/>
                      <a:gd name="T39" fmla="*/ 1 h 510"/>
                      <a:gd name="T40" fmla="*/ 0 w 481"/>
                      <a:gd name="T41" fmla="*/ 1 h 510"/>
                      <a:gd name="T42" fmla="*/ 0 w 481"/>
                      <a:gd name="T43" fmla="*/ 1 h 510"/>
                      <a:gd name="T44" fmla="*/ 0 w 481"/>
                      <a:gd name="T45" fmla="*/ 1 h 510"/>
                      <a:gd name="T46" fmla="*/ 0 w 481"/>
                      <a:gd name="T47" fmla="*/ 1 h 510"/>
                      <a:gd name="T48" fmla="*/ 0 w 481"/>
                      <a:gd name="T49" fmla="*/ 1 h 510"/>
                      <a:gd name="T50" fmla="*/ 0 w 481"/>
                      <a:gd name="T51" fmla="*/ 1 h 510"/>
                      <a:gd name="T52" fmla="*/ 0 w 481"/>
                      <a:gd name="T53" fmla="*/ 1 h 510"/>
                      <a:gd name="T54" fmla="*/ 0 w 481"/>
                      <a:gd name="T55" fmla="*/ 1 h 510"/>
                      <a:gd name="T56" fmla="*/ 0 w 481"/>
                      <a:gd name="T57" fmla="*/ 1 h 510"/>
                      <a:gd name="T58" fmla="*/ 0 w 481"/>
                      <a:gd name="T59" fmla="*/ 1 h 510"/>
                      <a:gd name="T60" fmla="*/ 0 w 481"/>
                      <a:gd name="T61" fmla="*/ 1 h 510"/>
                      <a:gd name="T62" fmla="*/ 0 w 481"/>
                      <a:gd name="T63" fmla="*/ 1 h 510"/>
                      <a:gd name="T64" fmla="*/ 0 w 481"/>
                      <a:gd name="T65" fmla="*/ 1 h 510"/>
                      <a:gd name="T66" fmla="*/ 0 w 481"/>
                      <a:gd name="T67" fmla="*/ 1 h 510"/>
                      <a:gd name="T68" fmla="*/ 0 w 481"/>
                      <a:gd name="T69" fmla="*/ 1 h 510"/>
                      <a:gd name="T70" fmla="*/ 0 w 481"/>
                      <a:gd name="T71" fmla="*/ 1 h 510"/>
                      <a:gd name="T72" fmla="*/ 0 w 481"/>
                      <a:gd name="T73" fmla="*/ 1 h 510"/>
                      <a:gd name="T74" fmla="*/ 0 w 481"/>
                      <a:gd name="T75" fmla="*/ 1 h 510"/>
                      <a:gd name="T76" fmla="*/ 0 w 481"/>
                      <a:gd name="T77" fmla="*/ 1 h 510"/>
                      <a:gd name="T78" fmla="*/ 0 w 481"/>
                      <a:gd name="T79" fmla="*/ 1 h 510"/>
                      <a:gd name="T80" fmla="*/ 0 w 481"/>
                      <a:gd name="T81" fmla="*/ 1 h 510"/>
                      <a:gd name="T82" fmla="*/ 0 w 481"/>
                      <a:gd name="T83" fmla="*/ 1 h 510"/>
                      <a:gd name="T84" fmla="*/ 0 w 481"/>
                      <a:gd name="T85" fmla="*/ 1 h 510"/>
                      <a:gd name="T86" fmla="*/ 0 w 481"/>
                      <a:gd name="T87" fmla="*/ 1 h 510"/>
                      <a:gd name="T88" fmla="*/ 0 w 481"/>
                      <a:gd name="T89" fmla="*/ 1 h 510"/>
                      <a:gd name="T90" fmla="*/ 0 w 481"/>
                      <a:gd name="T91" fmla="*/ 1 h 510"/>
                      <a:gd name="T92" fmla="*/ 0 w 481"/>
                      <a:gd name="T93" fmla="*/ 1 h 510"/>
                      <a:gd name="T94" fmla="*/ 0 w 481"/>
                      <a:gd name="T95" fmla="*/ 1 h 510"/>
                      <a:gd name="T96" fmla="*/ 0 w 481"/>
                      <a:gd name="T97" fmla="*/ 1 h 510"/>
                      <a:gd name="T98" fmla="*/ 0 w 481"/>
                      <a:gd name="T99" fmla="*/ 1 h 510"/>
                      <a:gd name="T100" fmla="*/ 0 w 481"/>
                      <a:gd name="T101" fmla="*/ 1 h 510"/>
                      <a:gd name="T102" fmla="*/ 0 w 481"/>
                      <a:gd name="T103" fmla="*/ 1 h 510"/>
                      <a:gd name="T104" fmla="*/ 0 w 481"/>
                      <a:gd name="T105" fmla="*/ 1 h 510"/>
                      <a:gd name="T106" fmla="*/ 0 w 481"/>
                      <a:gd name="T107" fmla="*/ 1 h 510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w 481"/>
                      <a:gd name="T163" fmla="*/ 0 h 510"/>
                      <a:gd name="T164" fmla="*/ 481 w 481"/>
                      <a:gd name="T165" fmla="*/ 510 h 510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T162" t="T163" r="T164" b="T165"/>
                    <a:pathLst>
                      <a:path w="481" h="510">
                        <a:moveTo>
                          <a:pt x="23" y="97"/>
                        </a:moveTo>
                        <a:lnTo>
                          <a:pt x="37" y="81"/>
                        </a:lnTo>
                        <a:lnTo>
                          <a:pt x="55" y="67"/>
                        </a:lnTo>
                        <a:lnTo>
                          <a:pt x="76" y="60"/>
                        </a:lnTo>
                        <a:lnTo>
                          <a:pt x="104" y="54"/>
                        </a:lnTo>
                        <a:lnTo>
                          <a:pt x="116" y="45"/>
                        </a:lnTo>
                        <a:lnTo>
                          <a:pt x="136" y="30"/>
                        </a:lnTo>
                        <a:lnTo>
                          <a:pt x="162" y="12"/>
                        </a:lnTo>
                        <a:lnTo>
                          <a:pt x="190" y="1"/>
                        </a:lnTo>
                        <a:lnTo>
                          <a:pt x="205" y="0"/>
                        </a:lnTo>
                        <a:lnTo>
                          <a:pt x="220" y="3"/>
                        </a:lnTo>
                        <a:lnTo>
                          <a:pt x="241" y="12"/>
                        </a:lnTo>
                        <a:lnTo>
                          <a:pt x="259" y="21"/>
                        </a:lnTo>
                        <a:lnTo>
                          <a:pt x="276" y="27"/>
                        </a:lnTo>
                        <a:lnTo>
                          <a:pt x="299" y="31"/>
                        </a:lnTo>
                        <a:lnTo>
                          <a:pt x="337" y="31"/>
                        </a:lnTo>
                        <a:lnTo>
                          <a:pt x="362" y="30"/>
                        </a:lnTo>
                        <a:lnTo>
                          <a:pt x="388" y="24"/>
                        </a:lnTo>
                        <a:lnTo>
                          <a:pt x="413" y="18"/>
                        </a:lnTo>
                        <a:lnTo>
                          <a:pt x="428" y="18"/>
                        </a:lnTo>
                        <a:lnTo>
                          <a:pt x="446" y="22"/>
                        </a:lnTo>
                        <a:lnTo>
                          <a:pt x="463" y="31"/>
                        </a:lnTo>
                        <a:lnTo>
                          <a:pt x="467" y="40"/>
                        </a:lnTo>
                        <a:lnTo>
                          <a:pt x="467" y="51"/>
                        </a:lnTo>
                        <a:lnTo>
                          <a:pt x="466" y="66"/>
                        </a:lnTo>
                        <a:lnTo>
                          <a:pt x="455" y="75"/>
                        </a:lnTo>
                        <a:lnTo>
                          <a:pt x="412" y="78"/>
                        </a:lnTo>
                        <a:lnTo>
                          <a:pt x="377" y="91"/>
                        </a:lnTo>
                        <a:lnTo>
                          <a:pt x="320" y="103"/>
                        </a:lnTo>
                        <a:lnTo>
                          <a:pt x="310" y="108"/>
                        </a:lnTo>
                        <a:lnTo>
                          <a:pt x="301" y="124"/>
                        </a:lnTo>
                        <a:lnTo>
                          <a:pt x="301" y="139"/>
                        </a:lnTo>
                        <a:lnTo>
                          <a:pt x="316" y="184"/>
                        </a:lnTo>
                        <a:lnTo>
                          <a:pt x="337" y="222"/>
                        </a:lnTo>
                        <a:lnTo>
                          <a:pt x="364" y="256"/>
                        </a:lnTo>
                        <a:lnTo>
                          <a:pt x="407" y="294"/>
                        </a:lnTo>
                        <a:lnTo>
                          <a:pt x="438" y="321"/>
                        </a:lnTo>
                        <a:lnTo>
                          <a:pt x="450" y="329"/>
                        </a:lnTo>
                        <a:lnTo>
                          <a:pt x="463" y="338"/>
                        </a:lnTo>
                        <a:lnTo>
                          <a:pt x="474" y="348"/>
                        </a:lnTo>
                        <a:lnTo>
                          <a:pt x="481" y="360"/>
                        </a:lnTo>
                        <a:lnTo>
                          <a:pt x="481" y="372"/>
                        </a:lnTo>
                        <a:lnTo>
                          <a:pt x="477" y="384"/>
                        </a:lnTo>
                        <a:lnTo>
                          <a:pt x="470" y="390"/>
                        </a:lnTo>
                        <a:lnTo>
                          <a:pt x="456" y="395"/>
                        </a:lnTo>
                        <a:lnTo>
                          <a:pt x="439" y="393"/>
                        </a:lnTo>
                        <a:lnTo>
                          <a:pt x="424" y="384"/>
                        </a:lnTo>
                        <a:lnTo>
                          <a:pt x="395" y="360"/>
                        </a:lnTo>
                        <a:lnTo>
                          <a:pt x="342" y="326"/>
                        </a:lnTo>
                        <a:lnTo>
                          <a:pt x="301" y="283"/>
                        </a:lnTo>
                        <a:lnTo>
                          <a:pt x="295" y="277"/>
                        </a:lnTo>
                        <a:lnTo>
                          <a:pt x="288" y="279"/>
                        </a:lnTo>
                        <a:lnTo>
                          <a:pt x="291" y="291"/>
                        </a:lnTo>
                        <a:lnTo>
                          <a:pt x="333" y="336"/>
                        </a:lnTo>
                        <a:lnTo>
                          <a:pt x="346" y="351"/>
                        </a:lnTo>
                        <a:lnTo>
                          <a:pt x="362" y="369"/>
                        </a:lnTo>
                        <a:lnTo>
                          <a:pt x="394" y="393"/>
                        </a:lnTo>
                        <a:lnTo>
                          <a:pt x="410" y="410"/>
                        </a:lnTo>
                        <a:lnTo>
                          <a:pt x="416" y="423"/>
                        </a:lnTo>
                        <a:lnTo>
                          <a:pt x="414" y="438"/>
                        </a:lnTo>
                        <a:lnTo>
                          <a:pt x="407" y="449"/>
                        </a:lnTo>
                        <a:lnTo>
                          <a:pt x="398" y="456"/>
                        </a:lnTo>
                        <a:lnTo>
                          <a:pt x="382" y="459"/>
                        </a:lnTo>
                        <a:lnTo>
                          <a:pt x="366" y="456"/>
                        </a:lnTo>
                        <a:lnTo>
                          <a:pt x="353" y="449"/>
                        </a:lnTo>
                        <a:lnTo>
                          <a:pt x="315" y="413"/>
                        </a:lnTo>
                        <a:lnTo>
                          <a:pt x="290" y="383"/>
                        </a:lnTo>
                        <a:lnTo>
                          <a:pt x="226" y="305"/>
                        </a:lnTo>
                        <a:lnTo>
                          <a:pt x="248" y="338"/>
                        </a:lnTo>
                        <a:lnTo>
                          <a:pt x="258" y="365"/>
                        </a:lnTo>
                        <a:lnTo>
                          <a:pt x="263" y="378"/>
                        </a:lnTo>
                        <a:lnTo>
                          <a:pt x="274" y="404"/>
                        </a:lnTo>
                        <a:lnTo>
                          <a:pt x="302" y="444"/>
                        </a:lnTo>
                        <a:lnTo>
                          <a:pt x="312" y="458"/>
                        </a:lnTo>
                        <a:lnTo>
                          <a:pt x="317" y="471"/>
                        </a:lnTo>
                        <a:lnTo>
                          <a:pt x="319" y="483"/>
                        </a:lnTo>
                        <a:lnTo>
                          <a:pt x="316" y="494"/>
                        </a:lnTo>
                        <a:lnTo>
                          <a:pt x="308" y="504"/>
                        </a:lnTo>
                        <a:lnTo>
                          <a:pt x="297" y="510"/>
                        </a:lnTo>
                        <a:lnTo>
                          <a:pt x="280" y="509"/>
                        </a:lnTo>
                        <a:lnTo>
                          <a:pt x="267" y="504"/>
                        </a:lnTo>
                        <a:lnTo>
                          <a:pt x="216" y="426"/>
                        </a:lnTo>
                        <a:lnTo>
                          <a:pt x="187" y="363"/>
                        </a:lnTo>
                        <a:lnTo>
                          <a:pt x="163" y="314"/>
                        </a:lnTo>
                        <a:lnTo>
                          <a:pt x="159" y="306"/>
                        </a:lnTo>
                        <a:lnTo>
                          <a:pt x="151" y="306"/>
                        </a:lnTo>
                        <a:lnTo>
                          <a:pt x="148" y="312"/>
                        </a:lnTo>
                        <a:lnTo>
                          <a:pt x="152" y="348"/>
                        </a:lnTo>
                        <a:lnTo>
                          <a:pt x="155" y="377"/>
                        </a:lnTo>
                        <a:lnTo>
                          <a:pt x="154" y="414"/>
                        </a:lnTo>
                        <a:lnTo>
                          <a:pt x="154" y="464"/>
                        </a:lnTo>
                        <a:lnTo>
                          <a:pt x="152" y="473"/>
                        </a:lnTo>
                        <a:lnTo>
                          <a:pt x="147" y="482"/>
                        </a:lnTo>
                        <a:lnTo>
                          <a:pt x="137" y="491"/>
                        </a:lnTo>
                        <a:lnTo>
                          <a:pt x="125" y="494"/>
                        </a:lnTo>
                        <a:lnTo>
                          <a:pt x="112" y="492"/>
                        </a:lnTo>
                        <a:lnTo>
                          <a:pt x="104" y="486"/>
                        </a:lnTo>
                        <a:lnTo>
                          <a:pt x="98" y="474"/>
                        </a:lnTo>
                        <a:lnTo>
                          <a:pt x="97" y="446"/>
                        </a:lnTo>
                        <a:lnTo>
                          <a:pt x="100" y="408"/>
                        </a:lnTo>
                        <a:lnTo>
                          <a:pt x="100" y="377"/>
                        </a:lnTo>
                        <a:lnTo>
                          <a:pt x="94" y="326"/>
                        </a:lnTo>
                        <a:lnTo>
                          <a:pt x="90" y="306"/>
                        </a:lnTo>
                        <a:lnTo>
                          <a:pt x="83" y="289"/>
                        </a:lnTo>
                        <a:lnTo>
                          <a:pt x="35" y="217"/>
                        </a:lnTo>
                        <a:lnTo>
                          <a:pt x="1" y="165"/>
                        </a:lnTo>
                        <a:lnTo>
                          <a:pt x="0" y="144"/>
                        </a:lnTo>
                        <a:lnTo>
                          <a:pt x="8" y="118"/>
                        </a:lnTo>
                        <a:lnTo>
                          <a:pt x="23" y="97"/>
                        </a:lnTo>
                        <a:close/>
                      </a:path>
                    </a:pathLst>
                  </a:custGeom>
                  <a:solidFill>
                    <a:srgbClr val="FFC080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33820" name="Arc 66">
                <a:extLst>
                  <a:ext uri="{FF2B5EF4-FFF2-40B4-BE49-F238E27FC236}">
                    <a16:creationId xmlns:a16="http://schemas.microsoft.com/office/drawing/2014/main" id="{A7F5CAF7-DFE1-4F99-A82D-92954986F2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76" y="1019"/>
                <a:ext cx="23" cy="46"/>
              </a:xfrm>
              <a:custGeom>
                <a:avLst/>
                <a:gdLst>
                  <a:gd name="T0" fmla="*/ 0 w 25888"/>
                  <a:gd name="T1" fmla="*/ 0 h 25417"/>
                  <a:gd name="T2" fmla="*/ 0 w 25888"/>
                  <a:gd name="T3" fmla="*/ 0 h 25417"/>
                  <a:gd name="T4" fmla="*/ 0 w 25888"/>
                  <a:gd name="T5" fmla="*/ 0 h 25417"/>
                  <a:gd name="T6" fmla="*/ 0 60000 65536"/>
                  <a:gd name="T7" fmla="*/ 0 60000 65536"/>
                  <a:gd name="T8" fmla="*/ 0 60000 65536"/>
                  <a:gd name="T9" fmla="*/ 0 w 25888"/>
                  <a:gd name="T10" fmla="*/ 0 h 25417"/>
                  <a:gd name="T11" fmla="*/ 25888 w 25888"/>
                  <a:gd name="T12" fmla="*/ 25417 h 254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888" h="25417" fill="none" extrusionOk="0">
                    <a:moveTo>
                      <a:pt x="25888" y="24987"/>
                    </a:moveTo>
                    <a:cubicBezTo>
                      <a:pt x="24476" y="25272"/>
                      <a:pt x="23040" y="25416"/>
                      <a:pt x="21600" y="25417"/>
                    </a:cubicBezTo>
                    <a:cubicBezTo>
                      <a:pt x="9670" y="25417"/>
                      <a:pt x="0" y="15746"/>
                      <a:pt x="0" y="3817"/>
                    </a:cubicBezTo>
                    <a:cubicBezTo>
                      <a:pt x="-1" y="2537"/>
                      <a:pt x="113" y="1259"/>
                      <a:pt x="339" y="-1"/>
                    </a:cubicBezTo>
                  </a:path>
                  <a:path w="25888" h="25417" stroke="0" extrusionOk="0">
                    <a:moveTo>
                      <a:pt x="25888" y="24987"/>
                    </a:moveTo>
                    <a:cubicBezTo>
                      <a:pt x="24476" y="25272"/>
                      <a:pt x="23040" y="25416"/>
                      <a:pt x="21600" y="25417"/>
                    </a:cubicBezTo>
                    <a:cubicBezTo>
                      <a:pt x="9670" y="25417"/>
                      <a:pt x="0" y="15746"/>
                      <a:pt x="0" y="3817"/>
                    </a:cubicBezTo>
                    <a:cubicBezTo>
                      <a:pt x="-1" y="2537"/>
                      <a:pt x="113" y="1259"/>
                      <a:pt x="339" y="-1"/>
                    </a:cubicBezTo>
                    <a:lnTo>
                      <a:pt x="21600" y="3817"/>
                    </a:lnTo>
                    <a:lnTo>
                      <a:pt x="25888" y="24987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809" name="Group 67">
              <a:extLst>
                <a:ext uri="{FF2B5EF4-FFF2-40B4-BE49-F238E27FC236}">
                  <a16:creationId xmlns:a16="http://schemas.microsoft.com/office/drawing/2014/main" id="{42D32DCD-B437-4730-832E-7BAE416871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99"/>
              <a:ext cx="609" cy="503"/>
              <a:chOff x="4608" y="99"/>
              <a:chExt cx="609" cy="503"/>
            </a:xfrm>
          </p:grpSpPr>
          <p:sp>
            <p:nvSpPr>
              <p:cNvPr id="33810" name="Line 68">
                <a:extLst>
                  <a:ext uri="{FF2B5EF4-FFF2-40B4-BE49-F238E27FC236}">
                    <a16:creationId xmlns:a16="http://schemas.microsoft.com/office/drawing/2014/main" id="{26F2AEF4-3D92-4837-A6C2-DE78DD07E6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421"/>
                <a:ext cx="66" cy="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1" name="Line 69">
                <a:extLst>
                  <a:ext uri="{FF2B5EF4-FFF2-40B4-BE49-F238E27FC236}">
                    <a16:creationId xmlns:a16="http://schemas.microsoft.com/office/drawing/2014/main" id="{993312CF-D5D0-4DA2-B9CE-3CE5AE7686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55" y="455"/>
                <a:ext cx="62" cy="1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2" name="Line 70">
                <a:extLst>
                  <a:ext uri="{FF2B5EF4-FFF2-40B4-BE49-F238E27FC236}">
                    <a16:creationId xmlns:a16="http://schemas.microsoft.com/office/drawing/2014/main" id="{CE82641F-04D5-4865-9ACD-DF5CE6F533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6" y="149"/>
                <a:ext cx="35" cy="4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3" name="Line 71">
                <a:extLst>
                  <a:ext uri="{FF2B5EF4-FFF2-40B4-BE49-F238E27FC236}">
                    <a16:creationId xmlns:a16="http://schemas.microsoft.com/office/drawing/2014/main" id="{9A1BFD7F-F0B2-43C3-850B-DF232645F6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72" y="164"/>
                <a:ext cx="30" cy="3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4" name="Line 72">
                <a:extLst>
                  <a:ext uri="{FF2B5EF4-FFF2-40B4-BE49-F238E27FC236}">
                    <a16:creationId xmlns:a16="http://schemas.microsoft.com/office/drawing/2014/main" id="{649A1EBF-43D9-4EF8-B9B6-4A6050C02A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7" y="99"/>
                <a:ext cx="1" cy="6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5" name="Line 73">
                <a:extLst>
                  <a:ext uri="{FF2B5EF4-FFF2-40B4-BE49-F238E27FC236}">
                    <a16:creationId xmlns:a16="http://schemas.microsoft.com/office/drawing/2014/main" id="{6200965F-3565-400D-B6D2-279DE10743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1" y="286"/>
                <a:ext cx="49" cy="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6" name="Line 74">
                <a:extLst>
                  <a:ext uri="{FF2B5EF4-FFF2-40B4-BE49-F238E27FC236}">
                    <a16:creationId xmlns:a16="http://schemas.microsoft.com/office/drawing/2014/main" id="{33A92C8C-48CD-4D17-9BEA-EF942C6858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63" y="303"/>
                <a:ext cx="47" cy="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7" name="Line 75">
                <a:extLst>
                  <a:ext uri="{FF2B5EF4-FFF2-40B4-BE49-F238E27FC236}">
                    <a16:creationId xmlns:a16="http://schemas.microsoft.com/office/drawing/2014/main" id="{69A17069-0063-4856-BAEE-B6AE094A03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48" y="587"/>
                <a:ext cx="44" cy="1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8" name="Line 76">
                <a:extLst>
                  <a:ext uri="{FF2B5EF4-FFF2-40B4-BE49-F238E27FC236}">
                    <a16:creationId xmlns:a16="http://schemas.microsoft.com/office/drawing/2014/main" id="{54CA01C7-633F-45A3-AAA6-EFAE170864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9" y="584"/>
                <a:ext cx="55" cy="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3797" name="AutoShape 77">
            <a:extLst>
              <a:ext uri="{FF2B5EF4-FFF2-40B4-BE49-F238E27FC236}">
                <a16:creationId xmlns:a16="http://schemas.microsoft.com/office/drawing/2014/main" id="{8A7778A1-107D-4CE1-ABD4-4E61AD8141B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029200" y="533400"/>
            <a:ext cx="1941513" cy="1066800"/>
          </a:xfrm>
          <a:prstGeom prst="wedgeRoundRectCallout">
            <a:avLst>
              <a:gd name="adj1" fmla="val -68319"/>
              <a:gd name="adj2" fmla="val 36306"/>
              <a:gd name="adj3" fmla="val 16667"/>
            </a:avLst>
          </a:prstGeom>
          <a:solidFill>
            <a:srgbClr val="C3C5C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Okay, this is a list, but what does it mean ??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96C57863-A8F6-4843-8EF4-07549A3F69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Definition List Example:</a:t>
            </a:r>
          </a:p>
        </p:txBody>
      </p:sp>
      <p:sp>
        <p:nvSpPr>
          <p:cNvPr id="34819" name="Text Box 3">
            <a:extLst>
              <a:ext uri="{FF2B5EF4-FFF2-40B4-BE49-F238E27FC236}">
                <a16:creationId xmlns:a16="http://schemas.microsoft.com/office/drawing/2014/main" id="{BBAECCA5-CE04-4128-A71B-11FBA1120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0" y="1892300"/>
            <a:ext cx="6667499" cy="5484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&lt;dl&gt;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   &lt;dt&gt; Basil &lt;/dt&gt;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      &lt;dd&gt; Annual. Can grow four feet in height, 	     the scent of its tiny white flowers is  		     		heavenly.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      &lt;/dd&gt;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   &lt;dt&gt; Oregano &lt;/dt&gt;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      &lt;dd&gt;  Perennial.  Sends out underground 		      runners and is difficult to get rid of 		       		 once established.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      &lt;/dd&gt;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&lt;/dl&gt;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	</a:t>
            </a:r>
          </a:p>
        </p:txBody>
      </p:sp>
      <p:sp>
        <p:nvSpPr>
          <p:cNvPr id="59396" name="Text Box 4">
            <a:extLst>
              <a:ext uri="{FF2B5EF4-FFF2-40B4-BE49-F238E27FC236}">
                <a16:creationId xmlns:a16="http://schemas.microsoft.com/office/drawing/2014/main" id="{441C6090-44B4-4437-8023-780CA10E2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95600"/>
            <a:ext cx="137160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sz="1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Definition List begin and close</a:t>
            </a:r>
          </a:p>
        </p:txBody>
      </p:sp>
      <p:sp>
        <p:nvSpPr>
          <p:cNvPr id="59403" name="Text Box 11">
            <a:extLst>
              <a:ext uri="{FF2B5EF4-FFF2-40B4-BE49-F238E27FC236}">
                <a16:creationId xmlns:a16="http://schemas.microsoft.com/office/drawing/2014/main" id="{8EC16B5B-48F8-4E73-A605-C27AE1A3C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733800"/>
            <a:ext cx="11430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sz="1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Definition Terms</a:t>
            </a:r>
          </a:p>
        </p:txBody>
      </p:sp>
      <p:cxnSp>
        <p:nvCxnSpPr>
          <p:cNvPr id="34826" name="AutoShape 12" descr="Arrow to &lt;dl&gt; Definition List">
            <a:extLst>
              <a:ext uri="{FF2B5EF4-FFF2-40B4-BE49-F238E27FC236}">
                <a16:creationId xmlns:a16="http://schemas.microsoft.com/office/drawing/2014/main" id="{65D813EC-B394-479D-9EE4-EACD5DF09B55}"/>
              </a:ext>
            </a:extLst>
          </p:cNvPr>
          <p:cNvCxnSpPr>
            <a:cxnSpLocks noChangeShapeType="1"/>
            <a:stCxn id="59396" idx="0"/>
          </p:cNvCxnSpPr>
          <p:nvPr/>
        </p:nvCxnSpPr>
        <p:spPr bwMode="auto">
          <a:xfrm rot="-5400000">
            <a:off x="799307" y="1943893"/>
            <a:ext cx="838200" cy="1065213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7" name="AutoShape 13" descr="Arrow to &lt;/dl&gt; end Definition List">
            <a:extLst>
              <a:ext uri="{FF2B5EF4-FFF2-40B4-BE49-F238E27FC236}">
                <a16:creationId xmlns:a16="http://schemas.microsoft.com/office/drawing/2014/main" id="{5FA0EF80-7C3D-4EEB-B13B-F86CA5EDD010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-57150" y="4476750"/>
            <a:ext cx="2857500" cy="137160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9" name="AutoShape 16" descr="Arrow to &lt;dt&gt; Definition Term">
            <a:extLst>
              <a:ext uri="{FF2B5EF4-FFF2-40B4-BE49-F238E27FC236}">
                <a16:creationId xmlns:a16="http://schemas.microsoft.com/office/drawing/2014/main" id="{E3321C07-E6DE-4DF8-A69D-4BEEAAC3491B}"/>
              </a:ext>
            </a:extLst>
          </p:cNvPr>
          <p:cNvCxnSpPr>
            <a:cxnSpLocks noChangeShapeType="1"/>
            <a:stCxn id="59403" idx="0"/>
          </p:cNvCxnSpPr>
          <p:nvPr/>
        </p:nvCxnSpPr>
        <p:spPr bwMode="auto">
          <a:xfrm rot="-5400000">
            <a:off x="1295400" y="2743200"/>
            <a:ext cx="1181100" cy="80010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0" name="AutoShape 17" descr="Arrow to &lt;/dt&gt; end Definition Term">
            <a:extLst>
              <a:ext uri="{FF2B5EF4-FFF2-40B4-BE49-F238E27FC236}">
                <a16:creationId xmlns:a16="http://schemas.microsoft.com/office/drawing/2014/main" id="{2C810514-61D8-4219-A83F-60BE41107150}"/>
              </a:ext>
            </a:extLst>
          </p:cNvPr>
          <p:cNvCxnSpPr>
            <a:cxnSpLocks noChangeShapeType="1"/>
            <a:stCxn id="59403" idx="2"/>
          </p:cNvCxnSpPr>
          <p:nvPr/>
        </p:nvCxnSpPr>
        <p:spPr bwMode="auto">
          <a:xfrm rot="16200000" flipH="1">
            <a:off x="1782762" y="3954463"/>
            <a:ext cx="282575" cy="87630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410" name="Text Box 18">
            <a:extLst>
              <a:ext uri="{FF2B5EF4-FFF2-40B4-BE49-F238E27FC236}">
                <a16:creationId xmlns:a16="http://schemas.microsoft.com/office/drawing/2014/main" id="{24D9DF90-E8C5-4BC1-9EF5-98C0CF096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349875"/>
            <a:ext cx="12192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sz="1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Definition Definition</a:t>
            </a:r>
          </a:p>
        </p:txBody>
      </p:sp>
      <p:cxnSp>
        <p:nvCxnSpPr>
          <p:cNvPr id="34832" name="AutoShape 20" descr="Arrow to &lt;dd&gt; Definition Definition">
            <a:extLst>
              <a:ext uri="{FF2B5EF4-FFF2-40B4-BE49-F238E27FC236}">
                <a16:creationId xmlns:a16="http://schemas.microsoft.com/office/drawing/2014/main" id="{7B0B139B-D8AA-43B5-B958-CB998A3713D0}"/>
              </a:ext>
            </a:extLst>
          </p:cNvPr>
          <p:cNvCxnSpPr>
            <a:cxnSpLocks noChangeShapeType="1"/>
            <a:stCxn id="59410" idx="0"/>
          </p:cNvCxnSpPr>
          <p:nvPr/>
        </p:nvCxnSpPr>
        <p:spPr bwMode="auto">
          <a:xfrm rot="-5400000">
            <a:off x="2049462" y="4808538"/>
            <a:ext cx="320675" cy="76200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3" name="AutoShape 21" descr="Arrow to &lt;/dd&gt; end Definition Definition">
            <a:extLst>
              <a:ext uri="{FF2B5EF4-FFF2-40B4-BE49-F238E27FC236}">
                <a16:creationId xmlns:a16="http://schemas.microsoft.com/office/drawing/2014/main" id="{94783FCD-7F18-447D-B772-7443DEE020CC}"/>
              </a:ext>
            </a:extLst>
          </p:cNvPr>
          <p:cNvCxnSpPr>
            <a:cxnSpLocks noChangeShapeType="1"/>
            <a:stCxn id="59410" idx="2"/>
          </p:cNvCxnSpPr>
          <p:nvPr/>
        </p:nvCxnSpPr>
        <p:spPr bwMode="auto">
          <a:xfrm rot="16200000" flipH="1">
            <a:off x="2114550" y="5581650"/>
            <a:ext cx="190500" cy="76200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416" name="Text Box 24">
            <a:extLst>
              <a:ext uri="{FF2B5EF4-FFF2-40B4-BE49-F238E27FC236}">
                <a16:creationId xmlns:a16="http://schemas.microsoft.com/office/drawing/2014/main" id="{1632532A-019A-4AB7-8EC4-D9707E6EF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200400"/>
            <a:ext cx="12192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sz="1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Definition Definition</a:t>
            </a:r>
          </a:p>
        </p:txBody>
      </p:sp>
      <p:cxnSp>
        <p:nvCxnSpPr>
          <p:cNvPr id="34837" name="AutoShape 25" descr="Arrow to &lt;dd&gt; Definition Definition">
            <a:extLst>
              <a:ext uri="{FF2B5EF4-FFF2-40B4-BE49-F238E27FC236}">
                <a16:creationId xmlns:a16="http://schemas.microsoft.com/office/drawing/2014/main" id="{ECA8FB73-564B-4762-AC2B-1848BB750E45}"/>
              </a:ext>
            </a:extLst>
          </p:cNvPr>
          <p:cNvCxnSpPr>
            <a:cxnSpLocks noChangeShapeType="1"/>
            <a:stCxn id="59416" idx="0"/>
          </p:cNvCxnSpPr>
          <p:nvPr/>
        </p:nvCxnSpPr>
        <p:spPr bwMode="auto">
          <a:xfrm rot="-5400000">
            <a:off x="2266950" y="2838450"/>
            <a:ext cx="152400" cy="571500"/>
          </a:xfrm>
          <a:prstGeom prst="bentConnector3">
            <a:avLst>
              <a:gd name="adj1" fmla="val 93745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8" name="AutoShape 26" descr="Arrow to &lt;/dd&gt; end Definition Definition">
            <a:extLst>
              <a:ext uri="{FF2B5EF4-FFF2-40B4-BE49-F238E27FC236}">
                <a16:creationId xmlns:a16="http://schemas.microsoft.com/office/drawing/2014/main" id="{85E06E68-5FBB-4C67-AE12-1564A5DC05BA}"/>
              </a:ext>
            </a:extLst>
          </p:cNvPr>
          <p:cNvCxnSpPr>
            <a:cxnSpLocks noChangeShapeType="1"/>
            <a:stCxn id="59416" idx="2"/>
          </p:cNvCxnSpPr>
          <p:nvPr/>
        </p:nvCxnSpPr>
        <p:spPr bwMode="auto">
          <a:xfrm rot="16200000" flipH="1">
            <a:off x="2144712" y="3630613"/>
            <a:ext cx="358775" cy="53340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7BEFF27E-68B9-48F0-9CFF-C879BC57DBF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2017713"/>
            <a:ext cx="7772400" cy="41148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Note: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 may have a definition list without a term or definition.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charset="2"/>
              <a:buChar char=""/>
              <a:tabLst/>
              <a:defRPr/>
            </a:pP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1D7C87A1-783B-4B82-B435-1687EDFA5F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Nested Lists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3A229D7D-BFFE-4DC1-BEB3-72A7A54433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You may nest or locate one list within another list</a:t>
            </a:r>
          </a:p>
          <a:p>
            <a:pPr eaLnBrk="1" hangingPunct="1"/>
            <a:r>
              <a:rPr lang="en-US" altLang="en-US"/>
              <a:t>The inner list must be placed inside an &lt;li&gt; or a &lt;dd&gt; to validate</a:t>
            </a:r>
          </a:p>
          <a:p>
            <a:pPr eaLnBrk="1" hangingPunct="1"/>
            <a:r>
              <a:rPr lang="en-US" altLang="en-US"/>
              <a:t>The inner list will become indented from the rest of the list</a:t>
            </a:r>
          </a:p>
          <a:p>
            <a:pPr eaLnBrk="1" hangingPunct="1"/>
            <a:r>
              <a:rPr lang="en-US" altLang="en-US"/>
              <a:t>Works well for menu-like lists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5F517F6-433F-4008-B9EB-94D3304EC01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1600200"/>
            <a:ext cx="7772400" cy="41148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Note: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Nested lists must be placed inside a &lt;li&gt; or &lt;dd&gt; tag or they will not validate!  This is different from the code shown in our text!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charset="2"/>
              <a:buChar char=""/>
              <a:tabLst/>
              <a:defRPr/>
            </a:pP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42F09519-465D-4256-9963-86419B97A4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Nested List Example:</a:t>
            </a:r>
          </a:p>
        </p:txBody>
      </p:sp>
      <p:sp>
        <p:nvSpPr>
          <p:cNvPr id="38915" name="Text Box 3">
            <a:extLst>
              <a:ext uri="{FF2B5EF4-FFF2-40B4-BE49-F238E27FC236}">
                <a16:creationId xmlns:a16="http://schemas.microsoft.com/office/drawing/2014/main" id="{25C1AE4F-D99F-49F3-991B-75A22B056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981200"/>
            <a:ext cx="6858000" cy="425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&lt;ul&gt;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&lt;li&gt; Country Songs &lt;/li&gt;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</a:t>
            </a:r>
            <a:r>
              <a:rPr lang="en-US" altLang="en-US" sz="2400" b="1">
                <a:solidFill>
                  <a:schemeClr val="hlink"/>
                </a:solidFill>
                <a:latin typeface="Tahoma" panose="020B0604030504040204" pitchFamily="34" charset="0"/>
              </a:rPr>
              <a:t>&lt;li&gt;</a:t>
            </a:r>
            <a:r>
              <a:rPr lang="en-US" altLang="en-US" sz="2400">
                <a:latin typeface="Tahoma" panose="020B0604030504040204" pitchFamily="34" charset="0"/>
              </a:rPr>
              <a:t> Campfire Songs 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	&lt;ul&gt;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		&lt;li&gt; Give me a Home &lt;/li&gt;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		&lt;li&gt; Koombahya &lt;/li&gt;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 		&lt;/ul&gt;</a:t>
            </a:r>
            <a:br>
              <a:rPr lang="en-US" altLang="en-US" sz="2400">
                <a:latin typeface="Tahoma" panose="020B0604030504040204" pitchFamily="34" charset="0"/>
              </a:rPr>
            </a:br>
            <a:r>
              <a:rPr lang="en-US" altLang="en-US" sz="2400">
                <a:latin typeface="Tahoma" panose="020B0604030504040204" pitchFamily="34" charset="0"/>
              </a:rPr>
              <a:t>	</a:t>
            </a:r>
            <a:r>
              <a:rPr lang="en-US" altLang="en-US" sz="2400" b="1">
                <a:solidFill>
                  <a:schemeClr val="hlink"/>
                </a:solidFill>
                <a:latin typeface="Tahoma" panose="020B0604030504040204" pitchFamily="34" charset="0"/>
              </a:rPr>
              <a:t>&lt;/li&gt;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&lt;li&gt;  Marching Songs &lt;/li&gt;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&lt;/ul&gt;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3BBA79B3-55E3-4B97-9B35-8CDD0542B2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Nested List Example:</a:t>
            </a:r>
          </a:p>
        </p:txBody>
      </p:sp>
      <p:sp>
        <p:nvSpPr>
          <p:cNvPr id="39939" name="Text Box 3">
            <a:extLst>
              <a:ext uri="{FF2B5EF4-FFF2-40B4-BE49-F238E27FC236}">
                <a16:creationId xmlns:a16="http://schemas.microsoft.com/office/drawing/2014/main" id="{04543F15-DE36-4936-99AF-CF38F1393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897063"/>
            <a:ext cx="5867400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&lt;ul&gt;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	&lt;li&gt; Country Songs &lt;/li&gt;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	</a:t>
            </a:r>
            <a:r>
              <a:rPr lang="en-US" altLang="en-US" sz="2400" b="1" dirty="0">
                <a:solidFill>
                  <a:srgbClr val="CE0000"/>
                </a:solidFill>
                <a:latin typeface="Tahoma" panose="020B0604030504040204" pitchFamily="34" charset="0"/>
              </a:rPr>
              <a:t>&lt;li&gt;</a:t>
            </a:r>
            <a:r>
              <a:rPr lang="en-US" altLang="en-US" sz="2400" dirty="0">
                <a:solidFill>
                  <a:srgbClr val="CE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2400" dirty="0">
                <a:latin typeface="Tahoma" panose="020B0604030504040204" pitchFamily="34" charset="0"/>
              </a:rPr>
              <a:t>Campfire Songs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		&lt;ul&gt;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			&lt;li&gt; Give me a Home &lt;/li&gt;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			&lt;li&gt; </a:t>
            </a:r>
            <a:r>
              <a:rPr lang="en-US" altLang="en-US" sz="2400" dirty="0" err="1">
                <a:latin typeface="Tahoma" panose="020B0604030504040204" pitchFamily="34" charset="0"/>
              </a:rPr>
              <a:t>Koombahya</a:t>
            </a:r>
            <a:r>
              <a:rPr lang="en-US" altLang="en-US" sz="2400" dirty="0">
                <a:latin typeface="Tahoma" panose="020B0604030504040204" pitchFamily="34" charset="0"/>
              </a:rPr>
              <a:t> &lt;/li&gt;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  		&lt;/ul&gt;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	 </a:t>
            </a:r>
            <a:r>
              <a:rPr lang="en-US" altLang="en-US" sz="2400" b="1" dirty="0">
                <a:solidFill>
                  <a:srgbClr val="CE0000"/>
                </a:solidFill>
                <a:latin typeface="Tahoma" panose="020B0604030504040204" pitchFamily="34" charset="0"/>
              </a:rPr>
              <a:t>&lt;/li&gt;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	&lt;li&gt;  Marching Songs &lt;/li&gt;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&lt;/ul&gt;</a:t>
            </a:r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5C703DA2-3A45-4344-87CC-0BE8806B9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4114800"/>
            <a:ext cx="1371600" cy="26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400" b="1" dirty="0">
                <a:solidFill>
                  <a:srgbClr val="CE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Nested List</a:t>
            </a:r>
          </a:p>
        </p:txBody>
      </p:sp>
      <p:sp>
        <p:nvSpPr>
          <p:cNvPr id="1029" name="Text Box 5">
            <a:extLst>
              <a:ext uri="{FF2B5EF4-FFF2-40B4-BE49-F238E27FC236}">
                <a16:creationId xmlns:a16="http://schemas.microsoft.com/office/drawing/2014/main" id="{0086EAC6-A233-49A9-BB89-D187B30BE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505200"/>
            <a:ext cx="1143000" cy="26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400" b="1" dirty="0">
                <a:solidFill>
                  <a:srgbClr val="CE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Outer List</a:t>
            </a:r>
          </a:p>
        </p:txBody>
      </p:sp>
      <p:cxnSp>
        <p:nvCxnSpPr>
          <p:cNvPr id="39946" name="AutoShape 10" descr="Arrow to &lt;ul&gt; unordered list">
            <a:extLst>
              <a:ext uri="{FF2B5EF4-FFF2-40B4-BE49-F238E27FC236}">
                <a16:creationId xmlns:a16="http://schemas.microsoft.com/office/drawing/2014/main" id="{841EE1BE-A08D-458C-80B0-0267CC25A67E}"/>
              </a:ext>
            </a:extLst>
          </p:cNvPr>
          <p:cNvCxnSpPr>
            <a:cxnSpLocks noChangeShapeType="1"/>
            <a:stCxn id="1029" idx="0"/>
          </p:cNvCxnSpPr>
          <p:nvPr/>
        </p:nvCxnSpPr>
        <p:spPr bwMode="auto">
          <a:xfrm rot="5400000" flipH="1" flipV="1">
            <a:off x="685800" y="2362200"/>
            <a:ext cx="1485900" cy="80010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7" name="AutoShape 11" descr="Arrow to &lt;/ul&gt; end unordered list">
            <a:extLst>
              <a:ext uri="{FF2B5EF4-FFF2-40B4-BE49-F238E27FC236}">
                <a16:creationId xmlns:a16="http://schemas.microsoft.com/office/drawing/2014/main" id="{9DC4D94B-D85C-4AB6-A8CC-0AEAA3E947AE}"/>
              </a:ext>
            </a:extLst>
          </p:cNvPr>
          <p:cNvCxnSpPr>
            <a:cxnSpLocks noChangeShapeType="1"/>
            <a:stCxn id="1029" idx="2"/>
          </p:cNvCxnSpPr>
          <p:nvPr/>
        </p:nvCxnSpPr>
        <p:spPr bwMode="auto">
          <a:xfrm rot="16200000" flipH="1">
            <a:off x="170444" y="4628144"/>
            <a:ext cx="2592812" cy="87630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8" name="AutoShape 12" descr="Arrow to nested &lt;ul&gt; unordered list">
            <a:extLst>
              <a:ext uri="{FF2B5EF4-FFF2-40B4-BE49-F238E27FC236}">
                <a16:creationId xmlns:a16="http://schemas.microsoft.com/office/drawing/2014/main" id="{FB1B7F21-559C-4DED-B1D1-1F5CA28732D3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>
            <a:off x="3200400" y="3543300"/>
            <a:ext cx="685800" cy="38100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9" name="AutoShape 13" descr="Arrow to nested &lt;/ul&gt; end unordered list">
            <a:extLst>
              <a:ext uri="{FF2B5EF4-FFF2-40B4-BE49-F238E27FC236}">
                <a16:creationId xmlns:a16="http://schemas.microsoft.com/office/drawing/2014/main" id="{D04AD41A-40DB-4A9C-9D79-D459097B2A98}"/>
              </a:ext>
            </a:extLst>
          </p:cNvPr>
          <p:cNvCxnSpPr>
            <a:cxnSpLocks noChangeShapeType="1"/>
            <a:stCxn id="1028" idx="2"/>
          </p:cNvCxnSpPr>
          <p:nvPr/>
        </p:nvCxnSpPr>
        <p:spPr bwMode="auto">
          <a:xfrm rot="16200000" flipH="1">
            <a:off x="3237494" y="4494794"/>
            <a:ext cx="535412" cy="30480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38" name="Text Box 14">
            <a:extLst>
              <a:ext uri="{FF2B5EF4-FFF2-40B4-BE49-F238E27FC236}">
                <a16:creationId xmlns:a16="http://schemas.microsoft.com/office/drawing/2014/main" id="{D0B8EA87-82F9-4CC7-A2F0-734C135C9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191000"/>
            <a:ext cx="13716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400" b="1" dirty="0">
                <a:solidFill>
                  <a:srgbClr val="CE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Open and Close &lt;li&gt;</a:t>
            </a:r>
          </a:p>
        </p:txBody>
      </p:sp>
      <p:cxnSp>
        <p:nvCxnSpPr>
          <p:cNvPr id="39953" name="AutoShape 17" descr="Arrow to &lt;li&gt; list item">
            <a:extLst>
              <a:ext uri="{FF2B5EF4-FFF2-40B4-BE49-F238E27FC236}">
                <a16:creationId xmlns:a16="http://schemas.microsoft.com/office/drawing/2014/main" id="{83A54E37-4D8B-4142-9277-A772873DCE02}"/>
              </a:ext>
            </a:extLst>
          </p:cNvPr>
          <p:cNvCxnSpPr>
            <a:cxnSpLocks noChangeShapeType="1"/>
            <a:stCxn id="1038" idx="0"/>
          </p:cNvCxnSpPr>
          <p:nvPr/>
        </p:nvCxnSpPr>
        <p:spPr bwMode="auto">
          <a:xfrm rot="5400000" flipH="1" flipV="1">
            <a:off x="1847850" y="3219450"/>
            <a:ext cx="1181100" cy="76200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4" name="AutoShape 18" descr="Arrow to &lt;/li&gt; end list item">
            <a:extLst>
              <a:ext uri="{FF2B5EF4-FFF2-40B4-BE49-F238E27FC236}">
                <a16:creationId xmlns:a16="http://schemas.microsoft.com/office/drawing/2014/main" id="{101C41E2-B4BC-422D-A431-CE1DC168D657}"/>
              </a:ext>
            </a:extLst>
          </p:cNvPr>
          <p:cNvCxnSpPr>
            <a:cxnSpLocks noChangeShapeType="1"/>
            <a:stCxn id="1038" idx="2"/>
          </p:cNvCxnSpPr>
          <p:nvPr/>
        </p:nvCxnSpPr>
        <p:spPr bwMode="auto">
          <a:xfrm rot="16200000" flipH="1">
            <a:off x="2139950" y="4540250"/>
            <a:ext cx="749300" cy="91440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B193588E-F8AF-4C45-A829-6D3B06D851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Horizontal Rule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1A8521B5-DB4E-4323-97F0-5A75A3CB4F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2017713"/>
            <a:ext cx="8610600" cy="4114800"/>
          </a:xfrm>
        </p:spPr>
        <p:txBody>
          <a:bodyPr/>
          <a:lstStyle/>
          <a:p>
            <a:pPr eaLnBrk="1" hangingPunct="1"/>
            <a:r>
              <a:rPr lang="en-US" altLang="en-US"/>
              <a:t>&lt;hr&gt; - horizontal line</a:t>
            </a:r>
          </a:p>
          <a:p>
            <a:pPr eaLnBrk="1" hangingPunct="1"/>
            <a:r>
              <a:rPr lang="en-US" altLang="en-US"/>
              <a:t>This is a self-terminating tag</a:t>
            </a:r>
          </a:p>
          <a:p>
            <a:pPr eaLnBrk="1" hangingPunct="1"/>
            <a:r>
              <a:rPr lang="en-US" altLang="en-US"/>
              <a:t>HTML Attributes of &lt;hr&gt; are deprecated</a:t>
            </a:r>
          </a:p>
          <a:p>
            <a:pPr lvl="2" eaLnBrk="1" hangingPunct="1"/>
            <a:r>
              <a:rPr lang="en-US" altLang="en-US" sz="2800"/>
              <a:t>size – size in pixels</a:t>
            </a:r>
          </a:p>
          <a:p>
            <a:pPr lvl="2" eaLnBrk="1" hangingPunct="1"/>
            <a:r>
              <a:rPr lang="en-US" altLang="en-US" sz="2800"/>
              <a:t>width- in pixels or percentage</a:t>
            </a:r>
          </a:p>
          <a:p>
            <a:pPr eaLnBrk="1" hangingPunct="1"/>
            <a:r>
              <a:rPr lang="en-US" altLang="en-US"/>
              <a:t>Later, you will learn how to use CSS to control the styling of an &lt;hr&gt;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2C82A9A-30E0-47F4-9443-DDE438B3D9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Comments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4FBD759-4717-4860-8E01-9857C559CA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2017713"/>
            <a:ext cx="8193088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Text that is used to describe the intent of the programmer or information about the code but is not used to create the page is referred to as a comment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Comments may be added </a:t>
            </a:r>
            <a:r>
              <a:rPr lang="en-US" altLang="en-US" sz="2800" b="1" dirty="0">
                <a:solidFill>
                  <a:srgbClr val="CE0000"/>
                </a:solidFill>
              </a:rPr>
              <a:t>anywhere</a:t>
            </a:r>
            <a:r>
              <a:rPr lang="en-US" altLang="en-US" sz="2800" dirty="0"/>
              <a:t> in the file </a:t>
            </a:r>
            <a:r>
              <a:rPr lang="en-US" altLang="en-US" sz="2800" dirty="0">
                <a:solidFill>
                  <a:srgbClr val="CE0000"/>
                </a:solidFill>
              </a:rPr>
              <a:t>&lt;!--</a:t>
            </a:r>
            <a:r>
              <a:rPr lang="en-US" altLang="en-US" sz="2800" dirty="0"/>
              <a:t> This is what a comment tag looks like </a:t>
            </a:r>
            <a:r>
              <a:rPr lang="en-US" altLang="en-US" sz="2800" dirty="0">
                <a:solidFill>
                  <a:srgbClr val="CE0000"/>
                </a:solidFill>
              </a:rPr>
              <a:t>--&gt;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Each line of text should be individually commented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91C1781C-4C74-4B2E-A2CD-98BED02A8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Special Characters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1AB2C8BD-0999-46E9-84D4-0C6C52D76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7713"/>
            <a:ext cx="8116888" cy="4114800"/>
          </a:xfrm>
        </p:spPr>
        <p:txBody>
          <a:bodyPr>
            <a:normAutofit/>
          </a:bodyPr>
          <a:lstStyle/>
          <a:p>
            <a:pPr marL="420624" indent="-38404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/>
              <a:t>Special characters begin with an </a:t>
            </a:r>
            <a:r>
              <a:rPr lang="en-US" b="1" dirty="0">
                <a:solidFill>
                  <a:schemeClr val="tx2"/>
                </a:solidFill>
              </a:rPr>
              <a:t>&amp;</a:t>
            </a:r>
            <a:r>
              <a:rPr lang="en-US" dirty="0"/>
              <a:t> character</a:t>
            </a:r>
          </a:p>
          <a:p>
            <a:pPr marL="722376" lvl="1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400" dirty="0"/>
              <a:t>Ex. </a:t>
            </a:r>
            <a:r>
              <a:rPr lang="en-US" sz="2400" b="1" dirty="0">
                <a:solidFill>
                  <a:srgbClr val="CE0000"/>
                </a:solidFill>
              </a:rPr>
              <a:t>&amp;</a:t>
            </a:r>
            <a:r>
              <a:rPr lang="en-US" sz="2400" b="1" dirty="0" err="1">
                <a:solidFill>
                  <a:srgbClr val="CE0000"/>
                </a:solidFill>
              </a:rPr>
              <a:t>nbsp</a:t>
            </a:r>
            <a:r>
              <a:rPr lang="en-US" sz="2400" b="1" dirty="0">
                <a:solidFill>
                  <a:srgbClr val="CE0000"/>
                </a:solidFill>
              </a:rPr>
              <a:t>;  </a:t>
            </a:r>
            <a:r>
              <a:rPr lang="en-US" sz="2400" dirty="0"/>
              <a:t>non-breaking space</a:t>
            </a:r>
          </a:p>
          <a:p>
            <a:pPr marL="722376" lvl="1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400" dirty="0"/>
              <a:t>Ex. </a:t>
            </a:r>
            <a:r>
              <a:rPr lang="en-US" sz="2400" b="1" dirty="0">
                <a:solidFill>
                  <a:srgbClr val="CE0000"/>
                </a:solidFill>
              </a:rPr>
              <a:t>&amp;copy; &amp;</a:t>
            </a:r>
            <a:r>
              <a:rPr lang="en-US" sz="2400" b="1" dirty="0" err="1">
                <a:solidFill>
                  <a:srgbClr val="CE0000"/>
                </a:solidFill>
              </a:rPr>
              <a:t>quot</a:t>
            </a:r>
            <a:r>
              <a:rPr lang="en-US" sz="2400" b="1" dirty="0">
                <a:solidFill>
                  <a:srgbClr val="CE0000"/>
                </a:solidFill>
              </a:rPr>
              <a:t>; &amp;</a:t>
            </a:r>
            <a:r>
              <a:rPr lang="en-US" sz="2400" b="1" dirty="0" err="1">
                <a:solidFill>
                  <a:srgbClr val="CE0000"/>
                </a:solidFill>
              </a:rPr>
              <a:t>agrave</a:t>
            </a:r>
            <a:r>
              <a:rPr lang="en-US" sz="2400" b="1" dirty="0">
                <a:solidFill>
                  <a:srgbClr val="CE0000"/>
                </a:solidFill>
              </a:rPr>
              <a:t>;</a:t>
            </a:r>
          </a:p>
          <a:p>
            <a:pPr marL="722376" lvl="1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400" dirty="0"/>
              <a:t>Ex. </a:t>
            </a:r>
            <a:r>
              <a:rPr lang="en-US" sz="2400" b="1" dirty="0">
                <a:solidFill>
                  <a:srgbClr val="CE0000"/>
                </a:solidFill>
              </a:rPr>
              <a:t>&amp;</a:t>
            </a:r>
            <a:r>
              <a:rPr lang="en-US" sz="2400" b="1" dirty="0" err="1">
                <a:solidFill>
                  <a:srgbClr val="CE0000"/>
                </a:solidFill>
              </a:rPr>
              <a:t>lt</a:t>
            </a:r>
            <a:r>
              <a:rPr lang="en-US" sz="2400" b="1" dirty="0">
                <a:solidFill>
                  <a:srgbClr val="CE0000"/>
                </a:solidFill>
              </a:rPr>
              <a:t>; &amp;</a:t>
            </a:r>
            <a:r>
              <a:rPr lang="en-US" sz="2400" b="1" dirty="0" err="1">
                <a:solidFill>
                  <a:srgbClr val="CE0000"/>
                </a:solidFill>
              </a:rPr>
              <a:t>gt</a:t>
            </a:r>
            <a:r>
              <a:rPr lang="en-US" sz="2400" b="1" dirty="0">
                <a:solidFill>
                  <a:srgbClr val="CE0000"/>
                </a:solidFill>
              </a:rPr>
              <a:t>;  &amp;amp;</a:t>
            </a:r>
          </a:p>
          <a:p>
            <a:pPr marL="420624" indent="-38404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"/>
              <a:defRPr/>
            </a:pPr>
            <a:r>
              <a:rPr lang="en-US" sz="2800" b="1" dirty="0">
                <a:solidFill>
                  <a:srgbClr val="CE0000"/>
                </a:solidFill>
              </a:rPr>
              <a:t>Validation note: </a:t>
            </a:r>
            <a:br>
              <a:rPr lang="en-US" b="1" dirty="0">
                <a:solidFill>
                  <a:schemeClr val="tx2"/>
                </a:solidFill>
              </a:rPr>
            </a:br>
            <a:r>
              <a:rPr lang="en-US" dirty="0"/>
              <a:t>If an </a:t>
            </a:r>
            <a:r>
              <a:rPr lang="en-US" b="1" dirty="0">
                <a:solidFill>
                  <a:schemeClr val="tx2"/>
                </a:solidFill>
              </a:rPr>
              <a:t>&amp;</a:t>
            </a:r>
            <a:r>
              <a:rPr lang="en-US" dirty="0"/>
              <a:t> appears in text or a link path, the validator will give an error because it expects this begins a special character</a:t>
            </a:r>
          </a:p>
          <a:p>
            <a:pPr marL="722376" lvl="1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Always use the </a:t>
            </a:r>
            <a:r>
              <a:rPr lang="en-US" b="1" dirty="0">
                <a:solidFill>
                  <a:srgbClr val="CE0000"/>
                </a:solidFill>
              </a:rPr>
              <a:t>&amp;amp; </a:t>
            </a:r>
            <a:r>
              <a:rPr lang="en-US" dirty="0"/>
              <a:t>special character if an </a:t>
            </a:r>
            <a:r>
              <a:rPr lang="en-US" b="1" dirty="0">
                <a:solidFill>
                  <a:srgbClr val="CE0000"/>
                </a:solidFill>
              </a:rPr>
              <a:t>&amp;</a:t>
            </a:r>
            <a:r>
              <a:rPr lang="en-US" dirty="0"/>
              <a:t> is needed in a link path or text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60E6EF27-EA26-4B28-B01F-1272A88FE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Preformatted Text Tag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7CE546CC-99D3-4FEC-A394-BF6AAF9F8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CE0000"/>
                </a:solidFill>
              </a:rPr>
              <a:t>&lt;pre&gt; </a:t>
            </a:r>
            <a:r>
              <a:rPr lang="en-US" altLang="en-US" dirty="0"/>
              <a:t>tag has the following characteristics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Spacing between characters is kept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Every character takes up the same width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Can be used to line up columns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Can be used to create ASCII art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b="1" dirty="0">
                <a:solidFill>
                  <a:srgbClr val="CE0000"/>
                </a:solidFill>
              </a:rPr>
              <a:t>Validation Note: </a:t>
            </a:r>
            <a:br>
              <a:rPr lang="en-US" altLang="en-US" sz="2800" b="1" dirty="0">
                <a:solidFill>
                  <a:schemeClr val="tx2"/>
                </a:solidFill>
              </a:rPr>
            </a:br>
            <a:r>
              <a:rPr lang="en-US" altLang="en-US" sz="2800" dirty="0"/>
              <a:t>&lt;pre&gt; is a block-level element </a:t>
            </a:r>
            <a:br>
              <a:rPr lang="en-US" altLang="en-US" sz="2800" dirty="0"/>
            </a:br>
            <a:r>
              <a:rPr lang="en-US" altLang="en-US" sz="2800" dirty="0"/>
              <a:t>(cannot be nested inside another block-level element)</a:t>
            </a:r>
          </a:p>
          <a:p>
            <a:pPr lvl="1"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CC6A8853-CB02-4FF7-A5B2-8145F625C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Blockquote Tag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C9504E8C-0FE5-4575-97EC-F77966A9D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The &lt;blockquote&gt;is used for </a:t>
            </a:r>
            <a:r>
              <a:rPr lang="en-US" altLang="en-US" b="1" dirty="0">
                <a:solidFill>
                  <a:srgbClr val="CE0000"/>
                </a:solidFill>
              </a:rPr>
              <a:t>long</a:t>
            </a:r>
            <a:r>
              <a:rPr lang="en-US" altLang="en-US" dirty="0"/>
              <a:t> quotations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This is a block-level element – cannot be nested in other block-level elements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Indents both the left and right margin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 dirty="0">
                <a:solidFill>
                  <a:srgbClr val="CE0000"/>
                </a:solidFill>
              </a:rPr>
              <a:t>Note: </a:t>
            </a:r>
            <a:r>
              <a:rPr lang="en-US" altLang="en-US" dirty="0"/>
              <a:t>Should only be used for quotes </a:t>
            </a:r>
            <a:br>
              <a:rPr lang="en-US" altLang="en-US" dirty="0"/>
            </a:br>
            <a:r>
              <a:rPr lang="en-US" altLang="en-US" dirty="0"/>
              <a:t> not just to indent a paragraph of text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874FA40-74D0-48A3-AEBB-F93475A0CF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Division Tag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D0FCE05-A164-4947-B813-054E855608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017713"/>
            <a:ext cx="8497888" cy="4114800"/>
          </a:xfrm>
        </p:spPr>
        <p:txBody>
          <a:bodyPr/>
          <a:lstStyle/>
          <a:p>
            <a:pPr eaLnBrk="1" hangingPunct="1"/>
            <a:r>
              <a:rPr lang="en-US" altLang="en-US"/>
              <a:t>&lt;div&gt; - division groups a block of text</a:t>
            </a:r>
          </a:p>
          <a:p>
            <a:pPr eaLnBrk="1" hangingPunct="1"/>
            <a:r>
              <a:rPr lang="en-US" altLang="en-US"/>
              <a:t>You can use this to group tags as well as text</a:t>
            </a:r>
          </a:p>
          <a:p>
            <a:pPr eaLnBrk="1" hangingPunct="1"/>
            <a:r>
              <a:rPr lang="en-US" altLang="en-US"/>
              <a:t>The align attribute is deprecated for &lt;div&gt;</a:t>
            </a:r>
          </a:p>
          <a:p>
            <a:pPr eaLnBrk="1" hangingPunct="1"/>
            <a:r>
              <a:rPr lang="en-US" altLang="en-US"/>
              <a:t>Use CSS to align &lt;div&gt; tags</a:t>
            </a:r>
          </a:p>
          <a:p>
            <a:pPr eaLnBrk="1" hangingPunct="1"/>
            <a:r>
              <a:rPr lang="en-US" altLang="en-US"/>
              <a:t>The width of a &lt;div&gt; defaults to being the width of the entire window</a:t>
            </a:r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3">
            <a:extLst>
              <a:ext uri="{FF2B5EF4-FFF2-40B4-BE49-F238E27FC236}">
                <a16:creationId xmlns:a16="http://schemas.microsoft.com/office/drawing/2014/main" id="{BEE4770F-FC5A-4C2D-BCD4-7C447A9D3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371600"/>
            <a:ext cx="7239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&lt;div</a:t>
            </a:r>
            <a:r>
              <a:rPr lang="en-US" altLang="en-US" sz="1800" b="1">
                <a:solidFill>
                  <a:schemeClr val="tx2"/>
                </a:solidFill>
                <a:latin typeface="Tahoma" panose="020B0604030504040204" pitchFamily="34" charset="0"/>
              </a:rPr>
              <a:t>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&lt;h1 &gt; Susan's Cactus Gardens&lt;/h1&gt;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&lt;hr /&gt;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&lt;p&gt; Note: &lt;br /&gt; Cactus make wonderful house plants. Remember to water sparingly.&lt;/p&gt;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&lt;ul&gt;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     &lt;li&gt; Caring for Succulents &lt;/li&gt;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     &lt;li&gt; Propogating Cactus &lt;/li&gt;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     &lt;li&gt; Transplanting Cactus&lt;/li&gt;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     &lt;li&gt; Exotic Cactus &lt;/li&gt;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&lt;/ul&gt;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&lt;/div&gt;</a:t>
            </a:r>
          </a:p>
        </p:txBody>
      </p:sp>
      <p:sp>
        <p:nvSpPr>
          <p:cNvPr id="47107" name="Text Box 4">
            <a:extLst>
              <a:ext uri="{FF2B5EF4-FFF2-40B4-BE49-F238E27FC236}">
                <a16:creationId xmlns:a16="http://schemas.microsoft.com/office/drawing/2014/main" id="{165D82A3-001D-4F0E-83CF-606FEB39DEE0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 bwMode="auto">
          <a:xfrm>
            <a:off x="5715000" y="533400"/>
            <a:ext cx="3048000" cy="1384300"/>
          </a:xfrm>
          <a:prstGeom prst="rect">
            <a:avLst/>
          </a:prstGeom>
          <a:noFill/>
          <a:ln>
            <a:noFill/>
            <a:prstDash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Code Sample &lt;div&gt; Alignment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3">
            <a:extLst>
              <a:ext uri="{FF2B5EF4-FFF2-40B4-BE49-F238E27FC236}">
                <a16:creationId xmlns:a16="http://schemas.microsoft.com/office/drawing/2014/main" id="{2071DBB9-FC44-479A-B1A7-DD464B3B6BE5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 bwMode="auto">
          <a:xfrm>
            <a:off x="5334000" y="609600"/>
            <a:ext cx="3429000" cy="1816100"/>
          </a:xfrm>
          <a:prstGeom prst="rect">
            <a:avLst/>
          </a:prstGeom>
          <a:noFill/>
          <a:ln>
            <a:noFill/>
            <a:prstDash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Browser </a:t>
            </a:r>
            <a:b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b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Display of </a:t>
            </a:r>
            <a:b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b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Text </a:t>
            </a:r>
            <a:b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b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Alignment</a:t>
            </a:r>
          </a:p>
        </p:txBody>
      </p:sp>
      <p:pic>
        <p:nvPicPr>
          <p:cNvPr id="48131" name="Picture 2" descr="Example of Susan's Cactus Gardens displayed in a browser">
            <a:extLst>
              <a:ext uri="{FF2B5EF4-FFF2-40B4-BE49-F238E27FC236}">
                <a16:creationId xmlns:a16="http://schemas.microsoft.com/office/drawing/2014/main" id="{55464054-D950-4239-A409-E80C7B2A1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09588"/>
            <a:ext cx="6232525" cy="383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0B7EC760-819E-4AF8-AEED-4F9A84419A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Semantic Inline Elements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09899786-60E4-46BA-8906-0A5AD951B1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2017713"/>
            <a:ext cx="8193088" cy="4114800"/>
          </a:xfrm>
        </p:spPr>
        <p:txBody>
          <a:bodyPr>
            <a:normAutofit fontScale="92500" lnSpcReduction="10000"/>
          </a:bodyPr>
          <a:lstStyle/>
          <a:p>
            <a:pPr marL="420624" indent="-38404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"/>
              <a:defRPr/>
            </a:pPr>
            <a:r>
              <a:rPr lang="en-US" sz="2800" dirty="0"/>
              <a:t>There is a semantic meaning or context to the enclosed text of these tags</a:t>
            </a:r>
          </a:p>
          <a:p>
            <a:pPr marL="420624" indent="-38404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"/>
              <a:defRPr/>
            </a:pPr>
            <a:r>
              <a:rPr lang="en-US" sz="2800" dirty="0"/>
              <a:t>Some examples include:</a:t>
            </a:r>
          </a:p>
          <a:p>
            <a:pPr marL="722376" lvl="1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500" b="1" dirty="0">
                <a:solidFill>
                  <a:srgbClr val="CE0000"/>
                </a:solidFill>
              </a:rPr>
              <a:t>&lt;</a:t>
            </a:r>
            <a:r>
              <a:rPr lang="en-US" sz="2500" b="1" dirty="0" err="1">
                <a:solidFill>
                  <a:srgbClr val="CE0000"/>
                </a:solidFill>
              </a:rPr>
              <a:t>em</a:t>
            </a:r>
            <a:r>
              <a:rPr lang="en-US" sz="2500" b="1" dirty="0">
                <a:solidFill>
                  <a:srgbClr val="CE0000"/>
                </a:solidFill>
              </a:rPr>
              <a:t>&gt; </a:t>
            </a:r>
            <a:r>
              <a:rPr lang="en-US" sz="2500" dirty="0"/>
              <a:t>- emphasize characters, usually italicized </a:t>
            </a:r>
          </a:p>
          <a:p>
            <a:pPr marL="722376" lvl="1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500" b="1" dirty="0">
                <a:solidFill>
                  <a:srgbClr val="CE0000"/>
                </a:solidFill>
              </a:rPr>
              <a:t>&lt;strong&gt; </a:t>
            </a:r>
            <a:r>
              <a:rPr lang="en-US" sz="2500" dirty="0"/>
              <a:t>- more strongly emphasized than </a:t>
            </a:r>
            <a:r>
              <a:rPr lang="en-US" sz="2500" dirty="0" err="1"/>
              <a:t>em</a:t>
            </a:r>
            <a:r>
              <a:rPr lang="en-US" sz="2500" dirty="0"/>
              <a:t>, usually bolded</a:t>
            </a:r>
          </a:p>
          <a:p>
            <a:pPr marL="722376" lvl="1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500" b="1" dirty="0">
                <a:solidFill>
                  <a:srgbClr val="CE0000"/>
                </a:solidFill>
              </a:rPr>
              <a:t>&lt;code&gt; </a:t>
            </a:r>
            <a:r>
              <a:rPr lang="en-US" sz="2500" dirty="0"/>
              <a:t>- Used for code segments, displayed in monospace or fixed-length font like Courier</a:t>
            </a:r>
          </a:p>
          <a:p>
            <a:pPr marL="722376" lvl="1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500" b="1" dirty="0">
                <a:solidFill>
                  <a:srgbClr val="CE0000"/>
                </a:solidFill>
              </a:rPr>
              <a:t>&lt;</a:t>
            </a:r>
            <a:r>
              <a:rPr lang="en-US" sz="2500" b="1" dirty="0" err="1">
                <a:solidFill>
                  <a:srgbClr val="CE0000"/>
                </a:solidFill>
              </a:rPr>
              <a:t>samp</a:t>
            </a:r>
            <a:r>
              <a:rPr lang="en-US" sz="2500" b="1" dirty="0">
                <a:solidFill>
                  <a:srgbClr val="CE0000"/>
                </a:solidFill>
              </a:rPr>
              <a:t>&gt;</a:t>
            </a:r>
            <a:r>
              <a:rPr lang="en-US" sz="2500" dirty="0"/>
              <a:t>-</a:t>
            </a:r>
            <a:r>
              <a:rPr lang="en-US" sz="2500" b="1" dirty="0">
                <a:solidFill>
                  <a:schemeClr val="tx2"/>
                </a:solidFill>
              </a:rPr>
              <a:t> </a:t>
            </a:r>
            <a:r>
              <a:rPr lang="en-US" sz="2500" dirty="0"/>
              <a:t>sample text, usually fixed-length</a:t>
            </a:r>
          </a:p>
          <a:p>
            <a:pPr marL="722376" lvl="1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500" b="1" dirty="0">
                <a:solidFill>
                  <a:srgbClr val="CE0000"/>
                </a:solidFill>
              </a:rPr>
              <a:t>&lt;</a:t>
            </a:r>
            <a:r>
              <a:rPr lang="en-US" sz="2500" b="1" dirty="0" err="1">
                <a:solidFill>
                  <a:srgbClr val="CE0000"/>
                </a:solidFill>
              </a:rPr>
              <a:t>kbd</a:t>
            </a:r>
            <a:r>
              <a:rPr lang="en-US" sz="2500" b="1" dirty="0">
                <a:solidFill>
                  <a:srgbClr val="CE0000"/>
                </a:solidFill>
              </a:rPr>
              <a:t>&gt; </a:t>
            </a:r>
            <a:r>
              <a:rPr lang="en-US" sz="2500" dirty="0"/>
              <a:t>indicated what the user is to type, usually fixed-length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C57061B-5A3C-4AED-B887-4D5148C656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617538"/>
            <a:ext cx="7993062" cy="1143000"/>
          </a:xfrm>
        </p:spPr>
        <p:txBody>
          <a:bodyPr/>
          <a:lstStyle/>
          <a:p>
            <a:pPr eaLnBrk="1" hangingPunct="1"/>
            <a:r>
              <a:rPr lang="en-US" altLang="en-US"/>
              <a:t>More Semantic Inline Elements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533732DD-66DC-47D2-9795-1100B3937F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017713"/>
            <a:ext cx="8497888" cy="4114800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altLang="en-US" sz="2600" b="1" dirty="0">
                <a:solidFill>
                  <a:srgbClr val="CE0000"/>
                </a:solidFill>
              </a:rPr>
              <a:t>&lt;var&gt; </a:t>
            </a:r>
            <a:r>
              <a:rPr lang="en-US" altLang="en-US" sz="2600" dirty="0"/>
              <a:t>- name of a variable, italicized or underlined</a:t>
            </a:r>
          </a:p>
          <a:p>
            <a:pPr eaLnBrk="1" hangingPunct="1"/>
            <a:r>
              <a:rPr lang="en-US" altLang="en-US" sz="2600" b="1" dirty="0">
                <a:solidFill>
                  <a:srgbClr val="CE0000"/>
                </a:solidFill>
              </a:rPr>
              <a:t>&lt;</a:t>
            </a:r>
            <a:r>
              <a:rPr lang="en-US" altLang="en-US" sz="2600" b="1" dirty="0" err="1">
                <a:solidFill>
                  <a:srgbClr val="CE0000"/>
                </a:solidFill>
              </a:rPr>
              <a:t>dfn</a:t>
            </a:r>
            <a:r>
              <a:rPr lang="en-US" altLang="en-US" sz="2600" b="1" dirty="0">
                <a:solidFill>
                  <a:srgbClr val="CE0000"/>
                </a:solidFill>
              </a:rPr>
              <a:t>&gt; </a:t>
            </a:r>
            <a:r>
              <a:rPr lang="en-US" altLang="en-US" sz="2600" dirty="0"/>
              <a:t>- definition, used to highlight, usually  italicized</a:t>
            </a:r>
          </a:p>
          <a:p>
            <a:pPr eaLnBrk="1" hangingPunct="1"/>
            <a:r>
              <a:rPr lang="en-US" altLang="en-US" sz="2600" b="1" dirty="0">
                <a:solidFill>
                  <a:srgbClr val="CE0000"/>
                </a:solidFill>
              </a:rPr>
              <a:t>&lt;</a:t>
            </a:r>
            <a:r>
              <a:rPr lang="en-US" altLang="en-US" sz="2600" b="1" dirty="0" err="1">
                <a:solidFill>
                  <a:srgbClr val="CE0000"/>
                </a:solidFill>
              </a:rPr>
              <a:t>abbr</a:t>
            </a:r>
            <a:r>
              <a:rPr lang="en-US" altLang="en-US" sz="2600" b="1" dirty="0">
                <a:solidFill>
                  <a:srgbClr val="CE0000"/>
                </a:solidFill>
              </a:rPr>
              <a:t>&gt;</a:t>
            </a:r>
            <a:r>
              <a:rPr lang="en-US" altLang="en-US" sz="2600" dirty="0"/>
              <a:t>- used for an abbreviation of a word, title attribute holds long version</a:t>
            </a:r>
          </a:p>
          <a:p>
            <a:pPr eaLnBrk="1" hangingPunct="1"/>
            <a:r>
              <a:rPr lang="en-US" altLang="en-US" sz="2600" b="1" dirty="0">
                <a:solidFill>
                  <a:srgbClr val="CE0000"/>
                </a:solidFill>
              </a:rPr>
              <a:t>&lt;acronym&gt; </a:t>
            </a:r>
            <a:r>
              <a:rPr lang="en-US" altLang="en-US" sz="2600" dirty="0"/>
              <a:t>- designates a word formed by combining letters from several words, title attribute holds long version</a:t>
            </a:r>
          </a:p>
          <a:p>
            <a:pPr eaLnBrk="1" hangingPunct="1"/>
            <a:r>
              <a:rPr lang="en-US" altLang="en-US" sz="2600" b="1" dirty="0">
                <a:solidFill>
                  <a:srgbClr val="CE0000"/>
                </a:solidFill>
              </a:rPr>
              <a:t>&lt;ins&gt; </a:t>
            </a:r>
            <a:r>
              <a:rPr lang="en-US" altLang="en-US" sz="2600" dirty="0"/>
              <a:t>- text to be inserted, when editing</a:t>
            </a:r>
          </a:p>
          <a:p>
            <a:pPr eaLnBrk="1" hangingPunct="1"/>
            <a:r>
              <a:rPr lang="en-US" altLang="en-US" sz="2600" b="1" dirty="0">
                <a:solidFill>
                  <a:srgbClr val="CE0000"/>
                </a:solidFill>
              </a:rPr>
              <a:t>&lt;del&gt; </a:t>
            </a:r>
            <a:r>
              <a:rPr lang="en-US" altLang="en-US" sz="2600" dirty="0"/>
              <a:t>- text to be deleted, when editing</a:t>
            </a:r>
          </a:p>
          <a:p>
            <a:pPr eaLnBrk="1" hangingPunct="1"/>
            <a:endParaRPr lang="en-US" altLang="en-US" sz="2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6110F6F5-BD0E-476F-B6F1-388CB3575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/>
              <a:t>Cite – Quotation - Blockquote???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9876820C-A7EF-419D-8AC7-0E0F0CCB5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05000"/>
            <a:ext cx="8269288" cy="4114800"/>
          </a:xfrm>
        </p:spPr>
        <p:txBody>
          <a:bodyPr>
            <a:normAutofit/>
          </a:bodyPr>
          <a:lstStyle/>
          <a:p>
            <a:pPr marL="420624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/>
              <a:t>Semantic Inline elements:</a:t>
            </a:r>
          </a:p>
          <a:p>
            <a:pPr marL="722376" lvl="1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>
                <a:solidFill>
                  <a:srgbClr val="CE0000"/>
                </a:solidFill>
              </a:rPr>
              <a:t>&lt;cite&gt; </a:t>
            </a:r>
            <a:r>
              <a:rPr lang="en-US" dirty="0"/>
              <a:t>- used for identifying or “citing” a reference as in book or magazine, usually rendered in italics</a:t>
            </a:r>
          </a:p>
          <a:p>
            <a:pPr marL="722376" lvl="1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>
                <a:solidFill>
                  <a:srgbClr val="CE0000"/>
                </a:solidFill>
              </a:rPr>
              <a:t>&lt;q&gt; </a:t>
            </a:r>
            <a:r>
              <a:rPr lang="en-US" b="1" dirty="0">
                <a:solidFill>
                  <a:schemeClr val="tx2"/>
                </a:solidFill>
              </a:rPr>
              <a:t>- </a:t>
            </a:r>
            <a:r>
              <a:rPr lang="en-US" dirty="0"/>
              <a:t>used for short quotations </a:t>
            </a:r>
            <a:br>
              <a:rPr lang="en-US" dirty="0"/>
            </a:br>
            <a:r>
              <a:rPr lang="en-US" b="1" dirty="0">
                <a:solidFill>
                  <a:srgbClr val="CE0000"/>
                </a:solidFill>
              </a:rPr>
              <a:t>Dilemma: </a:t>
            </a:r>
            <a:r>
              <a:rPr lang="en-US" dirty="0"/>
              <a:t>Standard compliant browsers add the </a:t>
            </a:r>
            <a:r>
              <a:rPr lang="en-US" b="1" dirty="0">
                <a:solidFill>
                  <a:schemeClr val="tx2"/>
                </a:solidFill>
              </a:rPr>
              <a:t>“ ” </a:t>
            </a:r>
            <a:r>
              <a:rPr lang="en-US" dirty="0"/>
              <a:t>, but other browsers will not, so decide whether to provide </a:t>
            </a:r>
            <a:r>
              <a:rPr lang="en-US" b="1" dirty="0">
                <a:solidFill>
                  <a:schemeClr val="tx2"/>
                </a:solidFill>
              </a:rPr>
              <a:t>“ ” </a:t>
            </a:r>
            <a:r>
              <a:rPr lang="en-US" dirty="0"/>
              <a:t>or not </a:t>
            </a:r>
          </a:p>
          <a:p>
            <a:pPr marL="420624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/>
              <a:t>Block-level element:</a:t>
            </a:r>
          </a:p>
          <a:p>
            <a:pPr marL="722376" lvl="1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>
                <a:solidFill>
                  <a:srgbClr val="CE0000"/>
                </a:solidFill>
              </a:rPr>
              <a:t>&lt;blockquote&gt; </a:t>
            </a:r>
            <a:r>
              <a:rPr lang="en-US" dirty="0"/>
              <a:t>- used for long quotations, is indented on both left and right side</a:t>
            </a:r>
          </a:p>
          <a:p>
            <a:pPr marL="36576" indent="0" eaLnBrk="1" fontAlgn="auto" hangingPunct="1">
              <a:spcAft>
                <a:spcPts val="0"/>
              </a:spcAft>
              <a:buNone/>
              <a:defRPr/>
            </a:pPr>
            <a:endParaRPr lang="en-US" sz="2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3">
            <a:extLst>
              <a:ext uri="{FF2B5EF4-FFF2-40B4-BE49-F238E27FC236}">
                <a16:creationId xmlns:a16="http://schemas.microsoft.com/office/drawing/2014/main" id="{70F1A452-BD4A-46DF-B1C3-71A7A7188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04800"/>
            <a:ext cx="8153400" cy="669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dirty="0">
                <a:latin typeface="Tahoma" panose="020B0604030504040204" pitchFamily="34" charset="0"/>
              </a:rPr>
              <a:t>&lt;p&gt; The anteater is the </a:t>
            </a:r>
            <a:br>
              <a:rPr lang="en-US" altLang="en-US" sz="2200" dirty="0">
                <a:latin typeface="Tahoma" panose="020B0604030504040204" pitchFamily="34" charset="0"/>
              </a:rPr>
            </a:br>
            <a:r>
              <a:rPr lang="en-US" altLang="en-US" sz="2200" b="1" dirty="0">
                <a:solidFill>
                  <a:srgbClr val="CE0000"/>
                </a:solidFill>
                <a:latin typeface="Tahoma" panose="020B0604030504040204" pitchFamily="34" charset="0"/>
              </a:rPr>
              <a:t>&lt;</a:t>
            </a:r>
            <a:r>
              <a:rPr lang="en-US" altLang="en-US" sz="2200" b="1" dirty="0" err="1">
                <a:solidFill>
                  <a:srgbClr val="CE0000"/>
                </a:solidFill>
                <a:latin typeface="Tahoma" panose="020B0604030504040204" pitchFamily="34" charset="0"/>
              </a:rPr>
              <a:t>em</a:t>
            </a:r>
            <a:r>
              <a:rPr lang="en-US" altLang="en-US" sz="2200" b="1" dirty="0">
                <a:solidFill>
                  <a:srgbClr val="CE0000"/>
                </a:solidFill>
                <a:latin typeface="Tahoma" panose="020B0604030504040204" pitchFamily="34" charset="0"/>
              </a:rPr>
              <a:t>&gt;</a:t>
            </a:r>
            <a:r>
              <a:rPr lang="en-US" altLang="en-US" sz="2200" dirty="0">
                <a:latin typeface="Tahoma" panose="020B0604030504040204" pitchFamily="34" charset="0"/>
              </a:rPr>
              <a:t>strangest</a:t>
            </a:r>
            <a:r>
              <a:rPr lang="en-US" altLang="en-US" sz="2200" b="1" dirty="0">
                <a:solidFill>
                  <a:srgbClr val="CE0000"/>
                </a:solidFill>
                <a:latin typeface="Tahoma" panose="020B0604030504040204" pitchFamily="34" charset="0"/>
              </a:rPr>
              <a:t>&lt;/</a:t>
            </a:r>
            <a:r>
              <a:rPr lang="en-US" altLang="en-US" sz="2200" b="1" dirty="0" err="1">
                <a:solidFill>
                  <a:srgbClr val="CE0000"/>
                </a:solidFill>
                <a:latin typeface="Tahoma" panose="020B0604030504040204" pitchFamily="34" charset="0"/>
              </a:rPr>
              <a:t>em</a:t>
            </a:r>
            <a:r>
              <a:rPr lang="en-US" altLang="en-US" sz="2200" b="1" dirty="0">
                <a:solidFill>
                  <a:srgbClr val="CE0000"/>
                </a:solidFill>
                <a:latin typeface="Tahoma" panose="020B0604030504040204" pitchFamily="34" charset="0"/>
              </a:rPr>
              <a:t>&gt;</a:t>
            </a:r>
            <a:r>
              <a:rPr lang="en-US" altLang="en-US" sz="2200" dirty="0">
                <a:solidFill>
                  <a:srgbClr val="CE0000"/>
                </a:solidFill>
                <a:latin typeface="Tahoma" panose="020B0604030504040204" pitchFamily="34" charset="0"/>
              </a:rPr>
              <a:t> </a:t>
            </a:r>
            <a:br>
              <a:rPr lang="en-US" altLang="en-US" sz="2200" dirty="0">
                <a:latin typeface="Tahoma" panose="020B0604030504040204" pitchFamily="34" charset="0"/>
              </a:rPr>
            </a:br>
            <a:r>
              <a:rPr lang="en-US" altLang="en-US" sz="2200" dirty="0">
                <a:latin typeface="Tahoma" panose="020B0604030504040204" pitchFamily="34" charset="0"/>
              </a:rPr>
              <a:t>looking animal, isn't it?&lt;/p&gt;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dirty="0">
                <a:latin typeface="Tahoma" panose="020B0604030504040204" pitchFamily="34" charset="0"/>
              </a:rPr>
              <a:t>&lt;p&gt;Take a </a:t>
            </a:r>
            <a:r>
              <a:rPr lang="en-US" altLang="en-US" sz="2200" b="1" dirty="0">
                <a:solidFill>
                  <a:srgbClr val="CE0000"/>
                </a:solidFill>
                <a:latin typeface="Tahoma" panose="020B0604030504040204" pitchFamily="34" charset="0"/>
              </a:rPr>
              <a:t>&lt;strong&gt;</a:t>
            </a:r>
            <a:r>
              <a:rPr lang="en-US" altLang="en-US" sz="2200" dirty="0">
                <a:latin typeface="Tahoma" panose="020B0604030504040204" pitchFamily="34" charset="0"/>
              </a:rPr>
              <a:t>left turn</a:t>
            </a:r>
            <a:r>
              <a:rPr lang="en-US" altLang="en-US" sz="2200" b="1" dirty="0">
                <a:solidFill>
                  <a:srgbClr val="CE0000"/>
                </a:solidFill>
                <a:latin typeface="Tahoma" panose="020B0604030504040204" pitchFamily="34" charset="0"/>
              </a:rPr>
              <a:t>&lt;/strong&gt;</a:t>
            </a:r>
            <a:r>
              <a:rPr lang="en-US" altLang="en-US" sz="2200" dirty="0">
                <a:solidFill>
                  <a:srgbClr val="CE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2200" dirty="0">
                <a:latin typeface="Tahoma" panose="020B0604030504040204" pitchFamily="34" charset="0"/>
              </a:rPr>
              <a:t>at </a:t>
            </a:r>
            <a:br>
              <a:rPr lang="en-US" altLang="en-US" sz="2200" dirty="0">
                <a:latin typeface="Tahoma" panose="020B0604030504040204" pitchFamily="34" charset="0"/>
              </a:rPr>
            </a:br>
            <a:r>
              <a:rPr lang="en-US" altLang="en-US" sz="2200" b="1" dirty="0">
                <a:solidFill>
                  <a:srgbClr val="CE0000"/>
                </a:solidFill>
                <a:latin typeface="Tahoma" panose="020B0604030504040204" pitchFamily="34" charset="0"/>
              </a:rPr>
              <a:t>&lt;strong</a:t>
            </a:r>
            <a:r>
              <a:rPr lang="en-US" altLang="en-US" sz="2200" dirty="0">
                <a:solidFill>
                  <a:srgbClr val="CE0000"/>
                </a:solidFill>
                <a:latin typeface="Tahoma" panose="020B0604030504040204" pitchFamily="34" charset="0"/>
              </a:rPr>
              <a:t>&gt;</a:t>
            </a:r>
            <a:r>
              <a:rPr lang="en-US" altLang="en-US" sz="2200" dirty="0">
                <a:latin typeface="Tahoma" panose="020B0604030504040204" pitchFamily="34" charset="0"/>
              </a:rPr>
              <a:t>Dee's Hop Stop</a:t>
            </a:r>
            <a:r>
              <a:rPr lang="en-US" altLang="en-US" sz="2200" b="1" dirty="0">
                <a:solidFill>
                  <a:srgbClr val="CE0000"/>
                </a:solidFill>
                <a:latin typeface="Tahoma" panose="020B0604030504040204" pitchFamily="34" charset="0"/>
              </a:rPr>
              <a:t>&lt;/strong&gt;</a:t>
            </a:r>
            <a:r>
              <a:rPr lang="en-US" altLang="en-US" sz="2200" b="1" dirty="0">
                <a:solidFill>
                  <a:schemeClr val="tx2"/>
                </a:solidFill>
                <a:latin typeface="Tahoma" panose="020B0604030504040204" pitchFamily="34" charset="0"/>
              </a:rPr>
              <a:t>&lt;/</a:t>
            </a:r>
            <a:r>
              <a:rPr lang="en-US" altLang="en-US" sz="2200" dirty="0">
                <a:latin typeface="Tahoma" panose="020B0604030504040204" pitchFamily="34" charset="0"/>
              </a:rPr>
              <a:t>p&gt;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dirty="0">
                <a:latin typeface="Tahoma" panose="020B0604030504040204" pitchFamily="34" charset="0"/>
              </a:rPr>
              <a:t>&lt;p&gt; </a:t>
            </a:r>
            <a:r>
              <a:rPr lang="en-US" altLang="en-US" sz="2200" b="1" dirty="0">
                <a:solidFill>
                  <a:srgbClr val="CE0000"/>
                </a:solidFill>
                <a:latin typeface="Tahoma" panose="020B0604030504040204" pitchFamily="34" charset="0"/>
              </a:rPr>
              <a:t>&lt;code&gt;</a:t>
            </a:r>
            <a:r>
              <a:rPr lang="en-US" altLang="en-US" sz="2200" dirty="0">
                <a:latin typeface="Tahoma" panose="020B0604030504040204" pitchFamily="34" charset="0"/>
              </a:rPr>
              <a:t>#include "myfile.cpp”</a:t>
            </a:r>
            <a:r>
              <a:rPr lang="en-US" altLang="en-US" sz="2200" b="1" dirty="0">
                <a:solidFill>
                  <a:srgbClr val="CE0000"/>
                </a:solidFill>
                <a:latin typeface="Tahoma" panose="020B0604030504040204" pitchFamily="34" charset="0"/>
              </a:rPr>
              <a:t>&lt;/code&gt;</a:t>
            </a:r>
            <a:r>
              <a:rPr lang="en-US" altLang="en-US" sz="2200" dirty="0">
                <a:latin typeface="Tahoma" panose="020B0604030504040204" pitchFamily="34" charset="0"/>
              </a:rPr>
              <a:t>&lt;/p&gt;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dirty="0">
                <a:latin typeface="Tahoma" panose="020B0604030504040204" pitchFamily="34" charset="0"/>
              </a:rPr>
              <a:t>&lt;p&gt;The URL for that page is </a:t>
            </a:r>
            <a:br>
              <a:rPr lang="en-US" altLang="en-US" sz="2200" dirty="0">
                <a:latin typeface="Tahoma" panose="020B0604030504040204" pitchFamily="34" charset="0"/>
              </a:rPr>
            </a:br>
            <a:r>
              <a:rPr lang="en-US" altLang="en-US" sz="2200" b="1" dirty="0">
                <a:solidFill>
                  <a:srgbClr val="CE0000"/>
                </a:solidFill>
                <a:latin typeface="Tahoma" panose="020B0604030504040204" pitchFamily="34" charset="0"/>
              </a:rPr>
              <a:t>&lt;</a:t>
            </a:r>
            <a:r>
              <a:rPr lang="en-US" altLang="en-US" sz="2200" b="1" dirty="0" err="1">
                <a:solidFill>
                  <a:srgbClr val="CE0000"/>
                </a:solidFill>
                <a:latin typeface="Tahoma" panose="020B0604030504040204" pitchFamily="34" charset="0"/>
              </a:rPr>
              <a:t>samp</a:t>
            </a:r>
            <a:r>
              <a:rPr lang="en-US" altLang="en-US" sz="2200" b="1" dirty="0">
                <a:solidFill>
                  <a:srgbClr val="CE0000"/>
                </a:solidFill>
                <a:latin typeface="Tahoma" panose="020B0604030504040204" pitchFamily="34" charset="0"/>
              </a:rPr>
              <a:t>&gt;</a:t>
            </a:r>
            <a:r>
              <a:rPr lang="en-US" altLang="en-US" sz="2200" dirty="0">
                <a:latin typeface="Tahoma" panose="020B0604030504040204" pitchFamily="34" charset="0"/>
              </a:rPr>
              <a:t> http://www.cern.ch/ </a:t>
            </a:r>
            <a:r>
              <a:rPr lang="en-US" altLang="en-US" sz="2200" b="1" dirty="0">
                <a:solidFill>
                  <a:srgbClr val="CE0000"/>
                </a:solidFill>
                <a:latin typeface="Tahoma" panose="020B0604030504040204" pitchFamily="34" charset="0"/>
              </a:rPr>
              <a:t>&lt;/</a:t>
            </a:r>
            <a:r>
              <a:rPr lang="en-US" altLang="en-US" sz="2200" b="1" dirty="0" err="1">
                <a:solidFill>
                  <a:srgbClr val="CE0000"/>
                </a:solidFill>
                <a:latin typeface="Tahoma" panose="020B0604030504040204" pitchFamily="34" charset="0"/>
              </a:rPr>
              <a:t>samp</a:t>
            </a:r>
            <a:r>
              <a:rPr lang="en-US" altLang="en-US" sz="2200" b="1" dirty="0">
                <a:solidFill>
                  <a:srgbClr val="CE0000"/>
                </a:solidFill>
                <a:latin typeface="Tahoma" panose="020B0604030504040204" pitchFamily="34" charset="0"/>
              </a:rPr>
              <a:t>&gt;</a:t>
            </a:r>
            <a:r>
              <a:rPr lang="en-US" altLang="en-US" sz="2200" dirty="0">
                <a:latin typeface="Tahoma" panose="020B0604030504040204" pitchFamily="34" charset="0"/>
              </a:rPr>
              <a:t> &lt;/p&gt;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dirty="0">
                <a:latin typeface="Tahoma" panose="020B0604030504040204" pitchFamily="34" charset="0"/>
              </a:rPr>
              <a:t>&lt;p&gt; </a:t>
            </a:r>
            <a:r>
              <a:rPr lang="en-US" altLang="en-US" sz="2200" b="1" dirty="0">
                <a:solidFill>
                  <a:srgbClr val="CE0000"/>
                </a:solidFill>
                <a:latin typeface="Tahoma" panose="020B0604030504040204" pitchFamily="34" charset="0"/>
              </a:rPr>
              <a:t>&lt;cite&gt;</a:t>
            </a:r>
            <a:r>
              <a:rPr lang="en-US" altLang="en-US" sz="2200" dirty="0">
                <a:latin typeface="Tahoma" panose="020B0604030504040204" pitchFamily="34" charset="0"/>
              </a:rPr>
              <a:t>Eggplant has been known to cause </a:t>
            </a:r>
            <a:br>
              <a:rPr lang="en-US" altLang="en-US" sz="2200" dirty="0">
                <a:latin typeface="Tahoma" panose="020B0604030504040204" pitchFamily="34" charset="0"/>
              </a:rPr>
            </a:br>
            <a:r>
              <a:rPr lang="en-US" altLang="en-US" sz="2200" dirty="0">
                <a:latin typeface="Tahoma" panose="020B0604030504040204" pitchFamily="34" charset="0"/>
              </a:rPr>
              <a:t>nausea in some people</a:t>
            </a:r>
            <a:r>
              <a:rPr lang="en-US" altLang="en-US" sz="2200" b="1" dirty="0">
                <a:solidFill>
                  <a:srgbClr val="CE0000"/>
                </a:solidFill>
                <a:latin typeface="Tahoma" panose="020B0604030504040204" pitchFamily="34" charset="0"/>
              </a:rPr>
              <a:t>&lt;/cite&gt;</a:t>
            </a:r>
            <a:r>
              <a:rPr lang="en-US" altLang="en-US" sz="2200" dirty="0">
                <a:latin typeface="Tahoma" panose="020B0604030504040204" pitchFamily="34" charset="0"/>
              </a:rPr>
              <a:t> &lt;/p&gt;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dirty="0">
                <a:latin typeface="Tahoma" panose="020B0604030504040204" pitchFamily="34" charset="0"/>
              </a:rPr>
              <a:t>&lt;p&gt;Use the standard abbreviation for California </a:t>
            </a:r>
            <a:br>
              <a:rPr lang="en-US" altLang="en-US" sz="2200" dirty="0">
                <a:latin typeface="Tahoma" panose="020B0604030504040204" pitchFamily="34" charset="0"/>
              </a:rPr>
            </a:br>
            <a:r>
              <a:rPr lang="en-US" altLang="en-US" sz="2200" b="1" dirty="0">
                <a:solidFill>
                  <a:srgbClr val="CE0000"/>
                </a:solidFill>
                <a:latin typeface="Tahoma" panose="020B0604030504040204" pitchFamily="34" charset="0"/>
              </a:rPr>
              <a:t>&lt;</a:t>
            </a:r>
            <a:r>
              <a:rPr lang="en-US" altLang="en-US" sz="2200" b="1" dirty="0" err="1">
                <a:solidFill>
                  <a:srgbClr val="CE0000"/>
                </a:solidFill>
                <a:latin typeface="Tahoma" panose="020B0604030504040204" pitchFamily="34" charset="0"/>
              </a:rPr>
              <a:t>abbr</a:t>
            </a:r>
            <a:r>
              <a:rPr lang="en-US" altLang="en-US" sz="2200" b="1" dirty="0">
                <a:solidFill>
                  <a:srgbClr val="CE0000"/>
                </a:solidFill>
                <a:latin typeface="Tahoma" panose="020B0604030504040204" pitchFamily="34" charset="0"/>
              </a:rPr>
              <a:t> title=“California”&gt;</a:t>
            </a:r>
            <a:r>
              <a:rPr lang="en-US" altLang="en-US" sz="2200" dirty="0">
                <a:latin typeface="Tahoma" panose="020B0604030504040204" pitchFamily="34" charset="0"/>
              </a:rPr>
              <a:t>CA</a:t>
            </a:r>
            <a:r>
              <a:rPr lang="en-US" altLang="en-US" sz="2200" b="1" dirty="0">
                <a:solidFill>
                  <a:srgbClr val="CE0000"/>
                </a:solidFill>
                <a:latin typeface="Tahoma" panose="020B0604030504040204" pitchFamily="34" charset="0"/>
              </a:rPr>
              <a:t>&lt;/</a:t>
            </a:r>
            <a:r>
              <a:rPr lang="en-US" altLang="en-US" sz="2200" b="1" dirty="0" err="1">
                <a:solidFill>
                  <a:srgbClr val="CE0000"/>
                </a:solidFill>
                <a:latin typeface="Tahoma" panose="020B0604030504040204" pitchFamily="34" charset="0"/>
              </a:rPr>
              <a:t>abbr</a:t>
            </a:r>
            <a:r>
              <a:rPr lang="en-US" altLang="en-US" sz="2200" b="1" dirty="0">
                <a:solidFill>
                  <a:srgbClr val="CE0000"/>
                </a:solidFill>
                <a:latin typeface="Tahoma" panose="020B0604030504040204" pitchFamily="34" charset="0"/>
              </a:rPr>
              <a:t>&gt;</a:t>
            </a:r>
            <a:r>
              <a:rPr lang="en-US" altLang="en-US" sz="2200" dirty="0">
                <a:latin typeface="Tahoma" panose="020B0604030504040204" pitchFamily="34" charset="0"/>
              </a:rPr>
              <a:t> &lt;/p&gt;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dirty="0">
                <a:latin typeface="Tahoma" panose="020B0604030504040204" pitchFamily="34" charset="0"/>
              </a:rPr>
              <a:t>&lt;p&gt; World Wide Web </a:t>
            </a:r>
            <a:br>
              <a:rPr lang="en-US" altLang="en-US" sz="2200" dirty="0">
                <a:latin typeface="Tahoma" panose="020B0604030504040204" pitchFamily="34" charset="0"/>
              </a:rPr>
            </a:br>
            <a:r>
              <a:rPr lang="en-US" altLang="en-US" sz="2200" b="1" dirty="0">
                <a:solidFill>
                  <a:srgbClr val="CE0000"/>
                </a:solidFill>
                <a:latin typeface="Tahoma" panose="020B0604030504040204" pitchFamily="34" charset="0"/>
              </a:rPr>
              <a:t>&lt;acronym title=“World Wide Web”&gt;</a:t>
            </a:r>
            <a:r>
              <a:rPr lang="en-US" altLang="en-US" sz="2200" dirty="0">
                <a:latin typeface="Tahoma" panose="020B0604030504040204" pitchFamily="34" charset="0"/>
              </a:rPr>
              <a:t>WWW</a:t>
            </a:r>
            <a:r>
              <a:rPr lang="en-US" altLang="en-US" sz="2200" b="1" dirty="0">
                <a:solidFill>
                  <a:srgbClr val="CE0000"/>
                </a:solidFill>
                <a:latin typeface="Tahoma" panose="020B0604030504040204" pitchFamily="34" charset="0"/>
              </a:rPr>
              <a:t>&lt;/acronym&gt;</a:t>
            </a:r>
            <a:r>
              <a:rPr lang="en-US" altLang="en-US" sz="2200" dirty="0">
                <a:latin typeface="Tahoma" panose="020B0604030504040204" pitchFamily="34" charset="0"/>
              </a:rPr>
              <a:t> &lt;/p&gt;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200" dirty="0">
              <a:latin typeface="Tahoma" panose="020B0604030504040204" pitchFamily="34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C719426A-EC01-473E-ACD2-2D004F4FF7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38600" y="304800"/>
            <a:ext cx="4876800" cy="1143000"/>
          </a:xfrm>
        </p:spPr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/>
              <a:t>Semantic Elements Example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3" descr="logical">
            <a:extLst>
              <a:ext uri="{FF2B5EF4-FFF2-40B4-BE49-F238E27FC236}">
                <a16:creationId xmlns:a16="http://schemas.microsoft.com/office/drawing/2014/main" id="{2D38C181-6609-4334-B256-92F6FBFA6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814" y="1905000"/>
            <a:ext cx="6743700" cy="4767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C4E012-8E7D-4AC8-8D6D-B3E2F0D5EB19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Sematic Elements Example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971551DB-AFBF-468B-81EC-CA21E469BF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Presentational Inline Elements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27931412-4E14-49B9-8307-048CFB5F46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These elements provide typesetting guidelines to enclosed text</a:t>
            </a:r>
          </a:p>
          <a:p>
            <a:pPr eaLnBrk="1" hangingPunct="1"/>
            <a:r>
              <a:rPr lang="en-US" altLang="en-US" dirty="0"/>
              <a:t>Must have opening and closing tag</a:t>
            </a:r>
          </a:p>
          <a:p>
            <a:pPr eaLnBrk="1" hangingPunct="1"/>
            <a:r>
              <a:rPr lang="en-US" altLang="en-US" dirty="0"/>
              <a:t>Some examples include: </a:t>
            </a:r>
          </a:p>
          <a:p>
            <a:pPr lvl="1" eaLnBrk="1" hangingPunct="1"/>
            <a:r>
              <a:rPr lang="en-US" altLang="en-US" b="1" dirty="0">
                <a:solidFill>
                  <a:srgbClr val="CE0000"/>
                </a:solidFill>
              </a:rPr>
              <a:t>&lt;b&gt; </a:t>
            </a:r>
            <a:r>
              <a:rPr lang="en-US" altLang="en-US" dirty="0"/>
              <a:t>- bold, better to use CSS</a:t>
            </a:r>
          </a:p>
          <a:p>
            <a:pPr lvl="1" eaLnBrk="1" hangingPunct="1"/>
            <a:r>
              <a:rPr lang="en-US" altLang="en-US" b="1" dirty="0">
                <a:solidFill>
                  <a:srgbClr val="CE0000"/>
                </a:solidFill>
              </a:rPr>
              <a:t>&lt;</a:t>
            </a:r>
            <a:r>
              <a:rPr lang="en-US" altLang="en-US" b="1" dirty="0" err="1">
                <a:solidFill>
                  <a:srgbClr val="CE0000"/>
                </a:solidFill>
              </a:rPr>
              <a:t>i</a:t>
            </a:r>
            <a:r>
              <a:rPr lang="en-US" altLang="en-US" b="1" dirty="0">
                <a:solidFill>
                  <a:srgbClr val="CE0000"/>
                </a:solidFill>
              </a:rPr>
              <a:t>&gt; </a:t>
            </a:r>
            <a:r>
              <a:rPr lang="en-US" altLang="en-US" b="1" dirty="0">
                <a:solidFill>
                  <a:schemeClr val="tx2"/>
                </a:solidFill>
              </a:rPr>
              <a:t>- </a:t>
            </a:r>
            <a:r>
              <a:rPr lang="en-US" altLang="en-US" dirty="0"/>
              <a:t>italic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DFA77E3C-BE84-4760-A84A-D36E08B195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More Presentational </a:t>
            </a:r>
            <a:br>
              <a:rPr lang="en-US"/>
            </a:br>
            <a:r>
              <a:rPr lang="en-US"/>
              <a:t>             Inline Elements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16E56C9E-1E42-4287-BD01-D37CC1BECD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b="1" dirty="0">
                <a:solidFill>
                  <a:srgbClr val="CE0000"/>
                </a:solidFill>
              </a:rPr>
              <a:t>&lt;small&gt; </a:t>
            </a:r>
            <a:r>
              <a:rPr lang="en-US" altLang="en-US" sz="2800" dirty="0"/>
              <a:t>- smaller that surrounding text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b="1" dirty="0">
                <a:solidFill>
                  <a:srgbClr val="CE0000"/>
                </a:solidFill>
              </a:rPr>
              <a:t>&lt;sub&gt; </a:t>
            </a:r>
            <a:r>
              <a:rPr lang="en-US" altLang="en-US" sz="2800" dirty="0"/>
              <a:t>- subscript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b="1" dirty="0">
                <a:solidFill>
                  <a:srgbClr val="CE0000"/>
                </a:solidFill>
              </a:rPr>
              <a:t>&lt;sup&gt; </a:t>
            </a:r>
            <a:r>
              <a:rPr lang="en-US" altLang="en-US" sz="2800" dirty="0"/>
              <a:t>- superscript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--------------------------------------------</a:t>
            </a:r>
          </a:p>
          <a:p>
            <a:pPr eaLnBrk="1" hangingPunct="1"/>
            <a:r>
              <a:rPr lang="en-US" altLang="en-US" sz="2800" b="1" dirty="0">
                <a:solidFill>
                  <a:srgbClr val="CE0000"/>
                </a:solidFill>
              </a:rPr>
              <a:t>&lt;u&gt; </a:t>
            </a:r>
            <a:r>
              <a:rPr lang="en-US" altLang="en-US" sz="2800" dirty="0"/>
              <a:t>- underline (deprecated)</a:t>
            </a:r>
          </a:p>
          <a:p>
            <a:pPr eaLnBrk="1" hangingPunct="1"/>
            <a:r>
              <a:rPr lang="en-US" altLang="en-US" sz="2800" b="1" dirty="0">
                <a:solidFill>
                  <a:srgbClr val="CE0000"/>
                </a:solidFill>
              </a:rPr>
              <a:t>&lt;s&gt; </a:t>
            </a:r>
            <a:r>
              <a:rPr lang="en-US" altLang="en-US" sz="2800" dirty="0"/>
              <a:t>- strikethrough (deprecated)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>
            <a:extLst>
              <a:ext uri="{FF2B5EF4-FFF2-40B4-BE49-F238E27FC236}">
                <a16:creationId xmlns:a16="http://schemas.microsoft.com/office/drawing/2014/main" id="{B7F9483E-896C-46D8-97E3-F7F0CDC88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8077200" cy="575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600" b="1"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&lt;p&gt;   This is some regular text. &lt;br&gt;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      &lt;b&gt; This is bolded text.&lt;/b&gt; &lt;br&gt;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      &lt;i&gt; This is italicized text. &lt;/i&gt; &lt;br&gt;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     &lt;u&gt; This is underlined text. &lt;/u&gt; &lt;br&gt;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      &lt;s&gt; This is strikeout text. &lt;/s&gt; &lt;br&gt;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     &lt;small&gt; This is small text. &lt;/small&gt; &lt;br&gt;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      This is some subscript text, </a:t>
            </a:r>
            <a:br>
              <a:rPr lang="en-US" altLang="en-US" sz="1600" b="1">
                <a:latin typeface="Tahoma" panose="020B0604030504040204" pitchFamily="34" charset="0"/>
              </a:rPr>
            </a:br>
            <a:r>
              <a:rPr lang="en-US" altLang="en-US" sz="1600" b="1">
                <a:latin typeface="Tahoma" panose="020B0604030504040204" pitchFamily="34" charset="0"/>
              </a:rPr>
              <a:t>                          2&lt;sub&gt;4&lt;/sub&gt; &lt;br&gt;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      This is some superscripted text, </a:t>
            </a:r>
            <a:br>
              <a:rPr lang="en-US" altLang="en-US" sz="1600" b="1">
                <a:latin typeface="Tahoma" panose="020B0604030504040204" pitchFamily="34" charset="0"/>
              </a:rPr>
            </a:br>
            <a:r>
              <a:rPr lang="en-US" altLang="en-US" sz="1600" b="1">
                <a:latin typeface="Tahoma" panose="020B0604030504040204" pitchFamily="34" charset="0"/>
              </a:rPr>
              <a:t>                          2&lt;sup&gt;4&lt;/sup&gt; &lt;br&gt;</a:t>
            </a:r>
            <a:br>
              <a:rPr lang="en-US" altLang="en-US" sz="1600" b="1">
                <a:latin typeface="Tahoma" panose="020B0604030504040204" pitchFamily="34" charset="0"/>
              </a:rPr>
            </a:br>
            <a:r>
              <a:rPr lang="en-US" altLang="en-US" sz="1600" b="1">
                <a:latin typeface="Tahoma" panose="020B0604030504040204" pitchFamily="34" charset="0"/>
              </a:rPr>
              <a:t>&lt;/p&gt; </a:t>
            </a:r>
            <a:br>
              <a:rPr lang="en-US" altLang="en-US" sz="1600" b="1">
                <a:latin typeface="Tahoma" panose="020B0604030504040204" pitchFamily="34" charset="0"/>
              </a:rPr>
            </a:br>
            <a:endParaRPr lang="en-US" altLang="en-US" sz="1600" b="1"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&lt;pre&gt;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This is pre formatted text    Second column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More text in first column     More in second column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  &lt;/pre&gt;</a:t>
            </a:r>
          </a:p>
        </p:txBody>
      </p:sp>
      <p:sp>
        <p:nvSpPr>
          <p:cNvPr id="56323" name="Text Box 3">
            <a:extLst>
              <a:ext uri="{FF2B5EF4-FFF2-40B4-BE49-F238E27FC236}">
                <a16:creationId xmlns:a16="http://schemas.microsoft.com/office/drawing/2014/main" id="{784EDA04-7861-4F92-BFA0-EC6A01B94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28600"/>
            <a:ext cx="34290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chemeClr val="tx2"/>
                </a:solidFill>
                <a:latin typeface="Tahoma" panose="020B0604030504040204" pitchFamily="34" charset="0"/>
              </a:rPr>
              <a:t>Code Sample with Presentational</a:t>
            </a:r>
            <a:br>
              <a:rPr lang="en-US" altLang="en-US" sz="2800" b="1">
                <a:solidFill>
                  <a:schemeClr val="tx2"/>
                </a:solidFill>
                <a:latin typeface="Tahoma" panose="020B0604030504040204" pitchFamily="34" charset="0"/>
              </a:rPr>
            </a:br>
            <a:r>
              <a:rPr lang="en-US" altLang="en-US" sz="2800" b="1">
                <a:solidFill>
                  <a:schemeClr val="tx2"/>
                </a:solidFill>
                <a:latin typeface="Tahoma" panose="020B0604030504040204" pitchFamily="34" charset="0"/>
              </a:rPr>
              <a:t>Inline Elements</a:t>
            </a:r>
          </a:p>
        </p:txBody>
      </p:sp>
      <p:sp>
        <p:nvSpPr>
          <p:cNvPr id="56324" name="Text Box 4">
            <a:extLst>
              <a:ext uri="{FF2B5EF4-FFF2-40B4-BE49-F238E27FC236}">
                <a16:creationId xmlns:a16="http://schemas.microsoft.com/office/drawing/2014/main" id="{0DA913CE-A5A9-49CC-A585-2EDA16A938F6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 bwMode="auto">
          <a:xfrm>
            <a:off x="5257800" y="4330700"/>
            <a:ext cx="3657600" cy="1384300"/>
          </a:xfrm>
          <a:prstGeom prst="rect">
            <a:avLst/>
          </a:prstGeom>
          <a:noFill/>
          <a:ln>
            <a:noFill/>
            <a:prstDash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Code Sample with &lt;pre&gt; Block-Level</a:t>
            </a:r>
            <a:b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b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Element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Text Box 4">
            <a:extLst>
              <a:ext uri="{FF2B5EF4-FFF2-40B4-BE49-F238E27FC236}">
                <a16:creationId xmlns:a16="http://schemas.microsoft.com/office/drawing/2014/main" id="{0DD52FE1-126C-4E82-9A79-1F4F11C90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0225" y="635000"/>
            <a:ext cx="34290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chemeClr val="tx2"/>
                </a:solidFill>
                <a:latin typeface="Tahoma" panose="020B0604030504040204" pitchFamily="34" charset="0"/>
              </a:rPr>
              <a:t>Browser Display Presentational</a:t>
            </a:r>
            <a:br>
              <a:rPr lang="en-US" altLang="en-US" sz="2800" b="1">
                <a:solidFill>
                  <a:schemeClr val="tx2"/>
                </a:solidFill>
                <a:latin typeface="Tahoma" panose="020B0604030504040204" pitchFamily="34" charset="0"/>
              </a:rPr>
            </a:br>
            <a:r>
              <a:rPr lang="en-US" altLang="en-US" sz="2800" b="1">
                <a:solidFill>
                  <a:schemeClr val="tx2"/>
                </a:solidFill>
                <a:latin typeface="Tahoma" panose="020B0604030504040204" pitchFamily="34" charset="0"/>
              </a:rPr>
              <a:t>Inline Elements</a:t>
            </a:r>
          </a:p>
        </p:txBody>
      </p:sp>
      <p:sp>
        <p:nvSpPr>
          <p:cNvPr id="57348" name="Text Box 4">
            <a:extLst>
              <a:ext uri="{FF2B5EF4-FFF2-40B4-BE49-F238E27FC236}">
                <a16:creationId xmlns:a16="http://schemas.microsoft.com/office/drawing/2014/main" id="{5A3135AF-5C71-48B4-AC1F-9F0675AEAF92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 bwMode="auto">
          <a:xfrm>
            <a:off x="5486400" y="3733800"/>
            <a:ext cx="3657600" cy="1384300"/>
          </a:xfrm>
          <a:prstGeom prst="rect">
            <a:avLst/>
          </a:prstGeom>
          <a:noFill/>
          <a:ln>
            <a:noFill/>
            <a:prstDash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Browser Display &lt;pre&gt; Block-Level</a:t>
            </a:r>
            <a:b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b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Element</a:t>
            </a:r>
          </a:p>
        </p:txBody>
      </p:sp>
      <p:pic>
        <p:nvPicPr>
          <p:cNvPr id="57349" name="Picture 1" descr="Example of browser display presentational inline elements&#10;&#10;Browser display &lt;pre&gt; block-level element">
            <a:extLst>
              <a:ext uri="{FF2B5EF4-FFF2-40B4-BE49-F238E27FC236}">
                <a16:creationId xmlns:a16="http://schemas.microsoft.com/office/drawing/2014/main" id="{33E4C927-4078-4780-A32E-8D5281238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57200"/>
            <a:ext cx="5110163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D19D3D51-4DA3-43A9-A40C-AF0920A1FA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Line Break Tag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52B6A0D2-5997-46C0-87D6-FE01B55519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b="1" dirty="0">
                <a:solidFill>
                  <a:srgbClr val="CE0000"/>
                </a:solidFill>
              </a:rPr>
              <a:t>&lt;</a:t>
            </a:r>
            <a:r>
              <a:rPr lang="en-US" altLang="en-US" b="1" dirty="0" err="1">
                <a:solidFill>
                  <a:srgbClr val="CE0000"/>
                </a:solidFill>
              </a:rPr>
              <a:t>br</a:t>
            </a:r>
            <a:r>
              <a:rPr lang="en-US" altLang="en-US" b="1" dirty="0">
                <a:solidFill>
                  <a:srgbClr val="CE0000"/>
                </a:solidFill>
              </a:rPr>
              <a:t>&gt; </a:t>
            </a:r>
            <a:r>
              <a:rPr lang="en-US" altLang="en-US" dirty="0"/>
              <a:t>- breaks a line of text at the point where it appears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The line break tag is a </a:t>
            </a:r>
            <a:br>
              <a:rPr lang="en-US" altLang="en-US" dirty="0"/>
            </a:br>
            <a:r>
              <a:rPr lang="en-US" altLang="en-US" dirty="0"/>
              <a:t>self-terminating or empty tag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The clear attribute for images has been deprecated.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 </a:t>
            </a:r>
            <a:r>
              <a:rPr lang="en-US" altLang="en-US" b="1" dirty="0">
                <a:solidFill>
                  <a:srgbClr val="CE0000"/>
                </a:solidFill>
              </a:rPr>
              <a:t>Note: </a:t>
            </a:r>
            <a:r>
              <a:rPr lang="en-US" altLang="en-US" dirty="0"/>
              <a:t>When possible, let text wrap on its own without forcing breaks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CE89F83A-5297-401E-AF38-E6A947FADC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8C5B268D-5494-4E88-91D2-30E89F5B2F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Document-level tags are used to setup the document structure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Block-level tags are used to set apart separate blocks within a document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Inline elements can be semantic or presentational in nature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Some inline elements are being </a:t>
            </a:r>
            <a:br>
              <a:rPr lang="en-US" altLang="en-US"/>
            </a:br>
            <a:r>
              <a:rPr lang="en-US" altLang="en-US"/>
              <a:t>deprecated in favor of CSS alternatives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2729</TotalTime>
  <Words>3040</Words>
  <Application>Microsoft Office PowerPoint</Application>
  <PresentationFormat>On-screen Show (4:3)</PresentationFormat>
  <Paragraphs>328</Paragraphs>
  <Slides>51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1" baseType="lpstr">
      <vt:lpstr>Arial</vt:lpstr>
      <vt:lpstr>Calibri</vt:lpstr>
      <vt:lpstr>Century Gothic</vt:lpstr>
      <vt:lpstr>Tahoma</vt:lpstr>
      <vt:lpstr>Times New Roman</vt:lpstr>
      <vt:lpstr>Wingdings</vt:lpstr>
      <vt:lpstr>Wingdings 2</vt:lpstr>
      <vt:lpstr>Wingdings 3</vt:lpstr>
      <vt:lpstr>Wisp</vt:lpstr>
      <vt:lpstr>Clip</vt:lpstr>
      <vt:lpstr>Marking Up Text</vt:lpstr>
      <vt:lpstr>Overview</vt:lpstr>
      <vt:lpstr>Structure Tags or  Document-Level Elements</vt:lpstr>
      <vt:lpstr>Start with start.html</vt:lpstr>
      <vt:lpstr>&lt;head&gt; &lt;/head&gt; tag</vt:lpstr>
      <vt:lpstr>The Title</vt:lpstr>
      <vt:lpstr>&lt;meta&gt; self-terminating tag</vt:lpstr>
      <vt:lpstr>Head Example:</vt:lpstr>
      <vt:lpstr>Deprecated Tag or Attribute</vt:lpstr>
      <vt:lpstr>&lt;body&gt; &lt;/body&gt; tag</vt:lpstr>
      <vt:lpstr>Block-Level Elements</vt:lpstr>
      <vt:lpstr>A Handful of Block-Level Tags</vt:lpstr>
      <vt:lpstr>Align Attribute Deprecated</vt:lpstr>
      <vt:lpstr>Use Indenting for Readability</vt:lpstr>
      <vt:lpstr>Non-Indented Code</vt:lpstr>
      <vt:lpstr>Indented for Readability</vt:lpstr>
      <vt:lpstr>Heading Tags</vt:lpstr>
      <vt:lpstr>Heading Appearance</vt:lpstr>
      <vt:lpstr>Headings can be used    to give text structure</vt:lpstr>
      <vt:lpstr>Paragraphs </vt:lpstr>
      <vt:lpstr>Paragraph Example:</vt:lpstr>
      <vt:lpstr>HTML Lists</vt:lpstr>
      <vt:lpstr>Ordered Lists</vt:lpstr>
      <vt:lpstr>Unordered Lists</vt:lpstr>
      <vt:lpstr>Glossary Lists , also called  Definition Lists</vt:lpstr>
      <vt:lpstr>Glossary List  Example:</vt:lpstr>
      <vt:lpstr>Definition List Example:</vt:lpstr>
      <vt:lpstr>Note:   You may have a definition list without a term or definition. </vt:lpstr>
      <vt:lpstr>Nested Lists</vt:lpstr>
      <vt:lpstr>Note:   Nested lists must be placed inside a &lt;li&gt; or &lt;dd&gt; tag or they will not validate!  This is different from the code shown in our text! </vt:lpstr>
      <vt:lpstr>Nested List Example:</vt:lpstr>
      <vt:lpstr>Nested List Example:</vt:lpstr>
      <vt:lpstr>Horizontal Rule</vt:lpstr>
      <vt:lpstr>Comments</vt:lpstr>
      <vt:lpstr>Special Characters</vt:lpstr>
      <vt:lpstr>Preformatted Text Tag</vt:lpstr>
      <vt:lpstr>Blockquote Tag</vt:lpstr>
      <vt:lpstr>The Division Tag</vt:lpstr>
      <vt:lpstr>Code Sample &lt;div&gt; Alignment</vt:lpstr>
      <vt:lpstr>Browser  Display of  Text  Alignment</vt:lpstr>
      <vt:lpstr>Semantic Inline Elements</vt:lpstr>
      <vt:lpstr>More Semantic Inline Elements</vt:lpstr>
      <vt:lpstr>Cite – Quotation - Blockquote???</vt:lpstr>
      <vt:lpstr>Semantic Elements Example</vt:lpstr>
      <vt:lpstr>Sematic Elements Example</vt:lpstr>
      <vt:lpstr>Presentational Inline Elements</vt:lpstr>
      <vt:lpstr>More Presentational               Inline Elements</vt:lpstr>
      <vt:lpstr>Code Sample with &lt;pre&gt; Block-Level Element</vt:lpstr>
      <vt:lpstr>Browser Display &lt;pre&gt; Block-Level Element</vt:lpstr>
      <vt:lpstr>Line Break Tag</vt:lpstr>
      <vt:lpstr>Summary</vt:lpstr>
    </vt:vector>
  </TitlesOfParts>
  <Company>Utah Valley State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HTML</dc:title>
  <dc:creator>Faculty</dc:creator>
  <cp:lastModifiedBy>Jan Bentley</cp:lastModifiedBy>
  <cp:revision>91</cp:revision>
  <dcterms:created xsi:type="dcterms:W3CDTF">2001-08-20T02:40:29Z</dcterms:created>
  <dcterms:modified xsi:type="dcterms:W3CDTF">2022-05-10T14:18:09Z</dcterms:modified>
</cp:coreProperties>
</file>